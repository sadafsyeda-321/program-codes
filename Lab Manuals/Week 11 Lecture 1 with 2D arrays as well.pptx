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Raleway"/>
      <p:regular r:id="rId54"/>
      <p:bold r:id="rId55"/>
      <p:italic r:id="rId56"/>
      <p:boldItalic r:id="rId57"/>
    </p:embeddedFont>
    <p:embeddedFont>
      <p:font typeface="Libre Franklin"/>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657619-D8D7-46E0-9B8A-54F775D84A31}">
  <a:tblStyle styleId="{0D657619-D8D7-46E0-9B8A-54F775D84A31}"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DC9DAA1-5D5F-4AF1-9951-D345C4DB195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LibreFranklin-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LibreFranklin-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aleway-bold.fntdata"/><Relationship Id="rId10" Type="http://schemas.openxmlformats.org/officeDocument/2006/relationships/slide" Target="slides/slide4.xml"/><Relationship Id="rId54" Type="http://schemas.openxmlformats.org/officeDocument/2006/relationships/font" Target="fonts/Raleway-regular.fntdata"/><Relationship Id="rId13" Type="http://schemas.openxmlformats.org/officeDocument/2006/relationships/slide" Target="slides/slide7.xml"/><Relationship Id="rId57" Type="http://schemas.openxmlformats.org/officeDocument/2006/relationships/font" Target="fonts/Raleway-boldItalic.fntdata"/><Relationship Id="rId12" Type="http://schemas.openxmlformats.org/officeDocument/2006/relationships/slide" Target="slides/slide6.xml"/><Relationship Id="rId56" Type="http://schemas.openxmlformats.org/officeDocument/2006/relationships/font" Target="fonts/Raleway-italic.fntdata"/><Relationship Id="rId15" Type="http://schemas.openxmlformats.org/officeDocument/2006/relationships/slide" Target="slides/slide9.xml"/><Relationship Id="rId59" Type="http://schemas.openxmlformats.org/officeDocument/2006/relationships/font" Target="fonts/LibreFranklin-bold.fntdata"/><Relationship Id="rId14" Type="http://schemas.openxmlformats.org/officeDocument/2006/relationships/slide" Target="slides/slide8.xml"/><Relationship Id="rId58" Type="http://schemas.openxmlformats.org/officeDocument/2006/relationships/font" Target="fonts/LibreFranklin-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07fe9b08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07fe9b08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07fe9b08de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07fe9b08de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07fe9b08de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07fe9b08de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07fe9b08de_0_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207fe9b08de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82" name="Google Shape;82;g207fe9b08de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07fe9b08de_0_1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207fe9b08de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93" name="Google Shape;93;g207fe9b08de_0_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07fe9b08de_0_2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207fe9b08de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04" name="Google Shape;104;g207fe9b08de_0_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07fe9b08de_0_3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207fe9b08de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15" name="Google Shape;115;g207fe9b08de_0_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07fe9b08de_0_4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207fe9b08de_0_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26" name="Google Shape;126;g207fe9b08de_0_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07fe9b08de_0_5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207fe9b08de_0_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37" name="Google Shape;137;g207fe9b08de_0_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07fe9b08de_0_6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207fe9b08de_0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47" name="Google Shape;147;g207fe9b08de_0_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07fe9b08de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207fe9b08de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 sawal main user sy 2 numbers ly ker un main sy larger number find kerna hia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07fe9b08de_0_8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207fe9b08de_0_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68" name="Google Shape;168;g207fe9b08de_0_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07fe9b08de_0_112: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207fe9b08de_0_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95" name="Google Shape;195;g207fe9b08de_0_1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07fe9b08de_0_13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07fe9b08de_0_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222" name="Google Shape;222;g207fe9b08de_0_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07fe9b08de_0_16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207fe9b08de_0_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251" name="Google Shape;251;g207fe9b08de_0_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07fe9b08de_0_195: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207fe9b08de_0_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281" name="Google Shape;281;g207fe9b08de_0_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07fe9b08d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207fe9b08de_0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 sawal main user sy 2 numbers ly ker un main sy larger number find kerna hia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07fe9b08de_0_214: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207fe9b08de_0_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02" name="Google Shape;302;g207fe9b08de_0_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07fe9b08de_0_24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207fe9b08de_0_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29" name="Google Shape;329;g207fe9b08de_0_2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9d34748325_0_5: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29d34748325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58" name="Google Shape;358;g29d34748325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07fe9b08de_0_26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207fe9b08de_0_2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72" name="Google Shape;372;g207fe9b08de_0_2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07fe9b08de_0_281: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207fe9b08de_0_2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86" name="Google Shape;386;g207fe9b08de_0_2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07fe9b08de_0_29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g207fe9b08de_0_2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396" name="Google Shape;396;g207fe9b08de_0_2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07fe9b08de_0_30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207fe9b08de_0_3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07" name="Google Shape;407;g207fe9b08de_0_3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07fe9b08de_0_325: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207fe9b08de_0_3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33" name="Google Shape;433;g207fe9b08de_0_3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07fe9b08de_0_353: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207fe9b08de_0_3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62" name="Google Shape;462;g207fe9b08de_0_3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07fe9b08de_0_381: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g207fe9b08de_0_3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491" name="Google Shape;491;g207fe9b08de_0_3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07fe9b08de_0_40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207fe9b08de_0_4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18" name="Google Shape;518;g207fe9b08de_0_4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07fe9b08de_0_41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207fe9b08de_0_4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29" name="Google Shape;529;g207fe9b08de_0_4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07fe9b08de_0_42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g207fe9b08de_0_4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40" name="Google Shape;540;g207fe9b08de_0_4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07fe9b08de_0_43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207fe9b08de_0_4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51" name="Google Shape;551;g207fe9b08de_0_4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07fe9b08de_0_453: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207fe9b08de_0_4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68" name="Google Shape;568;g207fe9b08de_0_4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07fe9b08de_0_47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207fe9b08de_0_4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586" name="Google Shape;586;g207fe9b08de_0_4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07fe9b08de_0_48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207fe9b08de_0_4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05" name="Google Shape;605;g207fe9b08de_0_4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07fe9b08de_0_50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g207fe9b08de_0_5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24" name="Google Shape;624;g207fe9b08de_0_5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07fe9b08de_0_524: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g207fe9b08de_0_5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43" name="Google Shape;643;g207fe9b08de_0_5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9d16cf8b2f_0_3: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g29d16cf8b2f_0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62" name="Google Shape;662;g29d16cf8b2f_0_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07fe9b08de_0_542: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207fe9b08de_0_5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81" name="Google Shape;681;g207fe9b08de_0_5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07fe9b08de_0_55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207fe9b08de_0_5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698" name="Google Shape;698;g207fe9b08de_0_5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07fe9b08de_0_576: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g207fe9b08de_0_5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717" name="Google Shape;717;g207fe9b08de_0_5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b1858434ed_0_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g3b1858434ed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736" name="Google Shape;736;g3b1858434ed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b1858434ed_0_19: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g3b1858434ed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754" name="Google Shape;754;g3b1858434ed_0_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b1858434ed_0_3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b1858434ed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774" name="Google Shape;774;g3b1858434ed_0_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b1858434ed_0_57: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g3b1858434ed_0_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794" name="Google Shape;794;g3b1858434ed_0_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07fe9b08de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07fe9b08de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207fe9b08de_0_6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3" name="Google Shape;823;g207fe9b08de_0_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Data can be of the following types.</a:t>
            </a:r>
            <a:endParaRPr/>
          </a:p>
          <a:p>
            <a:pPr indent="0" lvl="0" marL="0" rtl="0" algn="l">
              <a:lnSpc>
                <a:spcPct val="100000"/>
              </a:lnSpc>
              <a:spcBef>
                <a:spcPts val="0"/>
              </a:spcBef>
              <a:spcAft>
                <a:spcPts val="0"/>
              </a:spcAft>
              <a:buClr>
                <a:schemeClr val="dk1"/>
              </a:buClr>
              <a:buSzPts val="1100"/>
              <a:buFont typeface="Arial"/>
              <a:buNone/>
            </a:pPr>
            <a:r>
              <a:rPr lang="en"/>
              <a:t>Numbers, Text and Multimedia.</a:t>
            </a:r>
            <a:endParaRPr/>
          </a:p>
          <a:p>
            <a:pPr indent="0" lvl="0" marL="0" rtl="0" algn="l">
              <a:lnSpc>
                <a:spcPct val="100000"/>
              </a:lnSpc>
              <a:spcBef>
                <a:spcPts val="0"/>
              </a:spcBef>
              <a:spcAft>
                <a:spcPts val="0"/>
              </a:spcAft>
              <a:buClr>
                <a:schemeClr val="dk1"/>
              </a:buClr>
              <a:buSzPts val="1100"/>
              <a:buFont typeface="Arial"/>
              <a:buNone/>
            </a:pPr>
            <a:r>
              <a:rPr lang="en"/>
              <a:t>Telling the memory about the datatype helps </a:t>
            </a:r>
            <a:endParaRPr/>
          </a:p>
          <a:p>
            <a:pPr indent="0" lvl="0" marL="0" rtl="0" algn="l">
              <a:lnSpc>
                <a:spcPct val="100000"/>
              </a:lnSpc>
              <a:spcBef>
                <a:spcPts val="0"/>
              </a:spcBef>
              <a:spcAft>
                <a:spcPts val="0"/>
              </a:spcAft>
              <a:buClr>
                <a:schemeClr val="dk1"/>
              </a:buClr>
              <a:buSzPts val="1100"/>
              <a:buFont typeface="Arial"/>
              <a:buNone/>
            </a:pPr>
            <a:r>
              <a:rPr lang="en"/>
              <a:t>To Adjust Size of Allocated Memory Cell</a:t>
            </a:r>
            <a:endParaRPr/>
          </a:p>
          <a:p>
            <a:pPr indent="0" lvl="0" marL="0" rtl="0" algn="l">
              <a:lnSpc>
                <a:spcPct val="100000"/>
              </a:lnSpc>
              <a:spcBef>
                <a:spcPts val="0"/>
              </a:spcBef>
              <a:spcAft>
                <a:spcPts val="0"/>
              </a:spcAft>
              <a:buClr>
                <a:schemeClr val="dk1"/>
              </a:buClr>
              <a:buSzPts val="1100"/>
              <a:buFont typeface="Arial"/>
              <a:buNone/>
            </a:pPr>
            <a:r>
              <a:rPr lang="en"/>
              <a:t>To Check the Validity of the Operations</a:t>
            </a:r>
            <a:br>
              <a:rPr lang="en"/>
            </a:br>
            <a:r>
              <a:rPr lang="en"/>
              <a:t>And finally Variable declaration meand Reserving the memory location through Variables  for certain type of data.</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07fe9b08de_0_6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2" name="Google Shape;832;g207fe9b08de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970613" y="285750"/>
            <a:ext cx="7202700" cy="8574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sz="1100"/>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p:txBody>
      </p:sp>
      <p:sp>
        <p:nvSpPr>
          <p:cNvPr id="52" name="Google Shape;52;p13"/>
          <p:cNvSpPr txBox="1"/>
          <p:nvPr>
            <p:ph idx="1" type="body"/>
          </p:nvPr>
        </p:nvSpPr>
        <p:spPr>
          <a:xfrm>
            <a:off x="970613" y="1257300"/>
            <a:ext cx="7202700" cy="33720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1200"/>
              </a:spcBef>
              <a:spcAft>
                <a:spcPts val="0"/>
              </a:spcAft>
              <a:buClr>
                <a:schemeClr val="dk1"/>
              </a:buClr>
              <a:buSzPts val="1400"/>
              <a:buChar char="●"/>
              <a:defRPr sz="1100"/>
            </a:lvl1pPr>
            <a:lvl2pPr indent="-317500" lvl="1" marL="914400" rtl="0" algn="l">
              <a:lnSpc>
                <a:spcPct val="90000"/>
              </a:lnSpc>
              <a:spcBef>
                <a:spcPts val="1200"/>
              </a:spcBef>
              <a:spcAft>
                <a:spcPts val="0"/>
              </a:spcAft>
              <a:buClr>
                <a:schemeClr val="dk1"/>
              </a:buClr>
              <a:buSzPts val="1400"/>
              <a:buChar char="○"/>
              <a:defRPr sz="1100"/>
            </a:lvl2pPr>
            <a:lvl3pPr indent="-317500" lvl="2" marL="1371600" rtl="0" algn="l">
              <a:lnSpc>
                <a:spcPct val="90000"/>
              </a:lnSpc>
              <a:spcBef>
                <a:spcPts val="1200"/>
              </a:spcBef>
              <a:spcAft>
                <a:spcPts val="0"/>
              </a:spcAft>
              <a:buClr>
                <a:schemeClr val="dk1"/>
              </a:buClr>
              <a:buSzPts val="1400"/>
              <a:buChar char="■"/>
              <a:defRPr sz="1100"/>
            </a:lvl3pPr>
            <a:lvl4pPr indent="-317500" lvl="3" marL="1828800" rtl="0" algn="l">
              <a:lnSpc>
                <a:spcPct val="90000"/>
              </a:lnSpc>
              <a:spcBef>
                <a:spcPts val="1200"/>
              </a:spcBef>
              <a:spcAft>
                <a:spcPts val="0"/>
              </a:spcAft>
              <a:buClr>
                <a:schemeClr val="dk1"/>
              </a:buClr>
              <a:buSzPts val="1400"/>
              <a:buChar char="●"/>
              <a:defRPr sz="1100"/>
            </a:lvl4pPr>
            <a:lvl5pPr indent="-304800" lvl="4" marL="2286000" rtl="0" algn="l">
              <a:lnSpc>
                <a:spcPct val="90000"/>
              </a:lnSpc>
              <a:spcBef>
                <a:spcPts val="1200"/>
              </a:spcBef>
              <a:spcAft>
                <a:spcPts val="0"/>
              </a:spcAft>
              <a:buClr>
                <a:schemeClr val="dk1"/>
              </a:buClr>
              <a:buSzPts val="1200"/>
              <a:buChar char="○"/>
              <a:defRPr sz="1100"/>
            </a:lvl5pPr>
            <a:lvl6pPr indent="-304800" lvl="5" marL="2743200" rtl="0" algn="l">
              <a:spcBef>
                <a:spcPts val="1200"/>
              </a:spcBef>
              <a:spcAft>
                <a:spcPts val="0"/>
              </a:spcAft>
              <a:buClr>
                <a:schemeClr val="dk1"/>
              </a:buClr>
              <a:buSzPts val="1200"/>
              <a:buChar char="■"/>
              <a:defRPr sz="1100"/>
            </a:lvl6pPr>
            <a:lvl7pPr indent="-304800" lvl="6" marL="3200400" rtl="0" algn="l">
              <a:spcBef>
                <a:spcPts val="1200"/>
              </a:spcBef>
              <a:spcAft>
                <a:spcPts val="0"/>
              </a:spcAft>
              <a:buClr>
                <a:schemeClr val="dk1"/>
              </a:buClr>
              <a:buSzPts val="1200"/>
              <a:buChar char="●"/>
              <a:defRPr sz="1100"/>
            </a:lvl7pPr>
            <a:lvl8pPr indent="-304800" lvl="7" marL="3657600" rtl="0" algn="l">
              <a:spcBef>
                <a:spcPts val="1200"/>
              </a:spcBef>
              <a:spcAft>
                <a:spcPts val="0"/>
              </a:spcAft>
              <a:buClr>
                <a:schemeClr val="dk1"/>
              </a:buClr>
              <a:buSzPts val="1200"/>
              <a:buChar char="○"/>
              <a:defRPr sz="1100"/>
            </a:lvl8pPr>
            <a:lvl9pPr indent="-304800" lvl="8" marL="4114800" rtl="0" algn="l">
              <a:spcBef>
                <a:spcPts val="1200"/>
              </a:spcBef>
              <a:spcAft>
                <a:spcPts val="1200"/>
              </a:spcAft>
              <a:buClr>
                <a:schemeClr val="dk1"/>
              </a:buClr>
              <a:buSzPts val="1200"/>
              <a:buChar char="■"/>
              <a:defRPr sz="1100"/>
            </a:lvl9pPr>
          </a:lstStyle>
          <a:p/>
        </p:txBody>
      </p:sp>
      <p:sp>
        <p:nvSpPr>
          <p:cNvPr id="53" name="Google Shape;53;p13"/>
          <p:cNvSpPr txBox="1"/>
          <p:nvPr>
            <p:ph idx="10" type="dt"/>
          </p:nvPr>
        </p:nvSpPr>
        <p:spPr>
          <a:xfrm>
            <a:off x="954084" y="4767263"/>
            <a:ext cx="2133600" cy="273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5" name="Google Shape;55;p13"/>
          <p:cNvSpPr txBox="1"/>
          <p:nvPr>
            <p:ph idx="12" type="sldNum"/>
          </p:nvPr>
        </p:nvSpPr>
        <p:spPr>
          <a:xfrm>
            <a:off x="6039992" y="4767263"/>
            <a:ext cx="21336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u="none" cap="none" strike="noStrike">
                <a:solidFill>
                  <a:srgbClr val="191919"/>
                </a:solidFill>
                <a:latin typeface="Libre Franklin"/>
                <a:ea typeface="Libre Franklin"/>
                <a:cs typeface="Libre Franklin"/>
                <a:sym typeface="Libre Franklin"/>
              </a:defRPr>
            </a:lvl1pPr>
            <a:lvl2pPr indent="0" lvl="1" marL="0" rtl="0" algn="r">
              <a:spcBef>
                <a:spcPts val="0"/>
              </a:spcBef>
              <a:buNone/>
              <a:defRPr b="0" i="0" sz="800" u="none" cap="none" strike="noStrike">
                <a:solidFill>
                  <a:srgbClr val="191919"/>
                </a:solidFill>
                <a:latin typeface="Libre Franklin"/>
                <a:ea typeface="Libre Franklin"/>
                <a:cs typeface="Libre Franklin"/>
                <a:sym typeface="Libre Franklin"/>
              </a:defRPr>
            </a:lvl2pPr>
            <a:lvl3pPr indent="0" lvl="2" marL="0" rtl="0" algn="r">
              <a:spcBef>
                <a:spcPts val="0"/>
              </a:spcBef>
              <a:buNone/>
              <a:defRPr b="0" i="0" sz="800" u="none" cap="none" strike="noStrike">
                <a:solidFill>
                  <a:srgbClr val="191919"/>
                </a:solidFill>
                <a:latin typeface="Libre Franklin"/>
                <a:ea typeface="Libre Franklin"/>
                <a:cs typeface="Libre Franklin"/>
                <a:sym typeface="Libre Franklin"/>
              </a:defRPr>
            </a:lvl3pPr>
            <a:lvl4pPr indent="0" lvl="3" marL="0" rtl="0" algn="r">
              <a:spcBef>
                <a:spcPts val="0"/>
              </a:spcBef>
              <a:buNone/>
              <a:defRPr b="0" i="0" sz="800" u="none" cap="none" strike="noStrike">
                <a:solidFill>
                  <a:srgbClr val="191919"/>
                </a:solidFill>
                <a:latin typeface="Libre Franklin"/>
                <a:ea typeface="Libre Franklin"/>
                <a:cs typeface="Libre Franklin"/>
                <a:sym typeface="Libre Franklin"/>
              </a:defRPr>
            </a:lvl4pPr>
            <a:lvl5pPr indent="0" lvl="4" marL="0" rtl="0" algn="r">
              <a:spcBef>
                <a:spcPts val="0"/>
              </a:spcBef>
              <a:buNone/>
              <a:defRPr b="0" i="0" sz="800" u="none" cap="none" strike="noStrike">
                <a:solidFill>
                  <a:srgbClr val="191919"/>
                </a:solidFill>
                <a:latin typeface="Libre Franklin"/>
                <a:ea typeface="Libre Franklin"/>
                <a:cs typeface="Libre Franklin"/>
                <a:sym typeface="Libre Franklin"/>
              </a:defRPr>
            </a:lvl5pPr>
            <a:lvl6pPr indent="0" lvl="5" marL="0" rtl="0" algn="r">
              <a:spcBef>
                <a:spcPts val="0"/>
              </a:spcBef>
              <a:buNone/>
              <a:defRPr b="0" i="0" sz="800" u="none" cap="none" strike="noStrike">
                <a:solidFill>
                  <a:srgbClr val="191919"/>
                </a:solidFill>
                <a:latin typeface="Libre Franklin"/>
                <a:ea typeface="Libre Franklin"/>
                <a:cs typeface="Libre Franklin"/>
                <a:sym typeface="Libre Franklin"/>
              </a:defRPr>
            </a:lvl6pPr>
            <a:lvl7pPr indent="0" lvl="6" marL="0" rtl="0" algn="r">
              <a:spcBef>
                <a:spcPts val="0"/>
              </a:spcBef>
              <a:buNone/>
              <a:defRPr b="0" i="0" sz="800" u="none" cap="none" strike="noStrike">
                <a:solidFill>
                  <a:srgbClr val="191919"/>
                </a:solidFill>
                <a:latin typeface="Libre Franklin"/>
                <a:ea typeface="Libre Franklin"/>
                <a:cs typeface="Libre Franklin"/>
                <a:sym typeface="Libre Franklin"/>
              </a:defRPr>
            </a:lvl7pPr>
            <a:lvl8pPr indent="0" lvl="7" marL="0" rtl="0" algn="r">
              <a:spcBef>
                <a:spcPts val="0"/>
              </a:spcBef>
              <a:buNone/>
              <a:defRPr b="0" i="0" sz="800" u="none" cap="none" strike="noStrike">
                <a:solidFill>
                  <a:srgbClr val="191919"/>
                </a:solidFill>
                <a:latin typeface="Libre Franklin"/>
                <a:ea typeface="Libre Franklin"/>
                <a:cs typeface="Libre Franklin"/>
                <a:sym typeface="Libre Franklin"/>
              </a:defRPr>
            </a:lvl8pPr>
            <a:lvl9pPr indent="0" lvl="8" marL="0" rtl="0" algn="r">
              <a:spcBef>
                <a:spcPts val="0"/>
              </a:spcBef>
              <a:buNone/>
              <a:defRPr b="0" i="0" sz="800" u="none" cap="none" strike="noStrike">
                <a:solidFill>
                  <a:srgbClr val="191919"/>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8.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8.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8.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1404550" y="1939475"/>
            <a:ext cx="6331500" cy="1878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sz="4500">
                <a:solidFill>
                  <a:srgbClr val="434343"/>
                </a:solidFill>
                <a:latin typeface="Comic Sans MS"/>
                <a:ea typeface="Comic Sans MS"/>
                <a:cs typeface="Comic Sans MS"/>
                <a:sym typeface="Comic Sans MS"/>
              </a:rPr>
              <a:t>Parameter Passing</a:t>
            </a:r>
            <a:endParaRPr b="1" sz="4500">
              <a:solidFill>
                <a:srgbClr val="434343"/>
              </a:solidFill>
              <a:latin typeface="Comic Sans MS"/>
              <a:ea typeface="Comic Sans MS"/>
              <a:cs typeface="Comic Sans MS"/>
              <a:sym typeface="Comic Sans MS"/>
            </a:endParaRPr>
          </a:p>
          <a:p>
            <a:pPr indent="0" lvl="0" marL="0" rtl="0" algn="ctr">
              <a:spcBef>
                <a:spcPts val="0"/>
              </a:spcBef>
              <a:spcAft>
                <a:spcPts val="0"/>
              </a:spcAft>
              <a:buNone/>
            </a:pPr>
            <a:r>
              <a:rPr b="1" lang="en" sz="4500">
                <a:solidFill>
                  <a:srgbClr val="D15A12"/>
                </a:solidFill>
                <a:latin typeface="Comic Sans MS"/>
                <a:ea typeface="Comic Sans MS"/>
                <a:cs typeface="Comic Sans MS"/>
                <a:sym typeface="Comic Sans MS"/>
              </a:rPr>
              <a:t>by value</a:t>
            </a:r>
            <a:endParaRPr b="1" sz="4500">
              <a:solidFill>
                <a:srgbClr val="D15A12"/>
              </a:solidFill>
              <a:latin typeface="Comic Sans MS"/>
              <a:ea typeface="Comic Sans MS"/>
              <a:cs typeface="Comic Sans MS"/>
              <a:sym typeface="Comic Sans MS"/>
            </a:endParaRPr>
          </a:p>
          <a:p>
            <a:pPr indent="0" lvl="0" marL="0" rtl="0" algn="ctr">
              <a:spcBef>
                <a:spcPts val="0"/>
              </a:spcBef>
              <a:spcAft>
                <a:spcPts val="0"/>
              </a:spcAft>
              <a:buNone/>
            </a:pPr>
            <a:r>
              <a:rPr b="1" lang="en" sz="4500">
                <a:solidFill>
                  <a:srgbClr val="434343"/>
                </a:solidFill>
                <a:latin typeface="Comic Sans MS"/>
                <a:ea typeface="Comic Sans MS"/>
                <a:cs typeface="Comic Sans MS"/>
                <a:sym typeface="Comic Sans MS"/>
              </a:rPr>
              <a:t>And</a:t>
            </a:r>
            <a:endParaRPr b="1" sz="4500">
              <a:solidFill>
                <a:srgbClr val="434343"/>
              </a:solidFill>
              <a:latin typeface="Comic Sans MS"/>
              <a:ea typeface="Comic Sans MS"/>
              <a:cs typeface="Comic Sans MS"/>
              <a:sym typeface="Comic Sans MS"/>
            </a:endParaRPr>
          </a:p>
          <a:p>
            <a:pPr indent="0" lvl="0" marL="0" rtl="0" algn="ctr">
              <a:spcBef>
                <a:spcPts val="0"/>
              </a:spcBef>
              <a:spcAft>
                <a:spcPts val="0"/>
              </a:spcAft>
              <a:buNone/>
            </a:pPr>
            <a:r>
              <a:rPr b="1" lang="en" sz="4500">
                <a:solidFill>
                  <a:srgbClr val="D15A12"/>
                </a:solidFill>
                <a:latin typeface="Comic Sans MS"/>
                <a:ea typeface="Comic Sans MS"/>
                <a:cs typeface="Comic Sans MS"/>
                <a:sym typeface="Comic Sans MS"/>
              </a:rPr>
              <a:t>by reference</a:t>
            </a:r>
            <a:endParaRPr b="1" sz="4500">
              <a:solidFill>
                <a:srgbClr val="434343"/>
              </a:solidFill>
              <a:latin typeface="Comic Sans MS"/>
              <a:ea typeface="Comic Sans MS"/>
              <a:cs typeface="Comic Sans MS"/>
              <a:sym typeface="Comic Sans MS"/>
            </a:endParaRPr>
          </a:p>
        </p:txBody>
      </p:sp>
      <p:sp>
        <p:nvSpPr>
          <p:cNvPr id="61" name="Google Shape;61;p14"/>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2" name="Google Shape;62;p14"/>
          <p:cNvPicPr preferRelativeResize="0"/>
          <p:nvPr/>
        </p:nvPicPr>
        <p:blipFill>
          <a:blip r:embed="rId3">
            <a:alphaModFix/>
          </a:blip>
          <a:stretch>
            <a:fillRect/>
          </a:stretch>
        </p:blipFill>
        <p:spPr>
          <a:xfrm>
            <a:off x="7417825" y="1039140"/>
            <a:ext cx="1549400" cy="4104370"/>
          </a:xfrm>
          <a:prstGeom prst="rect">
            <a:avLst/>
          </a:prstGeom>
          <a:noFill/>
          <a:ln>
            <a:noFill/>
          </a:ln>
        </p:spPr>
      </p:pic>
      <p:sp>
        <p:nvSpPr>
          <p:cNvPr id="63" name="Google Shape;63;p14"/>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4" name="Google Shape;64;p14"/>
          <p:cNvPicPr preferRelativeResize="0"/>
          <p:nvPr/>
        </p:nvPicPr>
        <p:blipFill>
          <a:blip r:embed="rId4">
            <a:alphaModFix/>
          </a:blip>
          <a:stretch>
            <a:fillRect/>
          </a:stretch>
        </p:blipFill>
        <p:spPr>
          <a:xfrm>
            <a:off x="193550" y="1040975"/>
            <a:ext cx="1421136" cy="410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par>
                                <p:cTn fill="hold" nodeType="with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5"/>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3D4B"/>
              </a:solidFill>
              <a:latin typeface="Arial"/>
              <a:ea typeface="Arial"/>
              <a:cs typeface="Arial"/>
              <a:sym typeface="Arial"/>
            </a:endParaRPr>
          </a:p>
        </p:txBody>
      </p:sp>
      <p:sp>
        <p:nvSpPr>
          <p:cNvPr id="70" name="Google Shape;70;p15"/>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1" name="Google Shape;71;p15"/>
          <p:cNvPicPr preferRelativeResize="0"/>
          <p:nvPr/>
        </p:nvPicPr>
        <p:blipFill rotWithShape="1">
          <a:blip r:embed="rId3">
            <a:alphaModFix/>
          </a:blip>
          <a:srcRect b="0" l="0" r="0" t="0"/>
          <a:stretch/>
        </p:blipFill>
        <p:spPr>
          <a:xfrm>
            <a:off x="713777" y="1434311"/>
            <a:ext cx="7989900" cy="2274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6"/>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3D4B"/>
              </a:solidFill>
              <a:latin typeface="Arial"/>
              <a:ea typeface="Arial"/>
              <a:cs typeface="Arial"/>
              <a:sym typeface="Arial"/>
            </a:endParaRPr>
          </a:p>
        </p:txBody>
      </p:sp>
      <p:sp>
        <p:nvSpPr>
          <p:cNvPr id="77" name="Google Shape;77;p16"/>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8" name="Google Shape;78;p16"/>
          <p:cNvPicPr preferRelativeResize="0"/>
          <p:nvPr/>
        </p:nvPicPr>
        <p:blipFill rotWithShape="1">
          <a:blip r:embed="rId3">
            <a:alphaModFix/>
          </a:blip>
          <a:srcRect b="0" l="0" r="0" t="0"/>
          <a:stretch/>
        </p:blipFill>
        <p:spPr>
          <a:xfrm>
            <a:off x="693329" y="1643932"/>
            <a:ext cx="7989900" cy="1481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5" name="Google Shape;85;p1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86" name="Google Shape;86;p1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87" name="Google Shape;87;p1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01</a:t>
            </a:r>
            <a:endParaRPr b="1" sz="3600">
              <a:solidFill>
                <a:srgbClr val="434343"/>
              </a:solidFill>
              <a:latin typeface="Comic Sans MS"/>
              <a:ea typeface="Comic Sans MS"/>
              <a:cs typeface="Comic Sans MS"/>
              <a:sym typeface="Comic Sans MS"/>
            </a:endParaRPr>
          </a:p>
        </p:txBody>
      </p:sp>
      <p:sp>
        <p:nvSpPr>
          <p:cNvPr id="88" name="Google Shape;88;p17"/>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Suppose your </a:t>
            </a:r>
            <a:r>
              <a:rPr b="1" lang="en" sz="2400">
                <a:solidFill>
                  <a:srgbClr val="D15A12"/>
                </a:solidFill>
                <a:latin typeface="Comic Sans MS"/>
                <a:ea typeface="Comic Sans MS"/>
                <a:cs typeface="Comic Sans MS"/>
                <a:sym typeface="Comic Sans MS"/>
              </a:rPr>
              <a:t>laptop battery</a:t>
            </a:r>
            <a:r>
              <a:rPr b="1" lang="en" sz="2400">
                <a:solidFill>
                  <a:srgbClr val="434343"/>
                </a:solidFill>
                <a:latin typeface="Comic Sans MS"/>
                <a:ea typeface="Comic Sans MS"/>
                <a:cs typeface="Comic Sans MS"/>
                <a:sym typeface="Comic Sans MS"/>
              </a:rPr>
              <a:t> is damaged and you want to buy a new battery.</a:t>
            </a:r>
            <a:endParaRPr b="1" sz="2400">
              <a:solidFill>
                <a:srgbClr val="434343"/>
              </a:solidFill>
              <a:latin typeface="Comic Sans MS"/>
              <a:ea typeface="Comic Sans MS"/>
              <a:cs typeface="Comic Sans MS"/>
              <a:sym typeface="Comic Sans MS"/>
            </a:endParaRPr>
          </a:p>
        </p:txBody>
      </p:sp>
      <p:pic>
        <p:nvPicPr>
          <p:cNvPr id="89" name="Google Shape;89;p17"/>
          <p:cNvPicPr preferRelativeResize="0"/>
          <p:nvPr/>
        </p:nvPicPr>
        <p:blipFill>
          <a:blip r:embed="rId3">
            <a:alphaModFix/>
          </a:blip>
          <a:stretch>
            <a:fillRect/>
          </a:stretch>
        </p:blipFill>
        <p:spPr>
          <a:xfrm>
            <a:off x="2286000" y="2247900"/>
            <a:ext cx="4572000" cy="278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6" name="Google Shape;96;p1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97" name="Google Shape;97;p1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98" name="Google Shape;98;p1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01</a:t>
            </a:r>
            <a:endParaRPr b="1" sz="3600">
              <a:solidFill>
                <a:srgbClr val="434343"/>
              </a:solidFill>
              <a:latin typeface="Comic Sans MS"/>
              <a:ea typeface="Comic Sans MS"/>
              <a:cs typeface="Comic Sans MS"/>
              <a:sym typeface="Comic Sans MS"/>
            </a:endParaRPr>
          </a:p>
        </p:txBody>
      </p:sp>
      <p:sp>
        <p:nvSpPr>
          <p:cNvPr id="99" name="Google Shape;99;p18"/>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You take your laptop with you to </a:t>
            </a:r>
            <a:r>
              <a:rPr b="1" lang="en" sz="2400">
                <a:solidFill>
                  <a:srgbClr val="D15A12"/>
                </a:solidFill>
                <a:latin typeface="Comic Sans MS"/>
                <a:ea typeface="Comic Sans MS"/>
                <a:cs typeface="Comic Sans MS"/>
                <a:sym typeface="Comic Sans MS"/>
              </a:rPr>
              <a:t>Shop Center</a:t>
            </a:r>
            <a:r>
              <a:rPr b="1" lang="en" sz="2400">
                <a:solidFill>
                  <a:srgbClr val="434343"/>
                </a:solidFill>
                <a:latin typeface="Comic Sans MS"/>
                <a:ea typeface="Comic Sans MS"/>
                <a:cs typeface="Comic Sans MS"/>
                <a:sym typeface="Comic Sans MS"/>
              </a:rPr>
              <a:t> and the shop manager gives you a </a:t>
            </a:r>
            <a:r>
              <a:rPr b="1" lang="en" sz="2400">
                <a:solidFill>
                  <a:srgbClr val="D15A12"/>
                </a:solidFill>
                <a:latin typeface="Comic Sans MS"/>
                <a:ea typeface="Comic Sans MS"/>
                <a:cs typeface="Comic Sans MS"/>
                <a:sym typeface="Comic Sans MS"/>
              </a:rPr>
              <a:t>new battery</a:t>
            </a:r>
            <a:r>
              <a:rPr b="1" lang="en" sz="2400">
                <a:solidFill>
                  <a:srgbClr val="434343"/>
                </a:solidFill>
                <a:latin typeface="Comic Sans MS"/>
                <a:ea typeface="Comic Sans MS"/>
                <a:cs typeface="Comic Sans MS"/>
                <a:sym typeface="Comic Sans MS"/>
              </a:rPr>
              <a:t> according to your laptop.</a:t>
            </a:r>
            <a:endParaRPr b="1" sz="2400">
              <a:solidFill>
                <a:srgbClr val="434343"/>
              </a:solidFill>
              <a:latin typeface="Comic Sans MS"/>
              <a:ea typeface="Comic Sans MS"/>
              <a:cs typeface="Comic Sans MS"/>
              <a:sym typeface="Comic Sans MS"/>
            </a:endParaRPr>
          </a:p>
        </p:txBody>
      </p:sp>
      <p:pic>
        <p:nvPicPr>
          <p:cNvPr id="100" name="Google Shape;100;p18"/>
          <p:cNvPicPr preferRelativeResize="0"/>
          <p:nvPr/>
        </p:nvPicPr>
        <p:blipFill>
          <a:blip r:embed="rId3">
            <a:alphaModFix/>
          </a:blip>
          <a:stretch>
            <a:fillRect/>
          </a:stretch>
        </p:blipFill>
        <p:spPr>
          <a:xfrm>
            <a:off x="2872063" y="2571750"/>
            <a:ext cx="3399875" cy="21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7" name="Google Shape;107;p1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08" name="Google Shape;108;p1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09" name="Google Shape;109;p1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01</a:t>
            </a:r>
            <a:endParaRPr b="1" sz="3600">
              <a:solidFill>
                <a:srgbClr val="434343"/>
              </a:solidFill>
              <a:latin typeface="Comic Sans MS"/>
              <a:ea typeface="Comic Sans MS"/>
              <a:cs typeface="Comic Sans MS"/>
              <a:sym typeface="Comic Sans MS"/>
            </a:endParaRPr>
          </a:p>
        </p:txBody>
      </p:sp>
      <p:sp>
        <p:nvSpPr>
          <p:cNvPr id="110" name="Google Shape;110;p19"/>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You bring the </a:t>
            </a:r>
            <a:r>
              <a:rPr b="1" lang="en" sz="2400">
                <a:solidFill>
                  <a:srgbClr val="D15A12"/>
                </a:solidFill>
                <a:latin typeface="Comic Sans MS"/>
                <a:ea typeface="Comic Sans MS"/>
                <a:cs typeface="Comic Sans MS"/>
                <a:sym typeface="Comic Sans MS"/>
              </a:rPr>
              <a:t>battery home</a:t>
            </a:r>
            <a:r>
              <a:rPr b="1" lang="en" sz="2400">
                <a:solidFill>
                  <a:srgbClr val="434343"/>
                </a:solidFill>
                <a:latin typeface="Comic Sans MS"/>
                <a:ea typeface="Comic Sans MS"/>
                <a:cs typeface="Comic Sans MS"/>
                <a:sym typeface="Comic Sans MS"/>
              </a:rPr>
              <a:t>, replace the old battery with the new battery and everything starts working </a:t>
            </a:r>
            <a:r>
              <a:rPr b="1" lang="en" sz="2400">
                <a:solidFill>
                  <a:srgbClr val="D15A12"/>
                </a:solidFill>
                <a:latin typeface="Comic Sans MS"/>
                <a:ea typeface="Comic Sans MS"/>
                <a:cs typeface="Comic Sans MS"/>
                <a:sym typeface="Comic Sans MS"/>
              </a:rPr>
              <a:t>fine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pic>
        <p:nvPicPr>
          <p:cNvPr id="111" name="Google Shape;111;p19"/>
          <p:cNvPicPr preferRelativeResize="0"/>
          <p:nvPr/>
        </p:nvPicPr>
        <p:blipFill>
          <a:blip r:embed="rId3">
            <a:alphaModFix/>
          </a:blip>
          <a:stretch>
            <a:fillRect/>
          </a:stretch>
        </p:blipFill>
        <p:spPr>
          <a:xfrm>
            <a:off x="2872063" y="2571750"/>
            <a:ext cx="3399875" cy="21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18" name="Google Shape;118;p2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19" name="Google Shape;119;p2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20" name="Google Shape;120;p20"/>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02</a:t>
            </a:r>
            <a:endParaRPr b="1" sz="3600">
              <a:solidFill>
                <a:srgbClr val="434343"/>
              </a:solidFill>
              <a:latin typeface="Comic Sans MS"/>
              <a:ea typeface="Comic Sans MS"/>
              <a:cs typeface="Comic Sans MS"/>
              <a:sym typeface="Comic Sans MS"/>
            </a:endParaRPr>
          </a:p>
        </p:txBody>
      </p:sp>
      <p:sp>
        <p:nvSpPr>
          <p:cNvPr id="121" name="Google Shape;121;p20"/>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Now, again suppose your </a:t>
            </a:r>
            <a:r>
              <a:rPr b="1" lang="en" sz="2400">
                <a:solidFill>
                  <a:srgbClr val="D15A12"/>
                </a:solidFill>
                <a:latin typeface="Comic Sans MS"/>
                <a:ea typeface="Comic Sans MS"/>
                <a:cs typeface="Comic Sans MS"/>
                <a:sym typeface="Comic Sans MS"/>
              </a:rPr>
              <a:t>laptop battery</a:t>
            </a:r>
            <a:r>
              <a:rPr b="1" lang="en" sz="2400">
                <a:solidFill>
                  <a:srgbClr val="434343"/>
                </a:solidFill>
                <a:latin typeface="Comic Sans MS"/>
                <a:ea typeface="Comic Sans MS"/>
                <a:cs typeface="Comic Sans MS"/>
                <a:sym typeface="Comic Sans MS"/>
              </a:rPr>
              <a:t> is damaged and you want to buy a new battery.</a:t>
            </a:r>
            <a:endParaRPr b="1" sz="2400">
              <a:solidFill>
                <a:srgbClr val="434343"/>
              </a:solidFill>
              <a:latin typeface="Comic Sans MS"/>
              <a:ea typeface="Comic Sans MS"/>
              <a:cs typeface="Comic Sans MS"/>
              <a:sym typeface="Comic Sans MS"/>
            </a:endParaRPr>
          </a:p>
        </p:txBody>
      </p:sp>
      <p:pic>
        <p:nvPicPr>
          <p:cNvPr id="122" name="Google Shape;122;p20"/>
          <p:cNvPicPr preferRelativeResize="0"/>
          <p:nvPr/>
        </p:nvPicPr>
        <p:blipFill>
          <a:blip r:embed="rId3">
            <a:alphaModFix/>
          </a:blip>
          <a:stretch>
            <a:fillRect/>
          </a:stretch>
        </p:blipFill>
        <p:spPr>
          <a:xfrm>
            <a:off x="2286000" y="2247900"/>
            <a:ext cx="4572000" cy="278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29" name="Google Shape;129;p2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30" name="Google Shape;130;p2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31" name="Google Shape;131;p2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02</a:t>
            </a:r>
            <a:endParaRPr b="1" sz="3600">
              <a:solidFill>
                <a:srgbClr val="434343"/>
              </a:solidFill>
              <a:latin typeface="Comic Sans MS"/>
              <a:ea typeface="Comic Sans MS"/>
              <a:cs typeface="Comic Sans MS"/>
              <a:sym typeface="Comic Sans MS"/>
            </a:endParaRPr>
          </a:p>
        </p:txBody>
      </p:sp>
      <p:sp>
        <p:nvSpPr>
          <p:cNvPr id="132" name="Google Shape;132;p21"/>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Now, in this scenario you just </a:t>
            </a:r>
            <a:r>
              <a:rPr b="1" lang="en" sz="2400">
                <a:solidFill>
                  <a:srgbClr val="D15A12"/>
                </a:solidFill>
                <a:latin typeface="Comic Sans MS"/>
                <a:ea typeface="Comic Sans MS"/>
                <a:cs typeface="Comic Sans MS"/>
                <a:sym typeface="Comic Sans MS"/>
              </a:rPr>
              <a:t>call</a:t>
            </a:r>
            <a:r>
              <a:rPr b="1" lang="en" sz="2400">
                <a:solidFill>
                  <a:srgbClr val="434343"/>
                </a:solidFill>
                <a:latin typeface="Comic Sans MS"/>
                <a:ea typeface="Comic Sans MS"/>
                <a:cs typeface="Comic Sans MS"/>
                <a:sym typeface="Comic Sans MS"/>
              </a:rPr>
              <a:t> the Shop Center and tell them your </a:t>
            </a:r>
            <a:r>
              <a:rPr b="1" lang="en" sz="2400">
                <a:solidFill>
                  <a:srgbClr val="D15A12"/>
                </a:solidFill>
                <a:latin typeface="Comic Sans MS"/>
                <a:ea typeface="Comic Sans MS"/>
                <a:cs typeface="Comic Sans MS"/>
                <a:sym typeface="Comic Sans MS"/>
              </a:rPr>
              <a:t>house</a:t>
            </a:r>
            <a:r>
              <a:rPr b="1" lang="en" sz="2400">
                <a:solidFill>
                  <a:srgbClr val="434343"/>
                </a:solidFill>
                <a:latin typeface="Comic Sans MS"/>
                <a:ea typeface="Comic Sans MS"/>
                <a:cs typeface="Comic Sans MS"/>
                <a:sym typeface="Comic Sans MS"/>
              </a:rPr>
              <a:t> </a:t>
            </a:r>
            <a:r>
              <a:rPr b="1" lang="en" sz="2400">
                <a:solidFill>
                  <a:srgbClr val="D15A12"/>
                </a:solidFill>
                <a:latin typeface="Comic Sans MS"/>
                <a:ea typeface="Comic Sans MS"/>
                <a:cs typeface="Comic Sans MS"/>
                <a:sym typeface="Comic Sans MS"/>
              </a:rPr>
              <a:t>address</a:t>
            </a:r>
            <a:r>
              <a:rPr b="1" lang="en" sz="2400">
                <a:solidFill>
                  <a:srgbClr val="434343"/>
                </a:solidFill>
                <a:latin typeface="Comic Sans MS"/>
                <a:ea typeface="Comic Sans MS"/>
                <a:cs typeface="Comic Sans MS"/>
                <a:sym typeface="Comic Sans MS"/>
              </a:rPr>
              <a:t> and they come and fix your laptop.</a:t>
            </a:r>
            <a:endParaRPr b="1" sz="2400">
              <a:solidFill>
                <a:srgbClr val="434343"/>
              </a:solidFill>
              <a:latin typeface="Comic Sans MS"/>
              <a:ea typeface="Comic Sans MS"/>
              <a:cs typeface="Comic Sans MS"/>
              <a:sym typeface="Comic Sans MS"/>
            </a:endParaRPr>
          </a:p>
        </p:txBody>
      </p:sp>
      <p:pic>
        <p:nvPicPr>
          <p:cNvPr id="133" name="Google Shape;133;p21"/>
          <p:cNvPicPr preferRelativeResize="0"/>
          <p:nvPr/>
        </p:nvPicPr>
        <p:blipFill>
          <a:blip r:embed="rId3">
            <a:alphaModFix/>
          </a:blip>
          <a:stretch>
            <a:fillRect/>
          </a:stretch>
        </p:blipFill>
        <p:spPr>
          <a:xfrm>
            <a:off x="2872063" y="2571750"/>
            <a:ext cx="3399875" cy="212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40" name="Google Shape;140;p2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41" name="Google Shape;141;p2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42" name="Google Shape;142;p2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143" name="Google Shape;143;p22"/>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Similarly, in C++, we can pass the complete </a:t>
            </a:r>
            <a:r>
              <a:rPr b="1" lang="en" sz="2400">
                <a:solidFill>
                  <a:srgbClr val="D15A12"/>
                </a:solidFill>
                <a:latin typeface="Comic Sans MS"/>
                <a:ea typeface="Comic Sans MS"/>
                <a:cs typeface="Comic Sans MS"/>
                <a:sym typeface="Comic Sans MS"/>
              </a:rPr>
              <a:t>variables</a:t>
            </a:r>
            <a:r>
              <a:rPr b="1" lang="en" sz="2400">
                <a:solidFill>
                  <a:srgbClr val="434343"/>
                </a:solidFill>
                <a:latin typeface="Comic Sans MS"/>
                <a:ea typeface="Comic Sans MS"/>
                <a:cs typeface="Comic Sans MS"/>
                <a:sym typeface="Comic Sans MS"/>
              </a:rPr>
              <a:t> to the functions (</a:t>
            </a:r>
            <a:r>
              <a:rPr b="1" lang="en" sz="2400">
                <a:solidFill>
                  <a:srgbClr val="D15A12"/>
                </a:solidFill>
                <a:latin typeface="Comic Sans MS"/>
                <a:ea typeface="Comic Sans MS"/>
                <a:cs typeface="Comic Sans MS"/>
                <a:sym typeface="Comic Sans MS"/>
              </a:rPr>
              <a:t>Pass by Value</a:t>
            </a:r>
            <a:r>
              <a:rPr b="1" lang="en" sz="2400">
                <a:solidFill>
                  <a:srgbClr val="434343"/>
                </a:solidFill>
                <a:latin typeface="Comic Sans MS"/>
                <a:ea typeface="Comic Sans MS"/>
                <a:cs typeface="Comic Sans MS"/>
                <a:sym typeface="Comic Sans MS"/>
              </a:rPr>
              <a:t>) or we can just pass the address of the variable (</a:t>
            </a:r>
            <a:r>
              <a:rPr b="1" lang="en" sz="2400">
                <a:solidFill>
                  <a:srgbClr val="D15A12"/>
                </a:solidFill>
                <a:latin typeface="Comic Sans MS"/>
                <a:ea typeface="Comic Sans MS"/>
                <a:cs typeface="Comic Sans MS"/>
                <a:sym typeface="Comic Sans MS"/>
              </a:rPr>
              <a:t>Pass 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50" name="Google Shape;150;p2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51" name="Google Shape;151;p2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52" name="Google Shape;152;p2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153" name="Google Shape;153;p2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Previously, we have already seen how we can pass the complete </a:t>
            </a:r>
            <a:r>
              <a:rPr b="1" lang="en" sz="2400">
                <a:solidFill>
                  <a:srgbClr val="D15A12"/>
                </a:solidFill>
                <a:latin typeface="Comic Sans MS"/>
                <a:ea typeface="Comic Sans MS"/>
                <a:cs typeface="Comic Sans MS"/>
                <a:sym typeface="Comic Sans MS"/>
              </a:rPr>
              <a:t>variables</a:t>
            </a:r>
            <a:r>
              <a:rPr b="1" lang="en" sz="2400">
                <a:solidFill>
                  <a:srgbClr val="434343"/>
                </a:solidFill>
                <a:latin typeface="Comic Sans MS"/>
                <a:ea typeface="Comic Sans MS"/>
                <a:cs typeface="Comic Sans MS"/>
                <a:sym typeface="Comic Sans MS"/>
              </a:rPr>
              <a:t> to the functions (</a:t>
            </a:r>
            <a:r>
              <a:rPr b="1" lang="en" sz="2400">
                <a:solidFill>
                  <a:srgbClr val="D15A12"/>
                </a:solidFill>
                <a:latin typeface="Comic Sans MS"/>
                <a:ea typeface="Comic Sans MS"/>
                <a:cs typeface="Comic Sans MS"/>
                <a:sym typeface="Comic Sans MS"/>
              </a:rPr>
              <a:t>Pass by Value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ctrTitle"/>
          </p:nvPr>
        </p:nvSpPr>
        <p:spPr>
          <a:xfrm>
            <a:off x="0" y="0"/>
            <a:ext cx="9144000" cy="790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b="1" lang="en" sz="3300">
                <a:solidFill>
                  <a:srgbClr val="404040"/>
                </a:solidFill>
                <a:latin typeface="Comic Sans MS"/>
                <a:ea typeface="Comic Sans MS"/>
                <a:cs typeface="Comic Sans MS"/>
                <a:sym typeface="Comic Sans MS"/>
              </a:rPr>
              <a:t>   Review: Function in </a:t>
            </a:r>
            <a:r>
              <a:rPr b="1" lang="en" sz="3300">
                <a:solidFill>
                  <a:srgbClr val="D15A12"/>
                </a:solidFill>
                <a:latin typeface="Comic Sans MS"/>
                <a:ea typeface="Comic Sans MS"/>
                <a:cs typeface="Comic Sans MS"/>
                <a:sym typeface="Comic Sans MS"/>
              </a:rPr>
              <a:t>C++</a:t>
            </a:r>
            <a:endParaRPr b="1" sz="2600">
              <a:solidFill>
                <a:srgbClr val="D15A12"/>
              </a:solidFill>
              <a:latin typeface="Comic Sans MS"/>
              <a:ea typeface="Comic Sans MS"/>
              <a:cs typeface="Comic Sans MS"/>
              <a:sym typeface="Comic Sans MS"/>
            </a:endParaRPr>
          </a:p>
        </p:txBody>
      </p:sp>
      <p:cxnSp>
        <p:nvCxnSpPr>
          <p:cNvPr id="159" name="Google Shape;159;p24"/>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160" name="Google Shape;160;p24"/>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161" name="Google Shape;161;p2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2" name="Google Shape;162;p24"/>
          <p:cNvSpPr txBox="1"/>
          <p:nvPr/>
        </p:nvSpPr>
        <p:spPr>
          <a:xfrm>
            <a:off x="552400" y="930375"/>
            <a:ext cx="8591700" cy="10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04040"/>
                </a:solidFill>
                <a:latin typeface="Comic Sans MS"/>
                <a:ea typeface="Comic Sans MS"/>
                <a:cs typeface="Comic Sans MS"/>
                <a:sym typeface="Comic Sans MS"/>
              </a:rPr>
              <a:t>Previously, we have written the function</a:t>
            </a:r>
            <a:br>
              <a:rPr b="1" lang="en" sz="2800">
                <a:solidFill>
                  <a:srgbClr val="404040"/>
                </a:solidFill>
                <a:latin typeface="Comic Sans MS"/>
                <a:ea typeface="Comic Sans MS"/>
                <a:cs typeface="Comic Sans MS"/>
                <a:sym typeface="Comic Sans MS"/>
              </a:rPr>
            </a:br>
            <a:r>
              <a:rPr b="1" lang="en" sz="2800">
                <a:solidFill>
                  <a:srgbClr val="404040"/>
                </a:solidFill>
                <a:latin typeface="Comic Sans MS"/>
                <a:ea typeface="Comic Sans MS"/>
                <a:cs typeface="Comic Sans MS"/>
                <a:sym typeface="Comic Sans MS"/>
              </a:rPr>
              <a:t>of </a:t>
            </a:r>
            <a:r>
              <a:rPr b="1" lang="en" sz="2800">
                <a:solidFill>
                  <a:srgbClr val="D15A12"/>
                </a:solidFill>
                <a:latin typeface="Comic Sans MS"/>
                <a:ea typeface="Comic Sans MS"/>
                <a:cs typeface="Comic Sans MS"/>
                <a:sym typeface="Comic Sans MS"/>
              </a:rPr>
              <a:t>Addition</a:t>
            </a:r>
            <a:r>
              <a:rPr b="1" lang="en" sz="2800">
                <a:solidFill>
                  <a:srgbClr val="404040"/>
                </a:solidFill>
                <a:latin typeface="Comic Sans MS"/>
                <a:ea typeface="Comic Sans MS"/>
                <a:cs typeface="Comic Sans MS"/>
                <a:sym typeface="Comic Sans MS"/>
              </a:rPr>
              <a:t>.</a:t>
            </a:r>
            <a:endParaRPr b="1" sz="2800">
              <a:solidFill>
                <a:srgbClr val="404040"/>
              </a:solidFill>
              <a:latin typeface="Comic Sans MS"/>
              <a:ea typeface="Comic Sans MS"/>
              <a:cs typeface="Comic Sans MS"/>
              <a:sym typeface="Comic Sans MS"/>
            </a:endParaRPr>
          </a:p>
        </p:txBody>
      </p:sp>
      <p:graphicFrame>
        <p:nvGraphicFramePr>
          <p:cNvPr id="163" name="Google Shape;163;p24"/>
          <p:cNvGraphicFramePr/>
          <p:nvPr/>
        </p:nvGraphicFramePr>
        <p:xfrm>
          <a:off x="2208088" y="2382825"/>
          <a:ext cx="3000000" cy="3000000"/>
        </p:xfrm>
        <a:graphic>
          <a:graphicData uri="http://schemas.openxmlformats.org/drawingml/2006/table">
            <a:tbl>
              <a:tblPr>
                <a:noFill/>
                <a:tableStyleId>{0D657619-D8D7-46E0-9B8A-54F775D84A31}</a:tableStyleId>
              </a:tblPr>
              <a:tblGrid>
                <a:gridCol w="489575"/>
                <a:gridCol w="4238225"/>
              </a:tblGrid>
              <a:tr h="12700">
                <a:tc>
                  <a:txBody>
                    <a:bodyPr/>
                    <a:lstStyle/>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1</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2</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3</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4</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5</a:t>
                      </a:r>
                      <a:endParaRPr b="1" sz="1600"/>
                    </a:p>
                  </a:txBody>
                  <a:tcPr marT="63500" marB="63500" marR="63500" marL="63500"/>
                </a:tc>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pic>
        <p:nvPicPr>
          <p:cNvPr id="164" name="Google Shape;164;p24"/>
          <p:cNvPicPr preferRelativeResize="0"/>
          <p:nvPr/>
        </p:nvPicPr>
        <p:blipFill>
          <a:blip r:embed="rId3">
            <a:alphaModFix/>
          </a:blip>
          <a:stretch>
            <a:fillRect/>
          </a:stretch>
        </p:blipFill>
        <p:spPr>
          <a:xfrm>
            <a:off x="7709175" y="0"/>
            <a:ext cx="1434925" cy="1427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71" name="Google Shape;171;p2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72" name="Google Shape;172;p2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73" name="Google Shape;173;p2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174" name="Google Shape;174;p25"/>
          <p:cNvGraphicFramePr/>
          <p:nvPr/>
        </p:nvGraphicFramePr>
        <p:xfrm>
          <a:off x="74488" y="2916225"/>
          <a:ext cx="3000000" cy="3000000"/>
        </p:xfrm>
        <a:graphic>
          <a:graphicData uri="http://schemas.openxmlformats.org/drawingml/2006/table">
            <a:tbl>
              <a:tblPr>
                <a:noFill/>
                <a:tableStyleId>{0D657619-D8D7-46E0-9B8A-54F775D84A31}</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175" name="Google Shape;175;p25"/>
          <p:cNvGraphicFramePr/>
          <p:nvPr/>
        </p:nvGraphicFramePr>
        <p:xfrm>
          <a:off x="4188988" y="1883475"/>
          <a:ext cx="3000000" cy="3000000"/>
        </p:xfrm>
        <a:graphic>
          <a:graphicData uri="http://schemas.openxmlformats.org/drawingml/2006/table">
            <a:tbl>
              <a:tblPr>
                <a:noFill/>
                <a:tableStyleId>{0D657619-D8D7-46E0-9B8A-54F775D84A31}</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176" name="Google Shape;176;p25"/>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 name="Google Shape;177;p25"/>
          <p:cNvCxnSpPr>
            <a:stCxn id="176"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178" name="Google Shape;178;p25"/>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179" name="Google Shape;179;p25"/>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180" name="Google Shape;180;p25"/>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5"/>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700">
              <a:solidFill>
                <a:srgbClr val="D15A12"/>
              </a:solidFill>
              <a:latin typeface="Comic Sans MS"/>
              <a:ea typeface="Comic Sans MS"/>
              <a:cs typeface="Comic Sans MS"/>
              <a:sym typeface="Comic Sans MS"/>
            </a:endParaRPr>
          </a:p>
        </p:txBody>
      </p:sp>
      <p:sp>
        <p:nvSpPr>
          <p:cNvPr id="182" name="Google Shape;182;p25"/>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b="1" sz="1700">
              <a:solidFill>
                <a:srgbClr val="D15A12"/>
              </a:solidFill>
              <a:latin typeface="Comic Sans MS"/>
              <a:ea typeface="Comic Sans MS"/>
              <a:cs typeface="Comic Sans MS"/>
              <a:sym typeface="Comic Sans MS"/>
            </a:endParaRPr>
          </a:p>
        </p:txBody>
      </p:sp>
      <p:sp>
        <p:nvSpPr>
          <p:cNvPr id="183" name="Google Shape;183;p25"/>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
        <p:nvSpPr>
          <p:cNvPr id="184" name="Google Shape;184;p25"/>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185" name="Google Shape;185;p25"/>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186" name="Google Shape;186;p25"/>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187" name="Google Shape;187;p25"/>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188" name="Google Shape;188;p25"/>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189" name="Google Shape;189;p25"/>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
        <p:nvSpPr>
          <p:cNvPr id="190" name="Google Shape;190;p25"/>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191" name="Google Shape;191;p25"/>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98" name="Google Shape;198;p2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99" name="Google Shape;199;p2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00" name="Google Shape;200;p2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201" name="Google Shape;201;p26"/>
          <p:cNvGraphicFramePr/>
          <p:nvPr/>
        </p:nvGraphicFramePr>
        <p:xfrm>
          <a:off x="74488" y="2916225"/>
          <a:ext cx="3000000" cy="3000000"/>
        </p:xfrm>
        <a:graphic>
          <a:graphicData uri="http://schemas.openxmlformats.org/drawingml/2006/table">
            <a:tbl>
              <a:tblPr>
                <a:noFill/>
                <a:tableStyleId>{0D657619-D8D7-46E0-9B8A-54F775D84A31}</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202" name="Google Shape;202;p26"/>
          <p:cNvGraphicFramePr/>
          <p:nvPr/>
        </p:nvGraphicFramePr>
        <p:xfrm>
          <a:off x="4188988" y="1883475"/>
          <a:ext cx="3000000" cy="3000000"/>
        </p:xfrm>
        <a:graphic>
          <a:graphicData uri="http://schemas.openxmlformats.org/drawingml/2006/table">
            <a:tbl>
              <a:tblPr>
                <a:noFill/>
                <a:tableStyleId>{0D657619-D8D7-46E0-9B8A-54F775D84A31}</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203" name="Google Shape;203;p26"/>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4" name="Google Shape;204;p26"/>
          <p:cNvCxnSpPr>
            <a:stCxn id="203"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205" name="Google Shape;205;p26"/>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206" name="Google Shape;206;p26"/>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207" name="Google Shape;207;p26"/>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6"/>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209" name="Google Shape;209;p26"/>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10" name="Google Shape;210;p26"/>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6"/>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12" name="Google Shape;212;p26"/>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213" name="Google Shape;213;p26"/>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214" name="Google Shape;214;p26"/>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15" name="Google Shape;215;p26"/>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216" name="Google Shape;216;p26"/>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6"/>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218" name="Google Shape;218;p26"/>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25" name="Google Shape;225;p2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26" name="Google Shape;226;p2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27" name="Google Shape;227;p2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228" name="Google Shape;228;p27"/>
          <p:cNvGraphicFramePr/>
          <p:nvPr/>
        </p:nvGraphicFramePr>
        <p:xfrm>
          <a:off x="74488" y="2916225"/>
          <a:ext cx="3000000" cy="3000000"/>
        </p:xfrm>
        <a:graphic>
          <a:graphicData uri="http://schemas.openxmlformats.org/drawingml/2006/table">
            <a:tbl>
              <a:tblPr>
                <a:noFill/>
                <a:tableStyleId>{0D657619-D8D7-46E0-9B8A-54F775D84A31}</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229" name="Google Shape;229;p27"/>
          <p:cNvGraphicFramePr/>
          <p:nvPr/>
        </p:nvGraphicFramePr>
        <p:xfrm>
          <a:off x="4188988" y="1883475"/>
          <a:ext cx="3000000" cy="3000000"/>
        </p:xfrm>
        <a:graphic>
          <a:graphicData uri="http://schemas.openxmlformats.org/drawingml/2006/table">
            <a:tbl>
              <a:tblPr>
                <a:noFill/>
                <a:tableStyleId>{0D657619-D8D7-46E0-9B8A-54F775D84A31}</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230" name="Google Shape;230;p27"/>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1" name="Google Shape;231;p27"/>
          <p:cNvCxnSpPr>
            <a:stCxn id="230"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232" name="Google Shape;232;p27"/>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233" name="Google Shape;233;p27"/>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234" name="Google Shape;234;p27"/>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7"/>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236" name="Google Shape;236;p27"/>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37" name="Google Shape;237;p2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a:p>
        </p:txBody>
      </p:sp>
      <p:sp>
        <p:nvSpPr>
          <p:cNvPr id="238" name="Google Shape;238;p27"/>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39" name="Google Shape;239;p27"/>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240" name="Google Shape;240;p27"/>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241" name="Google Shape;241;p27"/>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42" name="Google Shape;242;p27"/>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243" name="Google Shape;243;p2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5</a:t>
            </a:r>
            <a:endParaRPr/>
          </a:p>
        </p:txBody>
      </p:sp>
      <p:sp>
        <p:nvSpPr>
          <p:cNvPr id="244" name="Google Shape;244;p27"/>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245" name="Google Shape;245;p27"/>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246" name="Google Shape;246;p27"/>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247" name="Google Shape;247;p27"/>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54" name="Google Shape;254;p2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55" name="Google Shape;255;p2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56" name="Google Shape;256;p2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Value</a:t>
            </a:r>
            <a:endParaRPr b="1" sz="3600">
              <a:solidFill>
                <a:srgbClr val="434343"/>
              </a:solidFill>
              <a:latin typeface="Comic Sans MS"/>
              <a:ea typeface="Comic Sans MS"/>
              <a:cs typeface="Comic Sans MS"/>
              <a:sym typeface="Comic Sans MS"/>
            </a:endParaRPr>
          </a:p>
        </p:txBody>
      </p:sp>
      <p:graphicFrame>
        <p:nvGraphicFramePr>
          <p:cNvPr id="257" name="Google Shape;257;p28"/>
          <p:cNvGraphicFramePr/>
          <p:nvPr/>
        </p:nvGraphicFramePr>
        <p:xfrm>
          <a:off x="74488" y="2916225"/>
          <a:ext cx="3000000" cy="3000000"/>
        </p:xfrm>
        <a:graphic>
          <a:graphicData uri="http://schemas.openxmlformats.org/drawingml/2006/table">
            <a:tbl>
              <a:tblPr>
                <a:noFill/>
                <a:tableStyleId>{0D657619-D8D7-46E0-9B8A-54F775D84A31}</a:tableStyleId>
              </a:tblPr>
              <a:tblGrid>
                <a:gridCol w="401550"/>
                <a:gridCol w="34762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258" name="Google Shape;258;p28"/>
          <p:cNvGraphicFramePr/>
          <p:nvPr/>
        </p:nvGraphicFramePr>
        <p:xfrm>
          <a:off x="4188988" y="1883475"/>
          <a:ext cx="3000000" cy="3000000"/>
        </p:xfrm>
        <a:graphic>
          <a:graphicData uri="http://schemas.openxmlformats.org/drawingml/2006/table">
            <a:tbl>
              <a:tblPr>
                <a:noFill/>
                <a:tableStyleId>{0D657619-D8D7-46E0-9B8A-54F775D84A31}</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259" name="Google Shape;259;p28"/>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 name="Google Shape;260;p28"/>
          <p:cNvCxnSpPr>
            <a:stCxn id="259"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261" name="Google Shape;261;p28"/>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262" name="Google Shape;262;p28"/>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263" name="Google Shape;263;p28"/>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265" name="Google Shape;265;p28"/>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66" name="Google Shape;266;p28"/>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8"/>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68" name="Google Shape;268;p28"/>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269" name="Google Shape;269;p28"/>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270" name="Google Shape;270;p28"/>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71" name="Google Shape;271;p28"/>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272" name="Google Shape;272;p28"/>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8"/>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274" name="Google Shape;274;p28"/>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275" name="Google Shape;275;p28"/>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76" name="Google Shape;276;p28"/>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77" name="Google Shape;277;p28"/>
          <p:cNvSpPr txBox="1"/>
          <p:nvPr/>
        </p:nvSpPr>
        <p:spPr>
          <a:xfrm>
            <a:off x="4580100" y="845100"/>
            <a:ext cx="4269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After the function call, the </a:t>
            </a:r>
            <a:r>
              <a:rPr b="1" lang="en" sz="1500">
                <a:solidFill>
                  <a:srgbClr val="D15A12"/>
                </a:solidFill>
                <a:latin typeface="Comic Sans MS"/>
                <a:ea typeface="Comic Sans MS"/>
                <a:cs typeface="Comic Sans MS"/>
                <a:sym typeface="Comic Sans MS"/>
              </a:rPr>
              <a:t>local variables</a:t>
            </a:r>
            <a:r>
              <a:rPr b="1" lang="en" sz="1500">
                <a:solidFill>
                  <a:srgbClr val="434343"/>
                </a:solidFill>
                <a:latin typeface="Comic Sans MS"/>
                <a:ea typeface="Comic Sans MS"/>
                <a:cs typeface="Comic Sans MS"/>
                <a:sym typeface="Comic Sans MS"/>
              </a:rPr>
              <a:t> of the addition function will be </a:t>
            </a:r>
            <a:r>
              <a:rPr b="1" lang="en" sz="1500">
                <a:solidFill>
                  <a:srgbClr val="D15A12"/>
                </a:solidFill>
                <a:latin typeface="Comic Sans MS"/>
                <a:ea typeface="Comic Sans MS"/>
                <a:cs typeface="Comic Sans MS"/>
                <a:sym typeface="Comic Sans MS"/>
              </a:rPr>
              <a:t>destroyed</a:t>
            </a:r>
            <a:r>
              <a:rPr b="1" lang="en" sz="1500">
                <a:solidFill>
                  <a:srgbClr val="434343"/>
                </a:solidFill>
                <a:latin typeface="Comic Sans MS"/>
                <a:ea typeface="Comic Sans MS"/>
                <a:cs typeface="Comic Sans MS"/>
                <a:sym typeface="Comic Sans MS"/>
              </a:rPr>
              <a:t> and only the variables of the </a:t>
            </a:r>
            <a:r>
              <a:rPr b="1" lang="en" sz="1500">
                <a:solidFill>
                  <a:srgbClr val="D15A12"/>
                </a:solidFill>
                <a:latin typeface="Comic Sans MS"/>
                <a:ea typeface="Comic Sans MS"/>
                <a:cs typeface="Comic Sans MS"/>
                <a:sym typeface="Comic Sans MS"/>
              </a:rPr>
              <a:t>main</a:t>
            </a:r>
            <a:r>
              <a:rPr b="1" lang="en" sz="1500">
                <a:solidFill>
                  <a:srgbClr val="434343"/>
                </a:solidFill>
                <a:latin typeface="Comic Sans MS"/>
                <a:ea typeface="Comic Sans MS"/>
                <a:cs typeface="Comic Sans MS"/>
                <a:sym typeface="Comic Sans MS"/>
              </a:rPr>
              <a:t> function will remain. </a:t>
            </a:r>
            <a:endParaRPr b="1" sz="1500">
              <a:solidFill>
                <a:srgbClr val="434343"/>
              </a:solidFill>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4" name="Google Shape;284;p2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85" name="Google Shape;285;p2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86" name="Google Shape;286;p2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287" name="Google Shape;287;p29"/>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Let’s see how we can just pass the address of the variable (</a:t>
            </a:r>
            <a:r>
              <a:rPr b="1" lang="en" sz="2400">
                <a:solidFill>
                  <a:srgbClr val="D15A12"/>
                </a:solidFill>
                <a:latin typeface="Comic Sans MS"/>
                <a:ea typeface="Comic Sans MS"/>
                <a:cs typeface="Comic Sans MS"/>
                <a:sym typeface="Comic Sans MS"/>
              </a:rPr>
              <a:t>Pass 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0"/>
          <p:cNvSpPr txBox="1"/>
          <p:nvPr>
            <p:ph type="ctrTitle"/>
          </p:nvPr>
        </p:nvSpPr>
        <p:spPr>
          <a:xfrm>
            <a:off x="0" y="0"/>
            <a:ext cx="9144000" cy="790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b="1" lang="en" sz="3300">
                <a:solidFill>
                  <a:srgbClr val="404040"/>
                </a:solidFill>
                <a:latin typeface="Comic Sans MS"/>
                <a:ea typeface="Comic Sans MS"/>
                <a:cs typeface="Comic Sans MS"/>
                <a:sym typeface="Comic Sans MS"/>
              </a:rPr>
              <a:t>   Function in </a:t>
            </a:r>
            <a:r>
              <a:rPr b="1" lang="en" sz="3300">
                <a:solidFill>
                  <a:srgbClr val="D15A12"/>
                </a:solidFill>
                <a:latin typeface="Comic Sans MS"/>
                <a:ea typeface="Comic Sans MS"/>
                <a:cs typeface="Comic Sans MS"/>
                <a:sym typeface="Comic Sans MS"/>
              </a:rPr>
              <a:t>C++</a:t>
            </a:r>
            <a:endParaRPr b="1" sz="2600">
              <a:solidFill>
                <a:srgbClr val="D15A12"/>
              </a:solidFill>
              <a:latin typeface="Comic Sans MS"/>
              <a:ea typeface="Comic Sans MS"/>
              <a:cs typeface="Comic Sans MS"/>
              <a:sym typeface="Comic Sans MS"/>
            </a:endParaRPr>
          </a:p>
        </p:txBody>
      </p:sp>
      <p:cxnSp>
        <p:nvCxnSpPr>
          <p:cNvPr id="293" name="Google Shape;293;p30"/>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294" name="Google Shape;294;p30"/>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295" name="Google Shape;295;p3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6" name="Google Shape;296;p30"/>
          <p:cNvSpPr txBox="1"/>
          <p:nvPr/>
        </p:nvSpPr>
        <p:spPr>
          <a:xfrm>
            <a:off x="552400" y="930375"/>
            <a:ext cx="8591700" cy="10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404040"/>
                </a:solidFill>
                <a:latin typeface="Comic Sans MS"/>
                <a:ea typeface="Comic Sans MS"/>
                <a:cs typeface="Comic Sans MS"/>
                <a:sym typeface="Comic Sans MS"/>
              </a:rPr>
              <a:t>Now, the </a:t>
            </a:r>
            <a:r>
              <a:rPr b="1" lang="en" sz="2800">
                <a:solidFill>
                  <a:srgbClr val="D15A12"/>
                </a:solidFill>
                <a:latin typeface="Comic Sans MS"/>
                <a:ea typeface="Comic Sans MS"/>
                <a:cs typeface="Comic Sans MS"/>
                <a:sym typeface="Comic Sans MS"/>
              </a:rPr>
              <a:t>Addition</a:t>
            </a:r>
            <a:r>
              <a:rPr b="1" lang="en" sz="2800">
                <a:solidFill>
                  <a:srgbClr val="404040"/>
                </a:solidFill>
                <a:latin typeface="Comic Sans MS"/>
                <a:ea typeface="Comic Sans MS"/>
                <a:cs typeface="Comic Sans MS"/>
                <a:sym typeface="Comic Sans MS"/>
              </a:rPr>
              <a:t> function is</a:t>
            </a:r>
            <a:endParaRPr b="1" sz="2800">
              <a:solidFill>
                <a:srgbClr val="404040"/>
              </a:solidFill>
              <a:latin typeface="Comic Sans MS"/>
              <a:ea typeface="Comic Sans MS"/>
              <a:cs typeface="Comic Sans MS"/>
              <a:sym typeface="Comic Sans MS"/>
            </a:endParaRPr>
          </a:p>
          <a:p>
            <a:pPr indent="0" lvl="0" marL="0" rtl="0" algn="l">
              <a:spcBef>
                <a:spcPts val="0"/>
              </a:spcBef>
              <a:spcAft>
                <a:spcPts val="0"/>
              </a:spcAft>
              <a:buNone/>
            </a:pPr>
            <a:r>
              <a:rPr b="1" lang="en" sz="2800">
                <a:solidFill>
                  <a:srgbClr val="404040"/>
                </a:solidFill>
                <a:latin typeface="Comic Sans MS"/>
                <a:ea typeface="Comic Sans MS"/>
                <a:cs typeface="Comic Sans MS"/>
                <a:sym typeface="Comic Sans MS"/>
              </a:rPr>
              <a:t>only receiving the address of the variables.</a:t>
            </a:r>
            <a:endParaRPr b="1" sz="2800">
              <a:solidFill>
                <a:srgbClr val="404040"/>
              </a:solidFill>
              <a:latin typeface="Comic Sans MS"/>
              <a:ea typeface="Comic Sans MS"/>
              <a:cs typeface="Comic Sans MS"/>
              <a:sym typeface="Comic Sans MS"/>
            </a:endParaRPr>
          </a:p>
        </p:txBody>
      </p:sp>
      <p:graphicFrame>
        <p:nvGraphicFramePr>
          <p:cNvPr id="297" name="Google Shape;297;p30"/>
          <p:cNvGraphicFramePr/>
          <p:nvPr/>
        </p:nvGraphicFramePr>
        <p:xfrm>
          <a:off x="2208088" y="2382825"/>
          <a:ext cx="3000000" cy="3000000"/>
        </p:xfrm>
        <a:graphic>
          <a:graphicData uri="http://schemas.openxmlformats.org/drawingml/2006/table">
            <a:tbl>
              <a:tblPr>
                <a:noFill/>
                <a:tableStyleId>{0D657619-D8D7-46E0-9B8A-54F775D84A31}</a:tableStyleId>
              </a:tblPr>
              <a:tblGrid>
                <a:gridCol w="489575"/>
                <a:gridCol w="4238225"/>
              </a:tblGrid>
              <a:tr h="12700">
                <a:tc>
                  <a:txBody>
                    <a:bodyPr/>
                    <a:lstStyle/>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1</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2</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3</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4</a:t>
                      </a:r>
                      <a:endParaRPr b="1" sz="1600">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sz="1600">
                          <a:solidFill>
                            <a:srgbClr val="098658"/>
                          </a:solidFill>
                          <a:latin typeface="Courier New"/>
                          <a:ea typeface="Courier New"/>
                          <a:cs typeface="Courier New"/>
                          <a:sym typeface="Courier New"/>
                        </a:rPr>
                        <a:t>5</a:t>
                      </a:r>
                      <a:endParaRPr b="1" sz="1600"/>
                    </a:p>
                  </a:txBody>
                  <a:tcPr marT="63500" marB="63500" marR="63500" marL="63500"/>
                </a:tc>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pic>
        <p:nvPicPr>
          <p:cNvPr id="298" name="Google Shape;298;p30"/>
          <p:cNvPicPr preferRelativeResize="0"/>
          <p:nvPr/>
        </p:nvPicPr>
        <p:blipFill>
          <a:blip r:embed="rId3">
            <a:alphaModFix/>
          </a:blip>
          <a:stretch>
            <a:fillRect/>
          </a:stretch>
        </p:blipFill>
        <p:spPr>
          <a:xfrm>
            <a:off x="7709175" y="0"/>
            <a:ext cx="1434925" cy="1427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05" name="Google Shape;305;p3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06" name="Google Shape;306;p3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07" name="Google Shape;307;p3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Reference</a:t>
            </a:r>
            <a:endParaRPr b="1" sz="3600">
              <a:solidFill>
                <a:srgbClr val="434343"/>
              </a:solidFill>
              <a:latin typeface="Comic Sans MS"/>
              <a:ea typeface="Comic Sans MS"/>
              <a:cs typeface="Comic Sans MS"/>
              <a:sym typeface="Comic Sans MS"/>
            </a:endParaRPr>
          </a:p>
        </p:txBody>
      </p:sp>
      <p:graphicFrame>
        <p:nvGraphicFramePr>
          <p:cNvPr id="308" name="Google Shape;308;p31"/>
          <p:cNvGraphicFramePr/>
          <p:nvPr/>
        </p:nvGraphicFramePr>
        <p:xfrm>
          <a:off x="74488" y="2916225"/>
          <a:ext cx="3000000" cy="3000000"/>
        </p:xfrm>
        <a:graphic>
          <a:graphicData uri="http://schemas.openxmlformats.org/drawingml/2006/table">
            <a:tbl>
              <a:tblPr>
                <a:noFill/>
                <a:tableStyleId>{0D657619-D8D7-46E0-9B8A-54F775D84A31}</a:tableStyleId>
              </a:tblPr>
              <a:tblGrid>
                <a:gridCol w="301000"/>
                <a:gridCol w="3707975"/>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rgbClr val="000000"/>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rgbClr val="000000"/>
                          </a:solidFill>
                          <a:highlight>
                            <a:srgbClr val="FFFFFF"/>
                          </a:highlight>
                          <a:latin typeface="Courier New"/>
                          <a:ea typeface="Courier New"/>
                          <a:cs typeface="Courier New"/>
                          <a:sym typeface="Courier New"/>
                        </a:rPr>
                        <a:t>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09" name="Google Shape;309;p31"/>
          <p:cNvGraphicFramePr/>
          <p:nvPr/>
        </p:nvGraphicFramePr>
        <p:xfrm>
          <a:off x="4188988" y="1883475"/>
          <a:ext cx="3000000" cy="3000000"/>
        </p:xfrm>
        <a:graphic>
          <a:graphicData uri="http://schemas.openxmlformats.org/drawingml/2006/table">
            <a:tbl>
              <a:tblPr>
                <a:noFill/>
                <a:tableStyleId>{0D657619-D8D7-46E0-9B8A-54F775D84A31}</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310" name="Google Shape;310;p31"/>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1" name="Google Shape;311;p31"/>
          <p:cNvCxnSpPr>
            <a:stCxn id="310"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312" name="Google Shape;312;p31"/>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313" name="Google Shape;313;p31"/>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314" name="Google Shape;314;p31"/>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1"/>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316" name="Google Shape;316;p31"/>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17" name="Google Shape;317;p31"/>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31"/>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19" name="Google Shape;319;p31"/>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320" name="Google Shape;320;p31"/>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321" name="Google Shape;321;p31"/>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22" name="Google Shape;322;p31"/>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323" name="Google Shape;323;p31"/>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31"/>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325" name="Google Shape;325;p31"/>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32" name="Google Shape;332;p3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33" name="Google Shape;333;p3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34" name="Google Shape;334;p3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Variables: </a:t>
            </a:r>
            <a:r>
              <a:rPr b="1" lang="en" sz="3600">
                <a:solidFill>
                  <a:srgbClr val="434343"/>
                </a:solidFill>
                <a:latin typeface="Comic Sans MS"/>
                <a:ea typeface="Comic Sans MS"/>
                <a:cs typeface="Comic Sans MS"/>
                <a:sym typeface="Comic Sans MS"/>
              </a:rPr>
              <a:t>Passing by Reference</a:t>
            </a:r>
            <a:endParaRPr b="1" sz="3600">
              <a:solidFill>
                <a:srgbClr val="434343"/>
              </a:solidFill>
              <a:latin typeface="Comic Sans MS"/>
              <a:ea typeface="Comic Sans MS"/>
              <a:cs typeface="Comic Sans MS"/>
              <a:sym typeface="Comic Sans MS"/>
            </a:endParaRPr>
          </a:p>
        </p:txBody>
      </p:sp>
      <p:graphicFrame>
        <p:nvGraphicFramePr>
          <p:cNvPr id="335" name="Google Shape;335;p32"/>
          <p:cNvGraphicFramePr/>
          <p:nvPr/>
        </p:nvGraphicFramePr>
        <p:xfrm>
          <a:off x="74488" y="2916225"/>
          <a:ext cx="3000000" cy="3000000"/>
        </p:xfrm>
        <a:graphic>
          <a:graphicData uri="http://schemas.openxmlformats.org/drawingml/2006/table">
            <a:tbl>
              <a:tblPr>
                <a:noFill/>
                <a:tableStyleId>{0D657619-D8D7-46E0-9B8A-54F775D84A31}</a:tableStyleId>
              </a:tblPr>
              <a:tblGrid>
                <a:gridCol w="327000"/>
                <a:gridCol w="3672150"/>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&amp;num1,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&amp;num2)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36" name="Google Shape;336;p32"/>
          <p:cNvGraphicFramePr/>
          <p:nvPr/>
        </p:nvGraphicFramePr>
        <p:xfrm>
          <a:off x="4188988" y="1883475"/>
          <a:ext cx="3000000" cy="3000000"/>
        </p:xfrm>
        <a:graphic>
          <a:graphicData uri="http://schemas.openxmlformats.org/drawingml/2006/table">
            <a:tbl>
              <a:tblPr>
                <a:noFill/>
                <a:tableStyleId>{0D657619-D8D7-46E0-9B8A-54F775D84A31}</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337" name="Google Shape;337;p32"/>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8" name="Google Shape;338;p32"/>
          <p:cNvCxnSpPr>
            <a:stCxn id="337"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339" name="Google Shape;339;p32"/>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340" name="Google Shape;340;p32"/>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341" name="Google Shape;341;p32"/>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2"/>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343" name="Google Shape;343;p32"/>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44" name="Google Shape;344;p32"/>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D15A12"/>
                </a:solidFill>
                <a:latin typeface="Raleway"/>
                <a:ea typeface="Raleway"/>
                <a:cs typeface="Raleway"/>
                <a:sym typeface="Raleway"/>
              </a:rPr>
              <a:t>0xE4A71</a:t>
            </a:r>
            <a:endParaRPr sz="1300">
              <a:solidFill>
                <a:srgbClr val="D15A12"/>
              </a:solidFill>
            </a:endParaRPr>
          </a:p>
        </p:txBody>
      </p:sp>
      <p:sp>
        <p:nvSpPr>
          <p:cNvPr id="345" name="Google Shape;345;p32"/>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46" name="Google Shape;346;p32"/>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347" name="Google Shape;347;p32"/>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348" name="Google Shape;348;p32"/>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49" name="Google Shape;349;p32"/>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350" name="Google Shape;350;p32"/>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D15A12"/>
                </a:solidFill>
                <a:latin typeface="Raleway"/>
                <a:ea typeface="Raleway"/>
                <a:cs typeface="Raleway"/>
                <a:sym typeface="Raleway"/>
              </a:rPr>
              <a:t>0xE4A75</a:t>
            </a:r>
            <a:endParaRPr sz="1300">
              <a:solidFill>
                <a:srgbClr val="D15A12"/>
              </a:solidFill>
            </a:endParaRPr>
          </a:p>
        </p:txBody>
      </p:sp>
      <p:sp>
        <p:nvSpPr>
          <p:cNvPr id="351" name="Google Shape;351;p32"/>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352" name="Google Shape;352;p32"/>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353" name="Google Shape;353;p32"/>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354" name="Google Shape;354;p32"/>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61" name="Google Shape;361;p3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62" name="Google Shape;362;p3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63" name="Google Shape;363;p3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750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Value</a:t>
            </a:r>
            <a:r>
              <a:rPr b="1" lang="en" sz="3488">
                <a:solidFill>
                  <a:srgbClr val="D15A12"/>
                </a:solidFill>
                <a:latin typeface="Comic Sans MS"/>
                <a:ea typeface="Comic Sans MS"/>
                <a:cs typeface="Comic Sans MS"/>
                <a:sym typeface="Comic Sans MS"/>
              </a:rPr>
              <a:t> VS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364" name="Google Shape;364;p3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When we use pass by reference and if the </a:t>
            </a:r>
            <a:r>
              <a:rPr b="1" lang="en" sz="2400">
                <a:solidFill>
                  <a:srgbClr val="434343"/>
                </a:solidFill>
                <a:latin typeface="Comic Sans MS"/>
                <a:ea typeface="Comic Sans MS"/>
                <a:cs typeface="Comic Sans MS"/>
                <a:sym typeface="Comic Sans MS"/>
              </a:rPr>
              <a:t>receiving</a:t>
            </a:r>
            <a:r>
              <a:rPr b="1" lang="en" sz="2400">
                <a:solidFill>
                  <a:srgbClr val="434343"/>
                </a:solidFill>
                <a:latin typeface="Comic Sans MS"/>
                <a:ea typeface="Comic Sans MS"/>
                <a:cs typeface="Comic Sans MS"/>
                <a:sym typeface="Comic Sans MS"/>
              </a:rPr>
              <a:t> </a:t>
            </a:r>
            <a:r>
              <a:rPr b="1" lang="en" sz="2400">
                <a:solidFill>
                  <a:srgbClr val="D15A12"/>
                </a:solidFill>
                <a:latin typeface="Comic Sans MS"/>
                <a:ea typeface="Comic Sans MS"/>
                <a:cs typeface="Comic Sans MS"/>
                <a:sym typeface="Comic Sans MS"/>
              </a:rPr>
              <a:t>function make any change</a:t>
            </a:r>
            <a:r>
              <a:rPr b="1" lang="en" sz="2400">
                <a:solidFill>
                  <a:srgbClr val="434343"/>
                </a:solidFill>
                <a:latin typeface="Comic Sans MS"/>
                <a:ea typeface="Comic Sans MS"/>
                <a:cs typeface="Comic Sans MS"/>
                <a:sym typeface="Comic Sans MS"/>
              </a:rPr>
              <a:t> in the variable the change will also </a:t>
            </a:r>
            <a:r>
              <a:rPr b="1" lang="en" sz="2400">
                <a:solidFill>
                  <a:srgbClr val="D15A12"/>
                </a:solidFill>
                <a:latin typeface="Comic Sans MS"/>
                <a:ea typeface="Comic Sans MS"/>
                <a:cs typeface="Comic Sans MS"/>
                <a:sym typeface="Comic Sans MS"/>
              </a:rPr>
              <a:t>visible to the caller.</a:t>
            </a:r>
            <a:r>
              <a:rPr b="1" lang="en" sz="2400">
                <a:solidFill>
                  <a:srgbClr val="434343"/>
                </a:solidFill>
                <a:latin typeface="Comic Sans MS"/>
                <a:ea typeface="Comic Sans MS"/>
                <a:cs typeface="Comic Sans MS"/>
                <a:sym typeface="Comic Sans MS"/>
              </a:rPr>
              <a:t> why</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graphicFrame>
        <p:nvGraphicFramePr>
          <p:cNvPr id="365" name="Google Shape;365;p33"/>
          <p:cNvGraphicFramePr/>
          <p:nvPr/>
        </p:nvGraphicFramePr>
        <p:xfrm>
          <a:off x="4570288" y="2382825"/>
          <a:ext cx="3000000" cy="3000000"/>
        </p:xfrm>
        <a:graphic>
          <a:graphicData uri="http://schemas.openxmlformats.org/drawingml/2006/table">
            <a:tbl>
              <a:tblPr>
                <a:noFill/>
                <a:tableStyleId>{0D657619-D8D7-46E0-9B8A-54F775D84A31}</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66" name="Google Shape;366;p33"/>
          <p:cNvGraphicFramePr/>
          <p:nvPr/>
        </p:nvGraphicFramePr>
        <p:xfrm>
          <a:off x="303088" y="2382825"/>
          <a:ext cx="3000000" cy="3000000"/>
        </p:xfrm>
        <a:graphic>
          <a:graphicData uri="http://schemas.openxmlformats.org/drawingml/2006/table">
            <a:tbl>
              <a:tblPr>
                <a:noFill/>
                <a:tableStyleId>{0D657619-D8D7-46E0-9B8A-54F775D84A31}</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num1 = 3</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sp>
        <p:nvSpPr>
          <p:cNvPr id="367" name="Google Shape;367;p33"/>
          <p:cNvSpPr txBox="1"/>
          <p:nvPr/>
        </p:nvSpPr>
        <p:spPr>
          <a:xfrm>
            <a:off x="13637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Value</a:t>
            </a:r>
            <a:endParaRPr b="1" sz="2000">
              <a:solidFill>
                <a:srgbClr val="404040"/>
              </a:solidFill>
              <a:latin typeface="Comic Sans MS"/>
              <a:ea typeface="Comic Sans MS"/>
              <a:cs typeface="Comic Sans MS"/>
              <a:sym typeface="Comic Sans MS"/>
            </a:endParaRPr>
          </a:p>
        </p:txBody>
      </p:sp>
      <p:sp>
        <p:nvSpPr>
          <p:cNvPr id="368" name="Google Shape;368;p33"/>
          <p:cNvSpPr txBox="1"/>
          <p:nvPr/>
        </p:nvSpPr>
        <p:spPr>
          <a:xfrm>
            <a:off x="5554725" y="4215125"/>
            <a:ext cx="2475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Reference</a:t>
            </a:r>
            <a:endParaRPr b="1" sz="2000">
              <a:solidFill>
                <a:srgbClr val="40404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5" name="Google Shape;375;p3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76" name="Google Shape;376;p3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77" name="Google Shape;377;p34"/>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750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Value</a:t>
            </a:r>
            <a:r>
              <a:rPr b="1" lang="en" sz="3488">
                <a:solidFill>
                  <a:srgbClr val="D15A12"/>
                </a:solidFill>
                <a:latin typeface="Comic Sans MS"/>
                <a:ea typeface="Comic Sans MS"/>
                <a:cs typeface="Comic Sans MS"/>
                <a:sym typeface="Comic Sans MS"/>
              </a:rPr>
              <a:t> VS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378" name="Google Shape;378;p34"/>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Both functions did the </a:t>
            </a:r>
            <a:r>
              <a:rPr b="1" lang="en" sz="2400">
                <a:solidFill>
                  <a:srgbClr val="D15A12"/>
                </a:solidFill>
                <a:latin typeface="Comic Sans MS"/>
                <a:ea typeface="Comic Sans MS"/>
                <a:cs typeface="Comic Sans MS"/>
                <a:sym typeface="Comic Sans MS"/>
              </a:rPr>
              <a:t>same job</a:t>
            </a:r>
            <a:r>
              <a:rPr b="1" lang="en" sz="2400">
                <a:solidFill>
                  <a:srgbClr val="434343"/>
                </a:solidFill>
                <a:latin typeface="Comic Sans MS"/>
                <a:ea typeface="Comic Sans MS"/>
                <a:cs typeface="Comic Sans MS"/>
                <a:sym typeface="Comic Sans MS"/>
              </a:rPr>
              <a:t>, but what was the </a:t>
            </a:r>
            <a:r>
              <a:rPr b="1" lang="en" sz="2400">
                <a:solidFill>
                  <a:srgbClr val="D15A12"/>
                </a:solidFill>
                <a:latin typeface="Comic Sans MS"/>
                <a:ea typeface="Comic Sans MS"/>
                <a:cs typeface="Comic Sans MS"/>
                <a:sym typeface="Comic Sans MS"/>
              </a:rPr>
              <a:t>benefit</a:t>
            </a:r>
            <a:r>
              <a:rPr b="1" lang="en" sz="2400">
                <a:solidFill>
                  <a:srgbClr val="434343"/>
                </a:solidFill>
                <a:latin typeface="Comic Sans MS"/>
                <a:ea typeface="Comic Sans MS"/>
                <a:cs typeface="Comic Sans MS"/>
                <a:sym typeface="Comic Sans MS"/>
              </a:rPr>
              <a:t> of passing the variable </a:t>
            </a:r>
            <a:r>
              <a:rPr b="1" lang="en" sz="2400">
                <a:solidFill>
                  <a:srgbClr val="D15A12"/>
                </a:solidFill>
                <a:latin typeface="Comic Sans MS"/>
                <a:ea typeface="Comic Sans MS"/>
                <a:cs typeface="Comic Sans MS"/>
                <a:sym typeface="Comic Sans MS"/>
              </a:rPr>
              <a:t>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graphicFrame>
        <p:nvGraphicFramePr>
          <p:cNvPr id="379" name="Google Shape;379;p34"/>
          <p:cNvGraphicFramePr/>
          <p:nvPr/>
        </p:nvGraphicFramePr>
        <p:xfrm>
          <a:off x="4570288" y="2382825"/>
          <a:ext cx="3000000" cy="3000000"/>
        </p:xfrm>
        <a:graphic>
          <a:graphicData uri="http://schemas.openxmlformats.org/drawingml/2006/table">
            <a:tbl>
              <a:tblPr>
                <a:noFill/>
                <a:tableStyleId>{0D657619-D8D7-46E0-9B8A-54F775D84A31}</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&amp;</a:t>
                      </a:r>
                      <a:r>
                        <a:rPr b="1" lang="en" sz="1550">
                          <a:solidFill>
                            <a:schemeClr val="dk1"/>
                          </a:solidFill>
                          <a:highlight>
                            <a:srgbClr val="FFFFFF"/>
                          </a:highlight>
                          <a:latin typeface="Courier New"/>
                          <a:ea typeface="Courier New"/>
                          <a:cs typeface="Courier New"/>
                          <a:sym typeface="Courier New"/>
                        </a:rPr>
                        <a:t>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380" name="Google Shape;380;p34"/>
          <p:cNvGraphicFramePr/>
          <p:nvPr/>
        </p:nvGraphicFramePr>
        <p:xfrm>
          <a:off x="303088" y="2382825"/>
          <a:ext cx="3000000" cy="3000000"/>
        </p:xfrm>
        <a:graphic>
          <a:graphicData uri="http://schemas.openxmlformats.org/drawingml/2006/table">
            <a:tbl>
              <a:tblPr>
                <a:noFill/>
                <a:tableStyleId>{0D657619-D8D7-46E0-9B8A-54F775D84A31}</a:tableStyleId>
              </a:tblPr>
              <a:tblGrid>
                <a:gridCol w="4238225"/>
              </a:tblGrid>
              <a:tr h="12700">
                <a:tc>
                  <a:txBody>
                    <a:bodyPr/>
                    <a:lstStyle/>
                    <a:p>
                      <a:pPr indent="0" lvl="0" marL="0" rtl="0" algn="l">
                        <a:lnSpc>
                          <a:spcPct val="135714"/>
                        </a:lnSpc>
                        <a:spcBef>
                          <a:spcPts val="0"/>
                        </a:spcBef>
                        <a:spcAft>
                          <a:spcPts val="0"/>
                        </a:spcAft>
                        <a:buClr>
                          <a:schemeClr val="dk1"/>
                        </a:buClr>
                        <a:buSzPts val="1100"/>
                        <a:buFont typeface="Arial"/>
                        <a:buNone/>
                      </a:pP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addition(</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num1,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sum = num1 + num2;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return</a:t>
                      </a:r>
                      <a:r>
                        <a:rPr b="1" lang="en" sz="1550">
                          <a:solidFill>
                            <a:schemeClr val="dk1"/>
                          </a:solidFill>
                          <a:highlight>
                            <a:srgbClr val="FFFFFF"/>
                          </a:highlight>
                          <a:latin typeface="Courier New"/>
                          <a:ea typeface="Courier New"/>
                          <a:cs typeface="Courier New"/>
                          <a:sym typeface="Courier New"/>
                        </a:rPr>
                        <a:t> sum;</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550">
                          <a:solidFill>
                            <a:schemeClr val="dk1"/>
                          </a:solidFill>
                          <a:highlight>
                            <a:srgbClr val="FFFFFF"/>
                          </a:highlight>
                          <a:latin typeface="Courier New"/>
                          <a:ea typeface="Courier New"/>
                          <a:cs typeface="Courier New"/>
                          <a:sym typeface="Courier New"/>
                        </a:rPr>
                        <a:t>}</a:t>
                      </a:r>
                      <a:endParaRPr b="1" sz="1600">
                        <a:solidFill>
                          <a:srgbClr val="AF00DB"/>
                        </a:solidFill>
                        <a:latin typeface="Courier New"/>
                        <a:ea typeface="Courier New"/>
                        <a:cs typeface="Courier New"/>
                        <a:sym typeface="Courier New"/>
                      </a:endParaRPr>
                    </a:p>
                  </a:txBody>
                  <a:tcPr marT="63500" marB="63500" marR="63500" marL="63500"/>
                </a:tc>
              </a:tr>
            </a:tbl>
          </a:graphicData>
        </a:graphic>
      </p:graphicFrame>
      <p:sp>
        <p:nvSpPr>
          <p:cNvPr id="381" name="Google Shape;381;p34"/>
          <p:cNvSpPr txBox="1"/>
          <p:nvPr/>
        </p:nvSpPr>
        <p:spPr>
          <a:xfrm>
            <a:off x="1363725" y="42151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Value</a:t>
            </a:r>
            <a:endParaRPr b="1" sz="2000">
              <a:solidFill>
                <a:srgbClr val="404040"/>
              </a:solidFill>
              <a:latin typeface="Comic Sans MS"/>
              <a:ea typeface="Comic Sans MS"/>
              <a:cs typeface="Comic Sans MS"/>
              <a:sym typeface="Comic Sans MS"/>
            </a:endParaRPr>
          </a:p>
        </p:txBody>
      </p:sp>
      <p:sp>
        <p:nvSpPr>
          <p:cNvPr id="382" name="Google Shape;382;p34"/>
          <p:cNvSpPr txBox="1"/>
          <p:nvPr/>
        </p:nvSpPr>
        <p:spPr>
          <a:xfrm>
            <a:off x="5554725" y="4215125"/>
            <a:ext cx="2475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Pass by Reference</a:t>
            </a:r>
            <a:endParaRPr b="1" sz="2000">
              <a:solidFill>
                <a:srgbClr val="40404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89" name="Google Shape;389;p3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90" name="Google Shape;390;p3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91" name="Google Shape;391;p3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392" name="Google Shape;392;p35"/>
          <p:cNvSpPr txBox="1"/>
          <p:nvPr/>
        </p:nvSpPr>
        <p:spPr>
          <a:xfrm>
            <a:off x="375500" y="945450"/>
            <a:ext cx="8342700" cy="12150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If we want to </a:t>
            </a:r>
            <a:r>
              <a:rPr b="1" lang="en" sz="2400">
                <a:solidFill>
                  <a:srgbClr val="D15A12"/>
                </a:solidFill>
                <a:latin typeface="Comic Sans MS"/>
                <a:ea typeface="Comic Sans MS"/>
                <a:cs typeface="Comic Sans MS"/>
                <a:sym typeface="Comic Sans MS"/>
              </a:rPr>
              <a:t>return multiple values</a:t>
            </a:r>
            <a:r>
              <a:rPr b="1" lang="en" sz="2400">
                <a:solidFill>
                  <a:srgbClr val="434343"/>
                </a:solidFill>
                <a:latin typeface="Comic Sans MS"/>
                <a:ea typeface="Comic Sans MS"/>
                <a:cs typeface="Comic Sans MS"/>
                <a:sym typeface="Comic Sans MS"/>
              </a:rPr>
              <a:t> from the function then we must pass the parameters </a:t>
            </a:r>
            <a:r>
              <a:rPr b="1" lang="en" sz="2400">
                <a:solidFill>
                  <a:srgbClr val="D15A12"/>
                </a:solidFill>
                <a:latin typeface="Comic Sans MS"/>
                <a:ea typeface="Comic Sans MS"/>
                <a:cs typeface="Comic Sans MS"/>
                <a:sym typeface="Comic Sans MS"/>
              </a:rPr>
              <a:t>by reference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99" name="Google Shape;399;p3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00" name="Google Shape;400;p3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01" name="Google Shape;401;p3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02" name="Google Shape;402;p36"/>
          <p:cNvSpPr txBox="1"/>
          <p:nvPr/>
        </p:nvSpPr>
        <p:spPr>
          <a:xfrm>
            <a:off x="375500" y="945450"/>
            <a:ext cx="8342700" cy="12150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Let’s make our own </a:t>
            </a:r>
            <a:r>
              <a:rPr b="1" lang="en" sz="2400">
                <a:solidFill>
                  <a:srgbClr val="D15A12"/>
                </a:solidFill>
                <a:latin typeface="Comic Sans MS"/>
                <a:ea typeface="Comic Sans MS"/>
                <a:cs typeface="Comic Sans MS"/>
                <a:sym typeface="Comic Sans MS"/>
              </a:rPr>
              <a:t>Swap</a:t>
            </a:r>
            <a:r>
              <a:rPr b="1" lang="en" sz="2400">
                <a:solidFill>
                  <a:srgbClr val="434343"/>
                </a:solidFill>
                <a:latin typeface="Comic Sans MS"/>
                <a:ea typeface="Comic Sans MS"/>
                <a:cs typeface="Comic Sans MS"/>
                <a:sym typeface="Comic Sans MS"/>
              </a:rPr>
              <a:t> function by passing the parameters by reference.</a:t>
            </a:r>
            <a:endParaRPr b="1" sz="2400">
              <a:solidFill>
                <a:srgbClr val="434343"/>
              </a:solidFill>
              <a:latin typeface="Comic Sans MS"/>
              <a:ea typeface="Comic Sans MS"/>
              <a:cs typeface="Comic Sans MS"/>
              <a:sym typeface="Comic Sans MS"/>
            </a:endParaRPr>
          </a:p>
        </p:txBody>
      </p:sp>
      <p:sp>
        <p:nvSpPr>
          <p:cNvPr id="403" name="Google Shape;403;p36"/>
          <p:cNvSpPr txBox="1"/>
          <p:nvPr/>
        </p:nvSpPr>
        <p:spPr>
          <a:xfrm>
            <a:off x="2691000" y="233250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0" name="Google Shape;410;p3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11" name="Google Shape;411;p3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12" name="Google Shape;412;p3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13" name="Google Shape;413;p37"/>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14" name="Google Shape;414;p37"/>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15" name="Google Shape;415;p37"/>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417" name="Google Shape;417;p37"/>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418" name="Google Shape;418;p3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37"/>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20" name="Google Shape;420;p37"/>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421" name="Google Shape;421;p37"/>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422" name="Google Shape;422;p37"/>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23" name="Google Shape;423;p37"/>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424" name="Google Shape;424;p3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37"/>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426" name="Google Shape;426;p37"/>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427" name="Google Shape;427;p3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28" name="Google Shape;428;p3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29" name="Google Shape;429;p37"/>
          <p:cNvSpPr/>
          <p:nvPr/>
        </p:nvSpPr>
        <p:spPr>
          <a:xfrm>
            <a:off x="4157550" y="34095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36" name="Google Shape;436;p3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37" name="Google Shape;437;p3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38" name="Google Shape;438;p3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39" name="Google Shape;439;p38"/>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40" name="Google Shape;440;p38"/>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41" name="Google Shape;441;p38"/>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8"/>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443" name="Google Shape;443;p38"/>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444" name="Google Shape;444;p38"/>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8"/>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46" name="Google Shape;446;p38"/>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447" name="Google Shape;447;p38"/>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448" name="Google Shape;448;p38"/>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49" name="Google Shape;449;p38"/>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450" name="Google Shape;450;p38"/>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38"/>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452" name="Google Shape;452;p38"/>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453" name="Google Shape;453;p38"/>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54" name="Google Shape;454;p38"/>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455" name="Google Shape;455;p38"/>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solidFill>
                <a:srgbClr val="D15A12"/>
              </a:solidFill>
              <a:latin typeface="Raleway"/>
              <a:ea typeface="Raleway"/>
              <a:cs typeface="Raleway"/>
              <a:sym typeface="Raleway"/>
            </a:endParaRPr>
          </a:p>
        </p:txBody>
      </p:sp>
      <p:sp>
        <p:nvSpPr>
          <p:cNvPr id="456" name="Google Shape;456;p38"/>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solidFill>
                <a:srgbClr val="D15A12"/>
              </a:solidFill>
              <a:latin typeface="Raleway"/>
              <a:ea typeface="Raleway"/>
              <a:cs typeface="Raleway"/>
              <a:sym typeface="Raleway"/>
            </a:endParaRPr>
          </a:p>
        </p:txBody>
      </p:sp>
      <p:sp>
        <p:nvSpPr>
          <p:cNvPr id="457" name="Google Shape;457;p38"/>
          <p:cNvSpPr/>
          <p:nvPr/>
        </p:nvSpPr>
        <p:spPr>
          <a:xfrm>
            <a:off x="4157550" y="36381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8" name="Google Shape;458;p38"/>
          <p:cNvPicPr preferRelativeResize="0"/>
          <p:nvPr/>
        </p:nvPicPr>
        <p:blipFill rotWithShape="1">
          <a:blip r:embed="rId3">
            <a:alphaModFix/>
          </a:blip>
          <a:srcRect b="37659" l="0" r="0" t="0"/>
          <a:stretch/>
        </p:blipFill>
        <p:spPr>
          <a:xfrm>
            <a:off x="4892650" y="955500"/>
            <a:ext cx="3543300" cy="9678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65" name="Google Shape;465;p3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66" name="Google Shape;466;p3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67" name="Google Shape;467;p3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68" name="Google Shape;468;p39"/>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69" name="Google Shape;469;p39"/>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70" name="Google Shape;470;p39"/>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9"/>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472" name="Google Shape;472;p39"/>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473" name="Google Shape;473;p39"/>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39"/>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75" name="Google Shape;475;p39"/>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476" name="Google Shape;476;p39"/>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477" name="Google Shape;477;p39"/>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78" name="Google Shape;478;p39"/>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479" name="Google Shape;479;p39"/>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39"/>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481" name="Google Shape;481;p39"/>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482" name="Google Shape;482;p39"/>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D15A12"/>
                </a:solidFill>
                <a:latin typeface="Raleway"/>
                <a:ea typeface="Raleway"/>
                <a:cs typeface="Raleway"/>
                <a:sym typeface="Raleway"/>
              </a:rPr>
              <a:t>0xE4A71</a:t>
            </a:r>
            <a:endParaRPr sz="1300">
              <a:solidFill>
                <a:srgbClr val="D15A12"/>
              </a:solidFill>
            </a:endParaRPr>
          </a:p>
        </p:txBody>
      </p:sp>
      <p:sp>
        <p:nvSpPr>
          <p:cNvPr id="483" name="Google Shape;483;p39"/>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D15A12"/>
                </a:solidFill>
                <a:latin typeface="Raleway"/>
                <a:ea typeface="Raleway"/>
                <a:cs typeface="Raleway"/>
                <a:sym typeface="Raleway"/>
              </a:rPr>
              <a:t>0xE4A75</a:t>
            </a:r>
            <a:endParaRPr sz="1300">
              <a:solidFill>
                <a:srgbClr val="D15A12"/>
              </a:solidFill>
            </a:endParaRPr>
          </a:p>
        </p:txBody>
      </p:sp>
      <p:sp>
        <p:nvSpPr>
          <p:cNvPr id="484" name="Google Shape;484;p39"/>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485" name="Google Shape;485;p39"/>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
        <p:nvSpPr>
          <p:cNvPr id="486" name="Google Shape;486;p39"/>
          <p:cNvSpPr/>
          <p:nvPr/>
        </p:nvSpPr>
        <p:spPr>
          <a:xfrm>
            <a:off x="4157550" y="40191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 name="Google Shape;487;p39"/>
          <p:cNvPicPr preferRelativeResize="0"/>
          <p:nvPr/>
        </p:nvPicPr>
        <p:blipFill rotWithShape="1">
          <a:blip r:embed="rId3">
            <a:alphaModFix/>
          </a:blip>
          <a:srcRect b="37659" l="0" r="0" t="0"/>
          <a:stretch/>
        </p:blipFill>
        <p:spPr>
          <a:xfrm>
            <a:off x="4892650" y="955500"/>
            <a:ext cx="3543300" cy="9678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94" name="Google Shape;494;p4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95" name="Google Shape;495;p4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96" name="Google Shape;496;p40"/>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t>
            </a:r>
            <a:r>
              <a:rPr b="1" lang="en" sz="3488">
                <a:solidFill>
                  <a:srgbClr val="D15A12"/>
                </a:solidFill>
                <a:latin typeface="Comic Sans MS"/>
                <a:ea typeface="Comic Sans MS"/>
                <a:cs typeface="Comic Sans MS"/>
                <a:sym typeface="Comic Sans MS"/>
              </a:rPr>
              <a:t>Variable passing by </a:t>
            </a:r>
            <a:r>
              <a:rPr b="1" lang="en" sz="3488">
                <a:solidFill>
                  <a:srgbClr val="434343"/>
                </a:solidFill>
                <a:latin typeface="Comic Sans MS"/>
                <a:ea typeface="Comic Sans MS"/>
                <a:cs typeface="Comic Sans MS"/>
                <a:sym typeface="Comic Sans MS"/>
              </a:rPr>
              <a:t>Reference</a:t>
            </a:r>
            <a:endParaRPr b="1" sz="3488">
              <a:solidFill>
                <a:srgbClr val="434343"/>
              </a:solidFill>
              <a:latin typeface="Comic Sans MS"/>
              <a:ea typeface="Comic Sans MS"/>
              <a:cs typeface="Comic Sans MS"/>
              <a:sym typeface="Comic Sans MS"/>
            </a:endParaRPr>
          </a:p>
        </p:txBody>
      </p:sp>
      <p:sp>
        <p:nvSpPr>
          <p:cNvPr id="497" name="Google Shape;497;p40"/>
          <p:cNvSpPr txBox="1"/>
          <p:nvPr/>
        </p:nvSpPr>
        <p:spPr>
          <a:xfrm>
            <a:off x="0" y="3062550"/>
            <a:ext cx="4087200" cy="1802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void</a:t>
            </a:r>
            <a:r>
              <a:rPr b="1" lang="en" sz="1350">
                <a:solidFill>
                  <a:schemeClr val="dk1"/>
                </a:solidFill>
                <a:highlight>
                  <a:srgbClr val="FFFFFF"/>
                </a:highlight>
                <a:latin typeface="Courier New"/>
                <a:ea typeface="Courier New"/>
                <a:cs typeface="Courier New"/>
                <a:sym typeface="Courier New"/>
              </a:rPr>
              <a:t> swapped(</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num1,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&amp;</a:t>
            </a:r>
            <a:r>
              <a:rPr b="1" lang="en" sz="1350">
                <a:solidFill>
                  <a:schemeClr val="dk1"/>
                </a:solidFill>
                <a:highlight>
                  <a:srgbClr val="FFFFFF"/>
                </a:highlight>
                <a:latin typeface="Courier New"/>
                <a:ea typeface="Courier New"/>
                <a:cs typeface="Courier New"/>
                <a:sym typeface="Courier New"/>
              </a:rPr>
              <a:t>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temp = num1;</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num1 = num2;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num2 = temp;</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98" name="Google Shape;498;p40"/>
          <p:cNvSpPr txBox="1"/>
          <p:nvPr/>
        </p:nvSpPr>
        <p:spPr>
          <a:xfrm>
            <a:off x="4210975" y="2801100"/>
            <a:ext cx="4932900" cy="20844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main()</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chemeClr val="dk1"/>
                </a:solidFill>
                <a:highlight>
                  <a:srgbClr val="FFFFFF"/>
                </a:highlight>
                <a:latin typeface="Courier New"/>
                <a:ea typeface="Courier New"/>
                <a:cs typeface="Courier New"/>
                <a:sym typeface="Courier New"/>
              </a:rPr>
              <a:t> number1 = </a:t>
            </a:r>
            <a:r>
              <a:rPr b="1" lang="en" sz="1350">
                <a:solidFill>
                  <a:srgbClr val="098658"/>
                </a:solidFill>
                <a:highlight>
                  <a:srgbClr val="FFFFFF"/>
                </a:highlight>
                <a:latin typeface="Courier New"/>
                <a:ea typeface="Courier New"/>
                <a:cs typeface="Courier New"/>
                <a:sym typeface="Courier New"/>
              </a:rPr>
              <a:t>6</a:t>
            </a:r>
            <a:r>
              <a:rPr b="1" lang="en" sz="1350">
                <a:solidFill>
                  <a:schemeClr val="dk1"/>
                </a:solidFill>
                <a:highlight>
                  <a:srgbClr val="FFFFFF"/>
                </a:highlight>
                <a:latin typeface="Courier New"/>
                <a:ea typeface="Courier New"/>
                <a:cs typeface="Courier New"/>
                <a:sym typeface="Courier New"/>
              </a:rPr>
              <a:t>, number2 = </a:t>
            </a:r>
            <a:r>
              <a:rPr b="1" lang="en" sz="1350">
                <a:solidFill>
                  <a:srgbClr val="098658"/>
                </a:solidFill>
                <a:highlight>
                  <a:srgbClr val="FFFFFF"/>
                </a:highlight>
                <a:latin typeface="Courier New"/>
                <a:ea typeface="Courier New"/>
                <a:cs typeface="Courier New"/>
                <a:sym typeface="Courier New"/>
              </a:rPr>
              <a:t>7</a:t>
            </a: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 &lt;&lt; endl;</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swapped(number1,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cout &lt;&lt; number1 &lt;&lt; </a:t>
            </a:r>
            <a:r>
              <a:rPr b="1" lang="en" sz="1350">
                <a:solidFill>
                  <a:srgbClr val="A31515"/>
                </a:solidFill>
                <a:highlight>
                  <a:srgbClr val="FFFFFF"/>
                </a:highlight>
                <a:latin typeface="Courier New"/>
                <a:ea typeface="Courier New"/>
                <a:cs typeface="Courier New"/>
                <a:sym typeface="Courier New"/>
              </a:rPr>
              <a:t>" "</a:t>
            </a:r>
            <a:r>
              <a:rPr b="1" lang="en" sz="1350">
                <a:solidFill>
                  <a:schemeClr val="dk1"/>
                </a:solidFill>
                <a:highlight>
                  <a:srgbClr val="FFFFFF"/>
                </a:highlight>
                <a:latin typeface="Courier New"/>
                <a:ea typeface="Courier New"/>
                <a:cs typeface="Courier New"/>
                <a:sym typeface="Courier New"/>
              </a:rPr>
              <a:t> &lt;&lt; number2;</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a:t>
            </a:r>
            <a:endParaRPr b="1" sz="1350">
              <a:solidFill>
                <a:schemeClr val="dk1"/>
              </a:solidFill>
              <a:highlight>
                <a:srgbClr val="FFFFFF"/>
              </a:highlight>
              <a:latin typeface="Courier New"/>
              <a:ea typeface="Courier New"/>
              <a:cs typeface="Courier New"/>
              <a:sym typeface="Courier New"/>
            </a:endParaRPr>
          </a:p>
        </p:txBody>
      </p:sp>
      <p:sp>
        <p:nvSpPr>
          <p:cNvPr id="499" name="Google Shape;499;p40"/>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0"/>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501" name="Google Shape;501;p40"/>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6</a:t>
            </a:r>
            <a:endParaRPr b="1" sz="1700">
              <a:solidFill>
                <a:srgbClr val="D15A12"/>
              </a:solidFill>
              <a:latin typeface="Comic Sans MS"/>
              <a:ea typeface="Comic Sans MS"/>
              <a:cs typeface="Comic Sans MS"/>
              <a:sym typeface="Comic Sans MS"/>
            </a:endParaRPr>
          </a:p>
        </p:txBody>
      </p:sp>
      <p:sp>
        <p:nvSpPr>
          <p:cNvPr id="502" name="Google Shape;502;p40"/>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40"/>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504" name="Google Shape;504;p40"/>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505" name="Google Shape;505;p40"/>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506" name="Google Shape;506;p40"/>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507" name="Google Shape;507;p40"/>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508" name="Google Shape;508;p40"/>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40"/>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510" name="Google Shape;510;p40"/>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511" name="Google Shape;511;p40"/>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512" name="Google Shape;512;p40"/>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rgbClr val="D15A12"/>
              </a:solidFill>
            </a:endParaRPr>
          </a:p>
        </p:txBody>
      </p:sp>
      <p:sp>
        <p:nvSpPr>
          <p:cNvPr id="513" name="Google Shape;513;p40"/>
          <p:cNvSpPr/>
          <p:nvPr/>
        </p:nvSpPr>
        <p:spPr>
          <a:xfrm>
            <a:off x="4157550" y="4247775"/>
            <a:ext cx="480900" cy="280800"/>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4" name="Google Shape;514;p40"/>
          <p:cNvPicPr preferRelativeResize="0"/>
          <p:nvPr/>
        </p:nvPicPr>
        <p:blipFill rotWithShape="1">
          <a:blip r:embed="rId3">
            <a:alphaModFix/>
          </a:blip>
          <a:srcRect b="0" l="0" r="0" t="0"/>
          <a:stretch/>
        </p:blipFill>
        <p:spPr>
          <a:xfrm>
            <a:off x="4892650" y="955500"/>
            <a:ext cx="3543300" cy="1552525"/>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21" name="Google Shape;521;p4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22" name="Google Shape;522;p4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23" name="Google Shape;523;p4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03</a:t>
            </a:r>
            <a:endParaRPr b="1" sz="3600">
              <a:solidFill>
                <a:srgbClr val="434343"/>
              </a:solidFill>
              <a:latin typeface="Comic Sans MS"/>
              <a:ea typeface="Comic Sans MS"/>
              <a:cs typeface="Comic Sans MS"/>
              <a:sym typeface="Comic Sans MS"/>
            </a:endParaRPr>
          </a:p>
        </p:txBody>
      </p:sp>
      <p:sp>
        <p:nvSpPr>
          <p:cNvPr id="524" name="Google Shape;524;p41"/>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Now, suppose your room </a:t>
            </a:r>
            <a:r>
              <a:rPr b="1" lang="en" sz="2400">
                <a:solidFill>
                  <a:srgbClr val="D15A12"/>
                </a:solidFill>
                <a:latin typeface="Comic Sans MS"/>
                <a:ea typeface="Comic Sans MS"/>
                <a:cs typeface="Comic Sans MS"/>
                <a:sym typeface="Comic Sans MS"/>
              </a:rPr>
              <a:t>AC</a:t>
            </a:r>
            <a:r>
              <a:rPr b="1" lang="en" sz="2400">
                <a:solidFill>
                  <a:srgbClr val="434343"/>
                </a:solidFill>
                <a:latin typeface="Comic Sans MS"/>
                <a:ea typeface="Comic Sans MS"/>
                <a:cs typeface="Comic Sans MS"/>
                <a:sym typeface="Comic Sans MS"/>
              </a:rPr>
              <a:t> breaks down and it is not working.</a:t>
            </a:r>
            <a:endParaRPr b="1" sz="2400">
              <a:solidFill>
                <a:srgbClr val="434343"/>
              </a:solidFill>
              <a:latin typeface="Comic Sans MS"/>
              <a:ea typeface="Comic Sans MS"/>
              <a:cs typeface="Comic Sans MS"/>
              <a:sym typeface="Comic Sans MS"/>
            </a:endParaRPr>
          </a:p>
        </p:txBody>
      </p:sp>
      <p:pic>
        <p:nvPicPr>
          <p:cNvPr id="525" name="Google Shape;525;p41"/>
          <p:cNvPicPr preferRelativeResize="0"/>
          <p:nvPr/>
        </p:nvPicPr>
        <p:blipFill>
          <a:blip r:embed="rId3">
            <a:alphaModFix/>
          </a:blip>
          <a:stretch>
            <a:fillRect/>
          </a:stretch>
        </p:blipFill>
        <p:spPr>
          <a:xfrm>
            <a:off x="3020013" y="2181300"/>
            <a:ext cx="3103962" cy="268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32" name="Google Shape;532;p4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33" name="Google Shape;533;p4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34" name="Google Shape;534;p4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03</a:t>
            </a:r>
            <a:endParaRPr b="1" sz="3600">
              <a:solidFill>
                <a:srgbClr val="434343"/>
              </a:solidFill>
              <a:latin typeface="Comic Sans MS"/>
              <a:ea typeface="Comic Sans MS"/>
              <a:cs typeface="Comic Sans MS"/>
              <a:sym typeface="Comic Sans MS"/>
            </a:endParaRPr>
          </a:p>
        </p:txBody>
      </p:sp>
      <p:sp>
        <p:nvSpPr>
          <p:cNvPr id="535" name="Google Shape;535;p42"/>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Since it is a bigger item, therefore you do not take your </a:t>
            </a:r>
            <a:r>
              <a:rPr b="1" lang="en" sz="2400">
                <a:solidFill>
                  <a:srgbClr val="D15A12"/>
                </a:solidFill>
                <a:latin typeface="Comic Sans MS"/>
                <a:ea typeface="Comic Sans MS"/>
                <a:cs typeface="Comic Sans MS"/>
                <a:sym typeface="Comic Sans MS"/>
              </a:rPr>
              <a:t>AC</a:t>
            </a:r>
            <a:r>
              <a:rPr b="1" lang="en" sz="2400">
                <a:solidFill>
                  <a:srgbClr val="434343"/>
                </a:solidFill>
                <a:latin typeface="Comic Sans MS"/>
                <a:ea typeface="Comic Sans MS"/>
                <a:cs typeface="Comic Sans MS"/>
                <a:sym typeface="Comic Sans MS"/>
              </a:rPr>
              <a:t> to the Electrician.</a:t>
            </a:r>
            <a:endParaRPr b="1" sz="2400">
              <a:solidFill>
                <a:srgbClr val="434343"/>
              </a:solidFill>
              <a:latin typeface="Comic Sans MS"/>
              <a:ea typeface="Comic Sans MS"/>
              <a:cs typeface="Comic Sans MS"/>
              <a:sym typeface="Comic Sans MS"/>
            </a:endParaRPr>
          </a:p>
        </p:txBody>
      </p:sp>
      <p:pic>
        <p:nvPicPr>
          <p:cNvPr id="536" name="Google Shape;536;p42"/>
          <p:cNvPicPr preferRelativeResize="0"/>
          <p:nvPr/>
        </p:nvPicPr>
        <p:blipFill>
          <a:blip r:embed="rId3">
            <a:alphaModFix/>
          </a:blip>
          <a:stretch>
            <a:fillRect/>
          </a:stretch>
        </p:blipFill>
        <p:spPr>
          <a:xfrm>
            <a:off x="3020013" y="2181300"/>
            <a:ext cx="3103962" cy="268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43" name="Google Shape;543;p4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44" name="Google Shape;544;p4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45" name="Google Shape;545;p4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Real life Scenario 03</a:t>
            </a:r>
            <a:endParaRPr b="1" sz="3600">
              <a:solidFill>
                <a:srgbClr val="434343"/>
              </a:solidFill>
              <a:latin typeface="Comic Sans MS"/>
              <a:ea typeface="Comic Sans MS"/>
              <a:cs typeface="Comic Sans MS"/>
              <a:sym typeface="Comic Sans MS"/>
            </a:endParaRPr>
          </a:p>
        </p:txBody>
      </p:sp>
      <p:sp>
        <p:nvSpPr>
          <p:cNvPr id="546" name="Google Shape;546;p4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You call the electrician and tell him the </a:t>
            </a:r>
            <a:r>
              <a:rPr b="1" lang="en" sz="2400">
                <a:solidFill>
                  <a:srgbClr val="D15A12"/>
                </a:solidFill>
                <a:latin typeface="Comic Sans MS"/>
                <a:ea typeface="Comic Sans MS"/>
                <a:cs typeface="Comic Sans MS"/>
                <a:sym typeface="Comic Sans MS"/>
              </a:rPr>
              <a:t>address of your house</a:t>
            </a:r>
            <a:r>
              <a:rPr b="1" lang="en" sz="2400">
                <a:solidFill>
                  <a:srgbClr val="434343"/>
                </a:solidFill>
                <a:latin typeface="Comic Sans MS"/>
                <a:ea typeface="Comic Sans MS"/>
                <a:cs typeface="Comic Sans MS"/>
                <a:sym typeface="Comic Sans MS"/>
              </a:rPr>
              <a:t> so he can come and repair your AC. </a:t>
            </a:r>
            <a:endParaRPr b="1" sz="2400">
              <a:solidFill>
                <a:srgbClr val="434343"/>
              </a:solidFill>
              <a:latin typeface="Comic Sans MS"/>
              <a:ea typeface="Comic Sans MS"/>
              <a:cs typeface="Comic Sans MS"/>
              <a:sym typeface="Comic Sans MS"/>
            </a:endParaRPr>
          </a:p>
        </p:txBody>
      </p:sp>
      <p:pic>
        <p:nvPicPr>
          <p:cNvPr id="547" name="Google Shape;547;p43"/>
          <p:cNvPicPr preferRelativeResize="0"/>
          <p:nvPr/>
        </p:nvPicPr>
        <p:blipFill>
          <a:blip r:embed="rId3">
            <a:alphaModFix/>
          </a:blip>
          <a:stretch>
            <a:fillRect/>
          </a:stretch>
        </p:blipFill>
        <p:spPr>
          <a:xfrm>
            <a:off x="3020013" y="2181300"/>
            <a:ext cx="3103962" cy="268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000"/>
                                        <p:tgtEl>
                                          <p:spTgt spid="5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54" name="Google Shape;554;p4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55" name="Google Shape;555;p4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56" name="Google Shape;556;p44"/>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In C++</a:t>
            </a:r>
            <a:endParaRPr b="1" sz="3600">
              <a:solidFill>
                <a:srgbClr val="434343"/>
              </a:solidFill>
              <a:latin typeface="Comic Sans MS"/>
              <a:ea typeface="Comic Sans MS"/>
              <a:cs typeface="Comic Sans MS"/>
              <a:sym typeface="Comic Sans MS"/>
            </a:endParaRPr>
          </a:p>
        </p:txBody>
      </p:sp>
      <p:sp>
        <p:nvSpPr>
          <p:cNvPr id="557" name="Google Shape;557;p44"/>
          <p:cNvSpPr txBox="1"/>
          <p:nvPr/>
        </p:nvSpPr>
        <p:spPr>
          <a:xfrm>
            <a:off x="375500" y="945450"/>
            <a:ext cx="8342700" cy="18231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Since, in C++, </a:t>
            </a:r>
            <a:r>
              <a:rPr b="1" lang="en" sz="2400">
                <a:solidFill>
                  <a:srgbClr val="D15A12"/>
                </a:solidFill>
                <a:latin typeface="Comic Sans MS"/>
                <a:ea typeface="Comic Sans MS"/>
                <a:cs typeface="Comic Sans MS"/>
                <a:sym typeface="Comic Sans MS"/>
              </a:rPr>
              <a:t>arrays</a:t>
            </a:r>
            <a:r>
              <a:rPr b="1" lang="en" sz="2400">
                <a:solidFill>
                  <a:srgbClr val="434343"/>
                </a:solidFill>
                <a:latin typeface="Comic Sans MS"/>
                <a:ea typeface="Comic Sans MS"/>
                <a:cs typeface="Comic Sans MS"/>
                <a:sym typeface="Comic Sans MS"/>
              </a:rPr>
              <a:t> take large memory space and they are difficult to pass to the functions therefore we only pass their address i.e. we pass them </a:t>
            </a:r>
            <a:r>
              <a:rPr b="1" lang="en" sz="2400">
                <a:solidFill>
                  <a:srgbClr val="D15A12"/>
                </a:solidFill>
                <a:latin typeface="Comic Sans MS"/>
                <a:ea typeface="Comic Sans MS"/>
                <a:cs typeface="Comic Sans MS"/>
                <a:sym typeface="Comic Sans MS"/>
              </a:rPr>
              <a:t>by Reference</a:t>
            </a:r>
            <a:r>
              <a:rPr b="1" lang="en" sz="2400">
                <a:solidFill>
                  <a:srgbClr val="434343"/>
                </a:solidFill>
                <a:latin typeface="Comic Sans MS"/>
                <a:ea typeface="Comic Sans MS"/>
                <a:cs typeface="Comic Sans MS"/>
                <a:sym typeface="Comic Sans MS"/>
              </a:rPr>
              <a:t>. </a:t>
            </a:r>
            <a:endParaRPr b="1" sz="2400">
              <a:solidFill>
                <a:srgbClr val="434343"/>
              </a:solidFill>
              <a:latin typeface="Comic Sans MS"/>
              <a:ea typeface="Comic Sans MS"/>
              <a:cs typeface="Comic Sans MS"/>
              <a:sym typeface="Comic Sans MS"/>
            </a:endParaRPr>
          </a:p>
        </p:txBody>
      </p:sp>
      <p:graphicFrame>
        <p:nvGraphicFramePr>
          <p:cNvPr id="558" name="Google Shape;558;p44"/>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559" name="Google Shape;559;p44"/>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60" name="Google Shape;560;p44"/>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561" name="Google Shape;561;p44"/>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562" name="Google Shape;562;p44"/>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563" name="Google Shape;563;p44"/>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564" name="Google Shape;564;p44"/>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71" name="Google Shape;571;p4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72" name="Google Shape;572;p4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73" name="Google Shape;573;p4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574" name="Google Shape;574;p45"/>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Let’s see first what happens if we just </a:t>
            </a:r>
            <a:r>
              <a:rPr b="1" lang="en" sz="2400">
                <a:solidFill>
                  <a:srgbClr val="D15A12"/>
                </a:solidFill>
                <a:latin typeface="Comic Sans MS"/>
                <a:ea typeface="Comic Sans MS"/>
                <a:cs typeface="Comic Sans MS"/>
                <a:sym typeface="Comic Sans MS"/>
              </a:rPr>
              <a:t>cout</a:t>
            </a:r>
            <a:r>
              <a:rPr b="1" lang="en" sz="2400">
                <a:solidFill>
                  <a:srgbClr val="434343"/>
                </a:solidFill>
                <a:latin typeface="Comic Sans MS"/>
                <a:ea typeface="Comic Sans MS"/>
                <a:cs typeface="Comic Sans MS"/>
                <a:sym typeface="Comic Sans MS"/>
              </a:rPr>
              <a:t> the name of the array.</a:t>
            </a:r>
            <a:endParaRPr b="1" sz="2400">
              <a:solidFill>
                <a:srgbClr val="434343"/>
              </a:solidFill>
              <a:latin typeface="Comic Sans MS"/>
              <a:ea typeface="Comic Sans MS"/>
              <a:cs typeface="Comic Sans MS"/>
              <a:sym typeface="Comic Sans MS"/>
            </a:endParaRPr>
          </a:p>
        </p:txBody>
      </p:sp>
      <p:sp>
        <p:nvSpPr>
          <p:cNvPr id="575" name="Google Shape;575;p45"/>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num;</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576" name="Google Shape;576;p45"/>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577" name="Google Shape;577;p45"/>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78" name="Google Shape;578;p45"/>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579" name="Google Shape;579;p45"/>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580" name="Google Shape;580;p45"/>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581" name="Google Shape;581;p45"/>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582" name="Google Shape;582;p45"/>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89" name="Google Shape;589;p4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90" name="Google Shape;590;p4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91" name="Google Shape;591;p4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592" name="Google Shape;592;p46"/>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Let’s see first what happens if we just </a:t>
            </a:r>
            <a:r>
              <a:rPr b="1" lang="en" sz="2400">
                <a:solidFill>
                  <a:srgbClr val="D15A12"/>
                </a:solidFill>
                <a:latin typeface="Comic Sans MS"/>
                <a:ea typeface="Comic Sans MS"/>
                <a:cs typeface="Comic Sans MS"/>
                <a:sym typeface="Comic Sans MS"/>
              </a:rPr>
              <a:t>cout</a:t>
            </a:r>
            <a:r>
              <a:rPr b="1" lang="en" sz="2400">
                <a:solidFill>
                  <a:srgbClr val="434343"/>
                </a:solidFill>
                <a:latin typeface="Comic Sans MS"/>
                <a:ea typeface="Comic Sans MS"/>
                <a:cs typeface="Comic Sans MS"/>
                <a:sym typeface="Comic Sans MS"/>
              </a:rPr>
              <a:t> the name of the array.</a:t>
            </a:r>
            <a:endParaRPr b="1" sz="2400">
              <a:solidFill>
                <a:srgbClr val="434343"/>
              </a:solidFill>
              <a:latin typeface="Comic Sans MS"/>
              <a:ea typeface="Comic Sans MS"/>
              <a:cs typeface="Comic Sans MS"/>
              <a:sym typeface="Comic Sans MS"/>
            </a:endParaRPr>
          </a:p>
        </p:txBody>
      </p:sp>
      <p:sp>
        <p:nvSpPr>
          <p:cNvPr id="593" name="Google Shape;593;p46"/>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num;</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594" name="Google Shape;594;p46"/>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595" name="Google Shape;595;p46"/>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96" name="Google Shape;596;p46"/>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597" name="Google Shape;597;p46"/>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598" name="Google Shape;598;p46"/>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599" name="Google Shape;599;p46"/>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00" name="Google Shape;600;p46"/>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pic>
        <p:nvPicPr>
          <p:cNvPr id="601" name="Google Shape;601;p46"/>
          <p:cNvPicPr preferRelativeResize="0"/>
          <p:nvPr/>
        </p:nvPicPr>
        <p:blipFill>
          <a:blip r:embed="rId3">
            <a:alphaModFix/>
          </a:blip>
          <a:stretch>
            <a:fillRect/>
          </a:stretch>
        </p:blipFill>
        <p:spPr>
          <a:xfrm>
            <a:off x="5067300" y="2038950"/>
            <a:ext cx="3810000" cy="135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10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4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08" name="Google Shape;608;p4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09" name="Google Shape;609;p4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10" name="Google Shape;610;p4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11" name="Google Shape;611;p47"/>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It means if we just write the </a:t>
            </a:r>
            <a:r>
              <a:rPr b="1" lang="en" sz="2400">
                <a:solidFill>
                  <a:srgbClr val="D15A12"/>
                </a:solidFill>
                <a:latin typeface="Comic Sans MS"/>
                <a:ea typeface="Comic Sans MS"/>
                <a:cs typeface="Comic Sans MS"/>
                <a:sym typeface="Comic Sans MS"/>
              </a:rPr>
              <a:t>name of the array</a:t>
            </a:r>
            <a:r>
              <a:rPr b="1" lang="en" sz="2400">
                <a:solidFill>
                  <a:srgbClr val="434343"/>
                </a:solidFill>
                <a:latin typeface="Comic Sans MS"/>
                <a:ea typeface="Comic Sans MS"/>
                <a:cs typeface="Comic Sans MS"/>
                <a:sym typeface="Comic Sans MS"/>
              </a:rPr>
              <a:t> then we get the </a:t>
            </a:r>
            <a:r>
              <a:rPr b="1" lang="en" sz="2400">
                <a:solidFill>
                  <a:srgbClr val="D15A12"/>
                </a:solidFill>
                <a:latin typeface="Comic Sans MS"/>
                <a:ea typeface="Comic Sans MS"/>
                <a:cs typeface="Comic Sans MS"/>
                <a:sym typeface="Comic Sans MS"/>
              </a:rPr>
              <a:t>starting address</a:t>
            </a:r>
            <a:r>
              <a:rPr b="1" lang="en" sz="2400">
                <a:solidFill>
                  <a:srgbClr val="434343"/>
                </a:solidFill>
                <a:latin typeface="Comic Sans MS"/>
                <a:ea typeface="Comic Sans MS"/>
                <a:cs typeface="Comic Sans MS"/>
                <a:sym typeface="Comic Sans MS"/>
              </a:rPr>
              <a:t> of the array.</a:t>
            </a:r>
            <a:endParaRPr b="1" sz="2400">
              <a:solidFill>
                <a:srgbClr val="434343"/>
              </a:solidFill>
              <a:latin typeface="Comic Sans MS"/>
              <a:ea typeface="Comic Sans MS"/>
              <a:cs typeface="Comic Sans MS"/>
              <a:sym typeface="Comic Sans MS"/>
            </a:endParaRPr>
          </a:p>
        </p:txBody>
      </p:sp>
      <p:sp>
        <p:nvSpPr>
          <p:cNvPr id="612" name="Google Shape;612;p47"/>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num;</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13" name="Google Shape;613;p47"/>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14" name="Google Shape;614;p47"/>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15" name="Google Shape;615;p47"/>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16" name="Google Shape;616;p47"/>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17" name="Google Shape;617;p47"/>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18" name="Google Shape;618;p47"/>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19" name="Google Shape;619;p47"/>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pic>
        <p:nvPicPr>
          <p:cNvPr id="620" name="Google Shape;620;p47"/>
          <p:cNvPicPr preferRelativeResize="0"/>
          <p:nvPr/>
        </p:nvPicPr>
        <p:blipFill>
          <a:blip r:embed="rId3">
            <a:alphaModFix/>
          </a:blip>
          <a:stretch>
            <a:fillRect/>
          </a:stretch>
        </p:blipFill>
        <p:spPr>
          <a:xfrm>
            <a:off x="5067300" y="2038950"/>
            <a:ext cx="3810000" cy="135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27" name="Google Shape;627;p4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28" name="Google Shape;628;p4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29" name="Google Shape;629;p48"/>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30" name="Google Shape;630;p48"/>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Now, lets print this array after passing to </a:t>
            </a:r>
            <a:r>
              <a:rPr b="1" lang="en" sz="2400">
                <a:solidFill>
                  <a:srgbClr val="D15A12"/>
                </a:solidFill>
                <a:latin typeface="Comic Sans MS"/>
                <a:ea typeface="Comic Sans MS"/>
                <a:cs typeface="Comic Sans MS"/>
                <a:sym typeface="Comic Sans MS"/>
              </a:rPr>
              <a:t>printArray</a:t>
            </a:r>
            <a:r>
              <a:rPr b="1" lang="en" sz="2400">
                <a:solidFill>
                  <a:srgbClr val="434343"/>
                </a:solidFill>
                <a:latin typeface="Comic Sans MS"/>
                <a:ea typeface="Comic Sans MS"/>
                <a:cs typeface="Comic Sans MS"/>
                <a:sym typeface="Comic Sans MS"/>
              </a:rPr>
              <a:t>(int arr[], int size) function.</a:t>
            </a:r>
            <a:endParaRPr b="1" sz="2400">
              <a:solidFill>
                <a:srgbClr val="434343"/>
              </a:solidFill>
              <a:latin typeface="Comic Sans MS"/>
              <a:ea typeface="Comic Sans MS"/>
              <a:cs typeface="Comic Sans MS"/>
              <a:sym typeface="Comic Sans MS"/>
            </a:endParaRPr>
          </a:p>
        </p:txBody>
      </p:sp>
      <p:sp>
        <p:nvSpPr>
          <p:cNvPr id="631" name="Google Shape;631;p48"/>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32" name="Google Shape;632;p48"/>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33" name="Google Shape;633;p48"/>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34" name="Google Shape;634;p48"/>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35" name="Google Shape;635;p48"/>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36" name="Google Shape;636;p48"/>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37" name="Google Shape;637;p48"/>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38" name="Google Shape;638;p48"/>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639" name="Google Shape;639;p48"/>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46" name="Google Shape;646;p4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47" name="Google Shape;647;p4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48" name="Google Shape;648;p49"/>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49" name="Google Shape;649;p49"/>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We just passed the </a:t>
            </a:r>
            <a:r>
              <a:rPr b="1" lang="en" sz="2400">
                <a:solidFill>
                  <a:srgbClr val="D15A12"/>
                </a:solidFill>
                <a:latin typeface="Comic Sans MS"/>
                <a:ea typeface="Comic Sans MS"/>
                <a:cs typeface="Comic Sans MS"/>
                <a:sym typeface="Comic Sans MS"/>
              </a:rPr>
              <a:t>starting address</a:t>
            </a:r>
            <a:r>
              <a:rPr b="1" lang="en" sz="2400">
                <a:solidFill>
                  <a:srgbClr val="434343"/>
                </a:solidFill>
                <a:latin typeface="Comic Sans MS"/>
                <a:ea typeface="Comic Sans MS"/>
                <a:cs typeface="Comic Sans MS"/>
                <a:sym typeface="Comic Sans MS"/>
              </a:rPr>
              <a:t> of the array to the function instead of passing the complete array.</a:t>
            </a:r>
            <a:endParaRPr b="1" sz="2400">
              <a:solidFill>
                <a:srgbClr val="434343"/>
              </a:solidFill>
              <a:latin typeface="Comic Sans MS"/>
              <a:ea typeface="Comic Sans MS"/>
              <a:cs typeface="Comic Sans MS"/>
              <a:sym typeface="Comic Sans MS"/>
            </a:endParaRPr>
          </a:p>
        </p:txBody>
      </p:sp>
      <p:sp>
        <p:nvSpPr>
          <p:cNvPr id="650" name="Google Shape;650;p49"/>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51" name="Google Shape;651;p49"/>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52" name="Google Shape;652;p49"/>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53" name="Google Shape;653;p49"/>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54" name="Google Shape;654;p49"/>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55" name="Google Shape;655;p49"/>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56" name="Google Shape;656;p49"/>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57" name="Google Shape;657;p49"/>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658" name="Google Shape;658;p49"/>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5" name="Google Shape;665;p5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66" name="Google Shape;666;p5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67" name="Google Shape;667;p50"/>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68" name="Google Shape;668;p50"/>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We have passed the size of the array to the function in a separate variable so that we know how much memory we have can access</a:t>
            </a:r>
            <a:endParaRPr b="1" sz="2400">
              <a:solidFill>
                <a:srgbClr val="434343"/>
              </a:solidFill>
              <a:latin typeface="Comic Sans MS"/>
              <a:ea typeface="Comic Sans MS"/>
              <a:cs typeface="Comic Sans MS"/>
              <a:sym typeface="Comic Sans MS"/>
            </a:endParaRPr>
          </a:p>
        </p:txBody>
      </p:sp>
      <p:sp>
        <p:nvSpPr>
          <p:cNvPr id="669" name="Google Shape;669;p50"/>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670" name="Google Shape;670;p50"/>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71" name="Google Shape;671;p50"/>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72" name="Google Shape;672;p50"/>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73" name="Google Shape;673;p50"/>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74" name="Google Shape;674;p50"/>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75" name="Google Shape;675;p50"/>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76" name="Google Shape;676;p50"/>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677" name="Google Shape;677;p50"/>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84" name="Google Shape;684;p5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85" name="Google Shape;685;p5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86" name="Google Shape;686;p51"/>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687" name="Google Shape;687;p51"/>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If we change something in the array (in the function), its gets changed in the </a:t>
            </a:r>
            <a:r>
              <a:rPr b="1" lang="en" sz="2400">
                <a:solidFill>
                  <a:srgbClr val="D15A12"/>
                </a:solidFill>
                <a:latin typeface="Comic Sans MS"/>
                <a:ea typeface="Comic Sans MS"/>
                <a:cs typeface="Comic Sans MS"/>
                <a:sym typeface="Comic Sans MS"/>
              </a:rPr>
              <a:t>main</a:t>
            </a:r>
            <a:r>
              <a:rPr b="1" lang="en" sz="2400">
                <a:solidFill>
                  <a:srgbClr val="434343"/>
                </a:solidFill>
                <a:latin typeface="Comic Sans MS"/>
                <a:ea typeface="Comic Sans MS"/>
                <a:cs typeface="Comic Sans MS"/>
                <a:sym typeface="Comic Sans MS"/>
              </a:rPr>
              <a:t> function as well.</a:t>
            </a:r>
            <a:endParaRPr b="1" sz="2400">
              <a:solidFill>
                <a:srgbClr val="434343"/>
              </a:solidFill>
              <a:latin typeface="Comic Sans MS"/>
              <a:ea typeface="Comic Sans MS"/>
              <a:cs typeface="Comic Sans MS"/>
              <a:sym typeface="Comic Sans MS"/>
            </a:endParaRPr>
          </a:p>
        </p:txBody>
      </p:sp>
      <p:graphicFrame>
        <p:nvGraphicFramePr>
          <p:cNvPr id="688" name="Google Shape;688;p51"/>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689" name="Google Shape;689;p51"/>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90" name="Google Shape;690;p51"/>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691" name="Google Shape;691;p51"/>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692" name="Google Shape;692;p51"/>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693" name="Google Shape;693;p51"/>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694" name="Google Shape;694;p51"/>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01" name="Google Shape;701;p5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02" name="Google Shape;702;p5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03" name="Google Shape;703;p52"/>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04" name="Google Shape;704;p52"/>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If we change something in the array (in the function), its gets changed in the </a:t>
            </a:r>
            <a:r>
              <a:rPr b="1" lang="en" sz="2400">
                <a:solidFill>
                  <a:srgbClr val="D15A12"/>
                </a:solidFill>
                <a:latin typeface="Comic Sans MS"/>
                <a:ea typeface="Comic Sans MS"/>
                <a:cs typeface="Comic Sans MS"/>
                <a:sym typeface="Comic Sans MS"/>
              </a:rPr>
              <a:t>main</a:t>
            </a:r>
            <a:r>
              <a:rPr b="1" lang="en" sz="2400">
                <a:solidFill>
                  <a:srgbClr val="434343"/>
                </a:solidFill>
                <a:latin typeface="Comic Sans MS"/>
                <a:ea typeface="Comic Sans MS"/>
                <a:cs typeface="Comic Sans MS"/>
                <a:sym typeface="Comic Sans MS"/>
              </a:rPr>
              <a:t> function as well.</a:t>
            </a:r>
            <a:endParaRPr b="1" sz="2400">
              <a:solidFill>
                <a:srgbClr val="434343"/>
              </a:solidFill>
              <a:latin typeface="Comic Sans MS"/>
              <a:ea typeface="Comic Sans MS"/>
              <a:cs typeface="Comic Sans MS"/>
              <a:sym typeface="Comic Sans MS"/>
            </a:endParaRPr>
          </a:p>
        </p:txBody>
      </p:sp>
      <p:sp>
        <p:nvSpPr>
          <p:cNvPr id="705" name="Google Shape;705;p52"/>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changeArray(num,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706" name="Google Shape;706;p52"/>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6</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07" name="Google Shape;707;p52"/>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08" name="Google Shape;708;p52"/>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09" name="Google Shape;709;p52"/>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10" name="Google Shape;710;p52"/>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11" name="Google Shape;711;p52"/>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12" name="Google Shape;712;p52"/>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13" name="Google Shape;713;p52"/>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arr[x] = </a:t>
            </a:r>
            <a:r>
              <a:rPr b="1" lang="en" sz="1250">
                <a:solidFill>
                  <a:srgbClr val="A31515"/>
                </a:solidFill>
                <a:highlight>
                  <a:srgbClr val="FFFFFF"/>
                </a:highlight>
                <a:latin typeface="Courier New"/>
                <a:ea typeface="Courier New"/>
                <a:cs typeface="Courier New"/>
                <a:sym typeface="Courier New"/>
              </a:rPr>
              <a:t>x</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20" name="Google Shape;720;p5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21" name="Google Shape;721;p5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22" name="Google Shape;722;p53"/>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23" name="Google Shape;723;p53"/>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If we change something in the array (in the function), its gets changed in the </a:t>
            </a:r>
            <a:r>
              <a:rPr b="1" lang="en" sz="2400">
                <a:solidFill>
                  <a:srgbClr val="D15A12"/>
                </a:solidFill>
                <a:latin typeface="Comic Sans MS"/>
                <a:ea typeface="Comic Sans MS"/>
                <a:cs typeface="Comic Sans MS"/>
                <a:sym typeface="Comic Sans MS"/>
              </a:rPr>
              <a:t>main</a:t>
            </a:r>
            <a:r>
              <a:rPr b="1" lang="en" sz="2400">
                <a:solidFill>
                  <a:srgbClr val="434343"/>
                </a:solidFill>
                <a:latin typeface="Comic Sans MS"/>
                <a:ea typeface="Comic Sans MS"/>
                <a:cs typeface="Comic Sans MS"/>
                <a:sym typeface="Comic Sans MS"/>
              </a:rPr>
              <a:t> function as well.</a:t>
            </a:r>
            <a:endParaRPr b="1" sz="2400">
              <a:solidFill>
                <a:srgbClr val="434343"/>
              </a:solidFill>
              <a:latin typeface="Comic Sans MS"/>
              <a:ea typeface="Comic Sans MS"/>
              <a:cs typeface="Comic Sans MS"/>
              <a:sym typeface="Comic Sans MS"/>
            </a:endParaRPr>
          </a:p>
        </p:txBody>
      </p:sp>
      <p:sp>
        <p:nvSpPr>
          <p:cNvPr id="724" name="Google Shape;724;p53"/>
          <p:cNvSpPr txBox="1"/>
          <p:nvPr/>
        </p:nvSpPr>
        <p:spPr>
          <a:xfrm>
            <a:off x="457200" y="1981200"/>
            <a:ext cx="39243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5</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6</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changeArray(num, 5);</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graphicFrame>
        <p:nvGraphicFramePr>
          <p:cNvPr id="725" name="Google Shape;725;p53"/>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0</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2</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3</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26" name="Google Shape;726;p53"/>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27" name="Google Shape;727;p53"/>
          <p:cNvSpPr txBox="1"/>
          <p:nvPr/>
        </p:nvSpPr>
        <p:spPr>
          <a:xfrm>
            <a:off x="1457400"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28" name="Google Shape;728;p53"/>
          <p:cNvSpPr txBox="1"/>
          <p:nvPr/>
        </p:nvSpPr>
        <p:spPr>
          <a:xfrm>
            <a:off x="28193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29" name="Google Shape;729;p53"/>
          <p:cNvSpPr txBox="1"/>
          <p:nvPr/>
        </p:nvSpPr>
        <p:spPr>
          <a:xfrm>
            <a:off x="42671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30" name="Google Shape;730;p53"/>
          <p:cNvSpPr txBox="1"/>
          <p:nvPr/>
        </p:nvSpPr>
        <p:spPr>
          <a:xfrm>
            <a:off x="57149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31" name="Google Shape;731;p53"/>
          <p:cNvSpPr txBox="1"/>
          <p:nvPr/>
        </p:nvSpPr>
        <p:spPr>
          <a:xfrm>
            <a:off x="7162799"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32" name="Google Shape;732;p53"/>
          <p:cNvSpPr txBox="1"/>
          <p:nvPr/>
        </p:nvSpPr>
        <p:spPr>
          <a:xfrm>
            <a:off x="4724400" y="1828800"/>
            <a:ext cx="3924300" cy="17046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chemeClr val="dk1"/>
                </a:solidFill>
                <a:highlight>
                  <a:schemeClr val="lt1"/>
                </a:highlight>
                <a:latin typeface="Courier New"/>
                <a:ea typeface="Courier New"/>
                <a:cs typeface="Courier New"/>
                <a:sym typeface="Courier New"/>
              </a:rPr>
              <a:t>arr[x] = </a:t>
            </a:r>
            <a:r>
              <a:rPr b="1" lang="en" sz="1250">
                <a:solidFill>
                  <a:srgbClr val="A31515"/>
                </a:solidFill>
                <a:highlight>
                  <a:schemeClr val="lt1"/>
                </a:highlight>
                <a:latin typeface="Courier New"/>
                <a:ea typeface="Courier New"/>
                <a:cs typeface="Courier New"/>
                <a:sym typeface="Courier New"/>
              </a:rPr>
              <a:t>x</a:t>
            </a:r>
            <a:r>
              <a:rPr b="1" lang="en" sz="1250">
                <a:solidFill>
                  <a:schemeClr val="dk1"/>
                </a:solidFill>
                <a:highlight>
                  <a:schemeClr val="lt1"/>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10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39" name="Google Shape;739;p5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40" name="Google Shape;740;p5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41" name="Google Shape;741;p54"/>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2D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42" name="Google Shape;742;p54"/>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Now, lets see how we can pass the 2D array to the function. 			</a:t>
            </a:r>
            <a:r>
              <a:rPr b="1" lang="en" sz="2400">
                <a:solidFill>
                  <a:srgbClr val="D15A12"/>
                </a:solidFill>
                <a:latin typeface="Comic Sans MS"/>
                <a:ea typeface="Comic Sans MS"/>
                <a:cs typeface="Comic Sans MS"/>
                <a:sym typeface="Comic Sans MS"/>
              </a:rPr>
              <a:t>i</a:t>
            </a:r>
            <a:r>
              <a:rPr b="1" lang="en" sz="2400">
                <a:solidFill>
                  <a:srgbClr val="D15A12"/>
                </a:solidFill>
                <a:latin typeface="Comic Sans MS"/>
                <a:ea typeface="Comic Sans MS"/>
                <a:cs typeface="Comic Sans MS"/>
                <a:sym typeface="Comic Sans MS"/>
              </a:rPr>
              <a:t>nt num[2][3]</a:t>
            </a:r>
            <a:endParaRPr b="1" sz="2400">
              <a:solidFill>
                <a:srgbClr val="D15A12"/>
              </a:solidFill>
              <a:latin typeface="Comic Sans MS"/>
              <a:ea typeface="Comic Sans MS"/>
              <a:cs typeface="Comic Sans MS"/>
              <a:sym typeface="Comic Sans MS"/>
            </a:endParaRPr>
          </a:p>
        </p:txBody>
      </p:sp>
      <p:graphicFrame>
        <p:nvGraphicFramePr>
          <p:cNvPr id="743" name="Google Shape;743;p54"/>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206500"/>
                <a:gridCol w="1206500"/>
                <a:gridCol w="1206500"/>
                <a:gridCol w="1206500"/>
                <a:gridCol w="1206500"/>
                <a:gridCol w="12065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0</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2</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3</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44" name="Google Shape;744;p54"/>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45" name="Google Shape;745;p54"/>
          <p:cNvSpPr txBox="1"/>
          <p:nvPr/>
        </p:nvSpPr>
        <p:spPr>
          <a:xfrm>
            <a:off x="1381087"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46" name="Google Shape;746;p54"/>
          <p:cNvSpPr txBox="1"/>
          <p:nvPr/>
        </p:nvSpPr>
        <p:spPr>
          <a:xfrm>
            <a:off x="2544672"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47" name="Google Shape;747;p54"/>
          <p:cNvSpPr txBox="1"/>
          <p:nvPr/>
        </p:nvSpPr>
        <p:spPr>
          <a:xfrm>
            <a:off x="3748270"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48" name="Google Shape;748;p54"/>
          <p:cNvSpPr txBox="1"/>
          <p:nvPr/>
        </p:nvSpPr>
        <p:spPr>
          <a:xfrm>
            <a:off x="4921343"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49" name="Google Shape;749;p54"/>
          <p:cNvSpPr txBox="1"/>
          <p:nvPr/>
        </p:nvSpPr>
        <p:spPr>
          <a:xfrm>
            <a:off x="6094416"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50" name="Google Shape;750;p54"/>
          <p:cNvSpPr txBox="1"/>
          <p:nvPr/>
        </p:nvSpPr>
        <p:spPr>
          <a:xfrm>
            <a:off x="7269411" y="3764611"/>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0xE4A91</a:t>
            </a:r>
            <a:endParaRPr b="1" sz="1600">
              <a:solidFill>
                <a:srgbClr val="434343"/>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1000"/>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57" name="Google Shape;757;p5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58" name="Google Shape;758;p5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59" name="Google Shape;759;p55"/>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2D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60" name="Google Shape;760;p55"/>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Now, lets see how we can pass the 2D array to the function. 			</a:t>
            </a:r>
            <a:r>
              <a:rPr b="1" lang="en" sz="2400">
                <a:solidFill>
                  <a:srgbClr val="D15A12"/>
                </a:solidFill>
                <a:latin typeface="Comic Sans MS"/>
                <a:ea typeface="Comic Sans MS"/>
                <a:cs typeface="Comic Sans MS"/>
                <a:sym typeface="Comic Sans MS"/>
              </a:rPr>
              <a:t>int num[2][3]</a:t>
            </a:r>
            <a:endParaRPr b="1" sz="2400">
              <a:solidFill>
                <a:srgbClr val="D15A12"/>
              </a:solidFill>
              <a:latin typeface="Comic Sans MS"/>
              <a:ea typeface="Comic Sans MS"/>
              <a:cs typeface="Comic Sans MS"/>
              <a:sym typeface="Comic Sans MS"/>
            </a:endParaRPr>
          </a:p>
        </p:txBody>
      </p:sp>
      <p:graphicFrame>
        <p:nvGraphicFramePr>
          <p:cNvPr id="761" name="Google Shape;761;p55"/>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206500"/>
                <a:gridCol w="1206500"/>
                <a:gridCol w="1206500"/>
                <a:gridCol w="1206500"/>
                <a:gridCol w="1206500"/>
                <a:gridCol w="12065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0</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2</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3</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62" name="Google Shape;762;p55"/>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63" name="Google Shape;763;p55"/>
          <p:cNvSpPr txBox="1"/>
          <p:nvPr/>
        </p:nvSpPr>
        <p:spPr>
          <a:xfrm>
            <a:off x="1381087"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64" name="Google Shape;764;p55"/>
          <p:cNvSpPr txBox="1"/>
          <p:nvPr/>
        </p:nvSpPr>
        <p:spPr>
          <a:xfrm>
            <a:off x="2544672"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65" name="Google Shape;765;p55"/>
          <p:cNvSpPr txBox="1"/>
          <p:nvPr/>
        </p:nvSpPr>
        <p:spPr>
          <a:xfrm>
            <a:off x="3748270"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66" name="Google Shape;766;p55"/>
          <p:cNvSpPr txBox="1"/>
          <p:nvPr/>
        </p:nvSpPr>
        <p:spPr>
          <a:xfrm>
            <a:off x="4921343"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67" name="Google Shape;767;p55"/>
          <p:cNvSpPr txBox="1"/>
          <p:nvPr/>
        </p:nvSpPr>
        <p:spPr>
          <a:xfrm>
            <a:off x="6094416"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68" name="Google Shape;768;p55"/>
          <p:cNvSpPr txBox="1"/>
          <p:nvPr/>
        </p:nvSpPr>
        <p:spPr>
          <a:xfrm>
            <a:off x="7269411" y="3764611"/>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0xE4A91</a:t>
            </a:r>
            <a:endParaRPr b="1" sz="1600">
              <a:solidFill>
                <a:srgbClr val="434343"/>
              </a:solidFill>
              <a:latin typeface="Raleway"/>
              <a:ea typeface="Raleway"/>
              <a:cs typeface="Raleway"/>
              <a:sym typeface="Raleway"/>
            </a:endParaRPr>
          </a:p>
        </p:txBody>
      </p:sp>
      <p:sp>
        <p:nvSpPr>
          <p:cNvPr id="769" name="Google Shape;769;p55"/>
          <p:cNvSpPr txBox="1"/>
          <p:nvPr/>
        </p:nvSpPr>
        <p:spPr>
          <a:xfrm>
            <a:off x="457200" y="2118564"/>
            <a:ext cx="3924300" cy="13392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chemeClr val="lt1"/>
                </a:highlight>
                <a:latin typeface="Courier New"/>
                <a:ea typeface="Courier New"/>
                <a:cs typeface="Courier New"/>
                <a:sym typeface="Courier New"/>
              </a:rPr>
              <a:t>2</a:t>
            </a:r>
            <a:r>
              <a:rPr b="1" lang="en" sz="1250">
                <a:solidFill>
                  <a:schemeClr val="dk1"/>
                </a:solidFill>
                <a:highlight>
                  <a:srgbClr val="FFFFFF"/>
                </a:highlight>
                <a:latin typeface="Courier New"/>
                <a:ea typeface="Courier New"/>
                <a:cs typeface="Courier New"/>
                <a:sym typeface="Courier New"/>
              </a:rPr>
              <a:t>][</a:t>
            </a:r>
            <a:r>
              <a:rPr b="1" lang="en" sz="1250">
                <a:solidFill>
                  <a:srgbClr val="098658"/>
                </a:solidFill>
                <a:highlight>
                  <a:srgbClr val="FFFFFF"/>
                </a:highlight>
                <a:latin typeface="Courier New"/>
                <a:ea typeface="Courier New"/>
                <a:cs typeface="Courier New"/>
                <a:sym typeface="Courier New"/>
              </a:rPr>
              <a:t>3</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2</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3</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4, 5</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2);</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sp>
        <p:nvSpPr>
          <p:cNvPr id="770" name="Google Shape;770;p55"/>
          <p:cNvSpPr txBox="1"/>
          <p:nvPr/>
        </p:nvSpPr>
        <p:spPr>
          <a:xfrm>
            <a:off x="4724400" y="1966164"/>
            <a:ext cx="3924300" cy="17238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arr[][3],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chemeClr val="lt1"/>
                </a:highlight>
                <a:latin typeface="Courier New"/>
                <a:ea typeface="Courier New"/>
                <a:cs typeface="Courier New"/>
                <a:sym typeface="Courier New"/>
              </a:rPr>
              <a:t>for</a:t>
            </a:r>
            <a:r>
              <a:rPr b="1" lang="en" sz="1250">
                <a:solidFill>
                  <a:schemeClr val="dk1"/>
                </a:solidFill>
                <a:highlight>
                  <a:schemeClr val="lt1"/>
                </a:highlight>
                <a:latin typeface="Courier New"/>
                <a:ea typeface="Courier New"/>
                <a:cs typeface="Courier New"/>
                <a:sym typeface="Courier New"/>
              </a:rPr>
              <a:t>(</a:t>
            </a:r>
            <a:r>
              <a:rPr b="1" lang="en" sz="1250">
                <a:solidFill>
                  <a:srgbClr val="0000FF"/>
                </a:solidFill>
                <a:highlight>
                  <a:schemeClr val="lt1"/>
                </a:highlight>
                <a:latin typeface="Courier New"/>
                <a:ea typeface="Courier New"/>
                <a:cs typeface="Courier New"/>
                <a:sym typeface="Courier New"/>
              </a:rPr>
              <a:t>int</a:t>
            </a:r>
            <a:r>
              <a:rPr b="1" lang="en" sz="1250">
                <a:solidFill>
                  <a:schemeClr val="dk1"/>
                </a:solidFill>
                <a:highlight>
                  <a:schemeClr val="lt1"/>
                </a:highlight>
                <a:latin typeface="Courier New"/>
                <a:ea typeface="Courier New"/>
                <a:cs typeface="Courier New"/>
                <a:sym typeface="Courier New"/>
              </a:rPr>
              <a:t> y = </a:t>
            </a:r>
            <a:r>
              <a:rPr b="1" lang="en" sz="1250">
                <a:solidFill>
                  <a:srgbClr val="098658"/>
                </a:solidFill>
                <a:highlight>
                  <a:schemeClr val="lt1"/>
                </a:highlight>
                <a:latin typeface="Courier New"/>
                <a:ea typeface="Courier New"/>
                <a:cs typeface="Courier New"/>
                <a:sym typeface="Courier New"/>
              </a:rPr>
              <a:t>0</a:t>
            </a:r>
            <a:r>
              <a:rPr b="1" lang="en" sz="1250">
                <a:solidFill>
                  <a:schemeClr val="dk1"/>
                </a:solidFill>
                <a:highlight>
                  <a:schemeClr val="lt1"/>
                </a:highlight>
                <a:latin typeface="Courier New"/>
                <a:ea typeface="Courier New"/>
                <a:cs typeface="Courier New"/>
                <a:sym typeface="Courier New"/>
              </a:rPr>
              <a:t>; y &lt; </a:t>
            </a:r>
            <a:r>
              <a:rPr b="1" lang="en" sz="1250">
                <a:solidFill>
                  <a:srgbClr val="098658"/>
                </a:solidFill>
                <a:highlight>
                  <a:schemeClr val="lt1"/>
                </a:highlight>
                <a:latin typeface="Courier New"/>
                <a:ea typeface="Courier New"/>
                <a:cs typeface="Courier New"/>
                <a:sym typeface="Courier New"/>
              </a:rPr>
              <a:t>3</a:t>
            </a:r>
            <a:r>
              <a:rPr b="1" lang="en" sz="1250">
                <a:solidFill>
                  <a:schemeClr val="dk1"/>
                </a:solidFill>
                <a:highlight>
                  <a:schemeClr val="lt1"/>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arr[x][y]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10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5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77" name="Google Shape;777;p5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78" name="Google Shape;778;p5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79" name="Google Shape;779;p56"/>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2D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780" name="Google Shape;780;p56"/>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We must tell the size of the column in function parameter.</a:t>
            </a:r>
            <a:endParaRPr b="1" sz="2400">
              <a:solidFill>
                <a:srgbClr val="D15A12"/>
              </a:solidFill>
              <a:latin typeface="Comic Sans MS"/>
              <a:ea typeface="Comic Sans MS"/>
              <a:cs typeface="Comic Sans MS"/>
              <a:sym typeface="Comic Sans MS"/>
            </a:endParaRPr>
          </a:p>
        </p:txBody>
      </p:sp>
      <p:graphicFrame>
        <p:nvGraphicFramePr>
          <p:cNvPr id="781" name="Google Shape;781;p56"/>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206500"/>
                <a:gridCol w="1206500"/>
                <a:gridCol w="1206500"/>
                <a:gridCol w="1206500"/>
                <a:gridCol w="1206500"/>
                <a:gridCol w="12065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0</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2</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3</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782" name="Google Shape;782;p56"/>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783" name="Google Shape;783;p56"/>
          <p:cNvSpPr txBox="1"/>
          <p:nvPr/>
        </p:nvSpPr>
        <p:spPr>
          <a:xfrm>
            <a:off x="1381087"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784" name="Google Shape;784;p56"/>
          <p:cNvSpPr txBox="1"/>
          <p:nvPr/>
        </p:nvSpPr>
        <p:spPr>
          <a:xfrm>
            <a:off x="2544672"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785" name="Google Shape;785;p56"/>
          <p:cNvSpPr txBox="1"/>
          <p:nvPr/>
        </p:nvSpPr>
        <p:spPr>
          <a:xfrm>
            <a:off x="3748270"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786" name="Google Shape;786;p56"/>
          <p:cNvSpPr txBox="1"/>
          <p:nvPr/>
        </p:nvSpPr>
        <p:spPr>
          <a:xfrm>
            <a:off x="4921343"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787" name="Google Shape;787;p56"/>
          <p:cNvSpPr txBox="1"/>
          <p:nvPr/>
        </p:nvSpPr>
        <p:spPr>
          <a:xfrm>
            <a:off x="6094416"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788" name="Google Shape;788;p56"/>
          <p:cNvSpPr txBox="1"/>
          <p:nvPr/>
        </p:nvSpPr>
        <p:spPr>
          <a:xfrm>
            <a:off x="7269411" y="3764611"/>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0xE4A91</a:t>
            </a:r>
            <a:endParaRPr b="1" sz="1600">
              <a:solidFill>
                <a:srgbClr val="434343"/>
              </a:solidFill>
              <a:latin typeface="Raleway"/>
              <a:ea typeface="Raleway"/>
              <a:cs typeface="Raleway"/>
              <a:sym typeface="Raleway"/>
            </a:endParaRPr>
          </a:p>
        </p:txBody>
      </p:sp>
      <p:sp>
        <p:nvSpPr>
          <p:cNvPr id="789" name="Google Shape;789;p56"/>
          <p:cNvSpPr txBox="1"/>
          <p:nvPr/>
        </p:nvSpPr>
        <p:spPr>
          <a:xfrm>
            <a:off x="457200" y="2118564"/>
            <a:ext cx="3924300" cy="13392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chemeClr val="lt1"/>
                </a:highlight>
                <a:latin typeface="Courier New"/>
                <a:ea typeface="Courier New"/>
                <a:cs typeface="Courier New"/>
                <a:sym typeface="Courier New"/>
              </a:rPr>
              <a:t>2</a:t>
            </a:r>
            <a:r>
              <a:rPr b="1" lang="en" sz="1250">
                <a:solidFill>
                  <a:schemeClr val="dk1"/>
                </a:solidFill>
                <a:highlight>
                  <a:srgbClr val="FFFFFF"/>
                </a:highlight>
                <a:latin typeface="Courier New"/>
                <a:ea typeface="Courier New"/>
                <a:cs typeface="Courier New"/>
                <a:sym typeface="Courier New"/>
              </a:rPr>
              <a:t>][</a:t>
            </a:r>
            <a:r>
              <a:rPr b="1" lang="en" sz="1250">
                <a:solidFill>
                  <a:srgbClr val="098658"/>
                </a:solidFill>
                <a:highlight>
                  <a:srgbClr val="FFFFFF"/>
                </a:highlight>
                <a:latin typeface="Courier New"/>
                <a:ea typeface="Courier New"/>
                <a:cs typeface="Courier New"/>
                <a:sym typeface="Courier New"/>
              </a:rPr>
              <a:t>3</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2</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3</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4, 5</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2);</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sp>
        <p:nvSpPr>
          <p:cNvPr id="790" name="Google Shape;790;p56"/>
          <p:cNvSpPr txBox="1"/>
          <p:nvPr/>
        </p:nvSpPr>
        <p:spPr>
          <a:xfrm>
            <a:off x="4724400" y="1966164"/>
            <a:ext cx="3924300" cy="17238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arr[][3],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chemeClr val="lt1"/>
                </a:highlight>
                <a:latin typeface="Courier New"/>
                <a:ea typeface="Courier New"/>
                <a:cs typeface="Courier New"/>
                <a:sym typeface="Courier New"/>
              </a:rPr>
              <a:t>for</a:t>
            </a:r>
            <a:r>
              <a:rPr b="1" lang="en" sz="1250">
                <a:solidFill>
                  <a:schemeClr val="dk1"/>
                </a:solidFill>
                <a:highlight>
                  <a:schemeClr val="lt1"/>
                </a:highlight>
                <a:latin typeface="Courier New"/>
                <a:ea typeface="Courier New"/>
                <a:cs typeface="Courier New"/>
                <a:sym typeface="Courier New"/>
              </a:rPr>
              <a:t>(</a:t>
            </a:r>
            <a:r>
              <a:rPr b="1" lang="en" sz="1250">
                <a:solidFill>
                  <a:srgbClr val="0000FF"/>
                </a:solidFill>
                <a:highlight>
                  <a:schemeClr val="lt1"/>
                </a:highlight>
                <a:latin typeface="Courier New"/>
                <a:ea typeface="Courier New"/>
                <a:cs typeface="Courier New"/>
                <a:sym typeface="Courier New"/>
              </a:rPr>
              <a:t>int</a:t>
            </a:r>
            <a:r>
              <a:rPr b="1" lang="en" sz="1250">
                <a:solidFill>
                  <a:schemeClr val="dk1"/>
                </a:solidFill>
                <a:highlight>
                  <a:schemeClr val="lt1"/>
                </a:highlight>
                <a:latin typeface="Courier New"/>
                <a:ea typeface="Courier New"/>
                <a:cs typeface="Courier New"/>
                <a:sym typeface="Courier New"/>
              </a:rPr>
              <a:t> y = </a:t>
            </a:r>
            <a:r>
              <a:rPr b="1" lang="en" sz="1250">
                <a:solidFill>
                  <a:srgbClr val="098658"/>
                </a:solidFill>
                <a:highlight>
                  <a:schemeClr val="lt1"/>
                </a:highlight>
                <a:latin typeface="Courier New"/>
                <a:ea typeface="Courier New"/>
                <a:cs typeface="Courier New"/>
                <a:sym typeface="Courier New"/>
              </a:rPr>
              <a:t>0</a:t>
            </a:r>
            <a:r>
              <a:rPr b="1" lang="en" sz="1250">
                <a:solidFill>
                  <a:schemeClr val="dk1"/>
                </a:solidFill>
                <a:highlight>
                  <a:schemeClr val="lt1"/>
                </a:highlight>
                <a:latin typeface="Courier New"/>
                <a:ea typeface="Courier New"/>
                <a:cs typeface="Courier New"/>
                <a:sym typeface="Courier New"/>
              </a:rPr>
              <a:t>; y &lt; </a:t>
            </a:r>
            <a:r>
              <a:rPr b="1" lang="en" sz="1250">
                <a:solidFill>
                  <a:srgbClr val="098658"/>
                </a:solidFill>
                <a:highlight>
                  <a:schemeClr val="lt1"/>
                </a:highlight>
                <a:latin typeface="Courier New"/>
                <a:ea typeface="Courier New"/>
                <a:cs typeface="Courier New"/>
                <a:sym typeface="Courier New"/>
              </a:rPr>
              <a:t>3</a:t>
            </a:r>
            <a:r>
              <a:rPr b="1" lang="en" sz="1250">
                <a:solidFill>
                  <a:schemeClr val="dk1"/>
                </a:solidFill>
                <a:highlight>
                  <a:schemeClr val="lt1"/>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arr[x][y]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1000"/>
                                        <p:tgtEl>
                                          <p:spTgt spid="7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5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97" name="Google Shape;797;p5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798" name="Google Shape;798;p5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799" name="Google Shape;799;p57"/>
          <p:cNvSpPr txBox="1"/>
          <p:nvPr>
            <p:ph type="title"/>
          </p:nvPr>
        </p:nvSpPr>
        <p:spPr>
          <a:xfrm>
            <a:off x="0" y="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2D Arrays: </a:t>
            </a:r>
            <a:r>
              <a:rPr b="1" lang="en" sz="3600">
                <a:solidFill>
                  <a:srgbClr val="434343"/>
                </a:solidFill>
                <a:latin typeface="Comic Sans MS"/>
                <a:ea typeface="Comic Sans MS"/>
                <a:cs typeface="Comic Sans MS"/>
                <a:sym typeface="Comic Sans MS"/>
              </a:rPr>
              <a:t>Passing by Reference</a:t>
            </a:r>
            <a:endParaRPr b="1" sz="3600">
              <a:solidFill>
                <a:srgbClr val="D15A12"/>
              </a:solidFill>
              <a:latin typeface="Comic Sans MS"/>
              <a:ea typeface="Comic Sans MS"/>
              <a:cs typeface="Comic Sans MS"/>
              <a:sym typeface="Comic Sans MS"/>
            </a:endParaRPr>
          </a:p>
        </p:txBody>
      </p:sp>
      <p:sp>
        <p:nvSpPr>
          <p:cNvPr id="800" name="Google Shape;800;p57"/>
          <p:cNvSpPr txBox="1"/>
          <p:nvPr/>
        </p:nvSpPr>
        <p:spPr>
          <a:xfrm>
            <a:off x="375500" y="945450"/>
            <a:ext cx="8342700" cy="101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2400">
                <a:solidFill>
                  <a:srgbClr val="434343"/>
                </a:solidFill>
                <a:latin typeface="Comic Sans MS"/>
                <a:ea typeface="Comic Sans MS"/>
                <a:cs typeface="Comic Sans MS"/>
                <a:sym typeface="Comic Sans MS"/>
              </a:rPr>
              <a:t>So </a:t>
            </a:r>
            <a:r>
              <a:rPr b="1" lang="en" sz="2400">
                <a:solidFill>
                  <a:srgbClr val="434343"/>
                </a:solidFill>
                <a:latin typeface="Comic Sans MS"/>
                <a:ea typeface="Comic Sans MS"/>
                <a:cs typeface="Comic Sans MS"/>
                <a:sym typeface="Comic Sans MS"/>
              </a:rPr>
              <a:t>that</a:t>
            </a:r>
            <a:r>
              <a:rPr b="1" lang="en" sz="2400">
                <a:solidFill>
                  <a:srgbClr val="434343"/>
                </a:solidFill>
                <a:latin typeface="Comic Sans MS"/>
                <a:ea typeface="Comic Sans MS"/>
                <a:cs typeface="Comic Sans MS"/>
                <a:sym typeface="Comic Sans MS"/>
              </a:rPr>
              <a:t> compiler knows from where the 2nd row starts.</a:t>
            </a:r>
            <a:endParaRPr b="1" sz="2400">
              <a:solidFill>
                <a:srgbClr val="D15A12"/>
              </a:solidFill>
              <a:latin typeface="Comic Sans MS"/>
              <a:ea typeface="Comic Sans MS"/>
              <a:cs typeface="Comic Sans MS"/>
              <a:sym typeface="Comic Sans MS"/>
            </a:endParaRPr>
          </a:p>
        </p:txBody>
      </p:sp>
      <p:graphicFrame>
        <p:nvGraphicFramePr>
          <p:cNvPr id="801" name="Google Shape;801;p57"/>
          <p:cNvGraphicFramePr/>
          <p:nvPr/>
        </p:nvGraphicFramePr>
        <p:xfrm>
          <a:off x="1181100" y="4133850"/>
          <a:ext cx="3000000" cy="3000000"/>
        </p:xfrm>
        <a:graphic>
          <a:graphicData uri="http://schemas.openxmlformats.org/drawingml/2006/table">
            <a:tbl>
              <a:tblPr>
                <a:noFill/>
                <a:tableStyleId>{6DC9DAA1-5D5F-4AF1-9951-D345C4DB1958}</a:tableStyleId>
              </a:tblPr>
              <a:tblGrid>
                <a:gridCol w="1206500"/>
                <a:gridCol w="1206500"/>
                <a:gridCol w="1206500"/>
                <a:gridCol w="1206500"/>
                <a:gridCol w="1206500"/>
                <a:gridCol w="1206500"/>
              </a:tblGrid>
              <a:tr h="381000">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0</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1</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2</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3</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4</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800">
                          <a:solidFill>
                            <a:schemeClr val="lt1"/>
                          </a:solidFill>
                          <a:latin typeface="Comic Sans MS"/>
                          <a:ea typeface="Comic Sans MS"/>
                          <a:cs typeface="Comic Sans MS"/>
                          <a:sym typeface="Comic Sans MS"/>
                        </a:rPr>
                        <a:t>5</a:t>
                      </a:r>
                      <a:endParaRPr b="1" sz="1800">
                        <a:solidFill>
                          <a:schemeClr val="lt1"/>
                        </a:solidFill>
                        <a:latin typeface="Comic Sans MS"/>
                        <a:ea typeface="Comic Sans MS"/>
                        <a:cs typeface="Comic Sans MS"/>
                        <a:sym typeface="Comic Sans MS"/>
                      </a:endParaRPr>
                    </a:p>
                  </a:txBody>
                  <a:tcPr marT="91425" marB="91425" marR="91425" marL="91425">
                    <a:lnL cap="flat" cmpd="sng" w="9525">
                      <a:solidFill>
                        <a:srgbClr val="404040"/>
                      </a:solidFill>
                      <a:prstDash val="solid"/>
                      <a:round/>
                      <a:headEnd len="sm" w="sm" type="none"/>
                      <a:tailEnd len="sm" w="sm" type="none"/>
                    </a:lnL>
                    <a:lnR cap="flat" cmpd="sng" w="9525">
                      <a:solidFill>
                        <a:srgbClr val="404040"/>
                      </a:solidFill>
                      <a:prstDash val="solid"/>
                      <a:round/>
                      <a:headEnd len="sm" w="sm" type="none"/>
                      <a:tailEnd len="sm" w="sm" type="none"/>
                    </a:lnR>
                    <a:lnT cap="flat" cmpd="sng" w="9525">
                      <a:solidFill>
                        <a:srgbClr val="404040"/>
                      </a:solidFill>
                      <a:prstDash val="solid"/>
                      <a:round/>
                      <a:headEnd len="sm" w="sm" type="none"/>
                      <a:tailEnd len="sm" w="sm" type="none"/>
                    </a:lnT>
                    <a:lnB cap="flat" cmpd="sng" w="9525">
                      <a:solidFill>
                        <a:srgbClr val="404040"/>
                      </a:solidFill>
                      <a:prstDash val="solid"/>
                      <a:round/>
                      <a:headEnd len="sm" w="sm" type="none"/>
                      <a:tailEnd len="sm" w="sm" type="none"/>
                    </a:lnB>
                    <a:solidFill>
                      <a:srgbClr val="D15A12"/>
                    </a:solidFill>
                  </a:tcPr>
                </a:tc>
              </a:tr>
            </a:tbl>
          </a:graphicData>
        </a:graphic>
      </p:graphicFrame>
      <p:sp>
        <p:nvSpPr>
          <p:cNvPr id="802" name="Google Shape;802;p57"/>
          <p:cNvSpPr txBox="1"/>
          <p:nvPr/>
        </p:nvSpPr>
        <p:spPr>
          <a:xfrm>
            <a:off x="228599" y="42220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803" name="Google Shape;803;p57"/>
          <p:cNvSpPr txBox="1"/>
          <p:nvPr/>
        </p:nvSpPr>
        <p:spPr>
          <a:xfrm>
            <a:off x="1381087" y="3764850"/>
            <a:ext cx="1005000" cy="28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0xE4A71</a:t>
            </a:r>
            <a:endParaRPr b="1" sz="1600">
              <a:solidFill>
                <a:srgbClr val="434343"/>
              </a:solidFill>
              <a:latin typeface="Raleway"/>
              <a:ea typeface="Raleway"/>
              <a:cs typeface="Raleway"/>
              <a:sym typeface="Raleway"/>
            </a:endParaRPr>
          </a:p>
        </p:txBody>
      </p:sp>
      <p:sp>
        <p:nvSpPr>
          <p:cNvPr id="804" name="Google Shape;804;p57"/>
          <p:cNvSpPr txBox="1"/>
          <p:nvPr/>
        </p:nvSpPr>
        <p:spPr>
          <a:xfrm>
            <a:off x="2544672"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0xE4A75</a:t>
            </a:r>
            <a:endParaRPr/>
          </a:p>
        </p:txBody>
      </p:sp>
      <p:sp>
        <p:nvSpPr>
          <p:cNvPr id="805" name="Google Shape;805;p57"/>
          <p:cNvSpPr txBox="1"/>
          <p:nvPr/>
        </p:nvSpPr>
        <p:spPr>
          <a:xfrm>
            <a:off x="3748270"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0xE4A79</a:t>
            </a:r>
            <a:endParaRPr b="1" sz="1600">
              <a:solidFill>
                <a:srgbClr val="434343"/>
              </a:solidFill>
              <a:latin typeface="Raleway"/>
              <a:ea typeface="Raleway"/>
              <a:cs typeface="Raleway"/>
              <a:sym typeface="Raleway"/>
            </a:endParaRPr>
          </a:p>
        </p:txBody>
      </p:sp>
      <p:sp>
        <p:nvSpPr>
          <p:cNvPr id="806" name="Google Shape;806;p57"/>
          <p:cNvSpPr txBox="1"/>
          <p:nvPr/>
        </p:nvSpPr>
        <p:spPr>
          <a:xfrm>
            <a:off x="4921343"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0xE4A83</a:t>
            </a:r>
            <a:endParaRPr b="1" sz="1600">
              <a:solidFill>
                <a:srgbClr val="434343"/>
              </a:solidFill>
              <a:latin typeface="Raleway"/>
              <a:ea typeface="Raleway"/>
              <a:cs typeface="Raleway"/>
              <a:sym typeface="Raleway"/>
            </a:endParaRPr>
          </a:p>
        </p:txBody>
      </p:sp>
      <p:sp>
        <p:nvSpPr>
          <p:cNvPr id="807" name="Google Shape;807;p57"/>
          <p:cNvSpPr txBox="1"/>
          <p:nvPr/>
        </p:nvSpPr>
        <p:spPr>
          <a:xfrm>
            <a:off x="6094416" y="3764838"/>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0xE4A87</a:t>
            </a:r>
            <a:endParaRPr b="1" sz="1600">
              <a:solidFill>
                <a:srgbClr val="434343"/>
              </a:solidFill>
              <a:latin typeface="Raleway"/>
              <a:ea typeface="Raleway"/>
              <a:cs typeface="Raleway"/>
              <a:sym typeface="Raleway"/>
            </a:endParaRPr>
          </a:p>
        </p:txBody>
      </p:sp>
      <p:sp>
        <p:nvSpPr>
          <p:cNvPr id="808" name="Google Shape;808;p57"/>
          <p:cNvSpPr txBox="1"/>
          <p:nvPr/>
        </p:nvSpPr>
        <p:spPr>
          <a:xfrm>
            <a:off x="7269411" y="3764611"/>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0xE4A91</a:t>
            </a:r>
            <a:endParaRPr b="1" sz="1600">
              <a:solidFill>
                <a:srgbClr val="434343"/>
              </a:solidFill>
              <a:latin typeface="Raleway"/>
              <a:ea typeface="Raleway"/>
              <a:cs typeface="Raleway"/>
              <a:sym typeface="Raleway"/>
            </a:endParaRPr>
          </a:p>
        </p:txBody>
      </p:sp>
      <p:sp>
        <p:nvSpPr>
          <p:cNvPr id="809" name="Google Shape;809;p57"/>
          <p:cNvSpPr txBox="1"/>
          <p:nvPr/>
        </p:nvSpPr>
        <p:spPr>
          <a:xfrm>
            <a:off x="457200" y="2118564"/>
            <a:ext cx="3924300" cy="13392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#include </a:t>
            </a:r>
            <a:r>
              <a:rPr b="1" lang="en" sz="1250">
                <a:solidFill>
                  <a:srgbClr val="A31515"/>
                </a:solidFill>
                <a:highlight>
                  <a:srgbClr val="FFFFFF"/>
                </a:highlight>
                <a:latin typeface="Courier New"/>
                <a:ea typeface="Courier New"/>
                <a:cs typeface="Courier New"/>
                <a:sym typeface="Courier New"/>
              </a:rPr>
              <a:t>&lt;iostream&gt;</a:t>
            </a:r>
            <a:endParaRPr b="1" sz="125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using</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namespace</a:t>
            </a:r>
            <a:r>
              <a:rPr b="1" lang="en" sz="1250">
                <a:solidFill>
                  <a:schemeClr val="dk1"/>
                </a:solidFill>
                <a:highlight>
                  <a:srgbClr val="FFFFFF"/>
                </a:highlight>
                <a:latin typeface="Courier New"/>
                <a:ea typeface="Courier New"/>
                <a:cs typeface="Courier New"/>
                <a:sym typeface="Courier New"/>
              </a:rPr>
              <a:t> std;</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a:t>
            </a:r>
            <a:r>
              <a:rPr b="1" lang="en" sz="1250">
                <a:solidFill>
                  <a:srgbClr val="098658"/>
                </a:solidFill>
                <a:highlight>
                  <a:schemeClr val="lt1"/>
                </a:highlight>
                <a:latin typeface="Courier New"/>
                <a:ea typeface="Courier New"/>
                <a:cs typeface="Courier New"/>
                <a:sym typeface="Courier New"/>
              </a:rPr>
              <a:t>2</a:t>
            </a:r>
            <a:r>
              <a:rPr b="1" lang="en" sz="1250">
                <a:solidFill>
                  <a:schemeClr val="dk1"/>
                </a:solidFill>
                <a:highlight>
                  <a:srgbClr val="FFFFFF"/>
                </a:highlight>
                <a:latin typeface="Courier New"/>
                <a:ea typeface="Courier New"/>
                <a:cs typeface="Courier New"/>
                <a:sym typeface="Courier New"/>
              </a:rPr>
              <a:t>][</a:t>
            </a:r>
            <a:r>
              <a:rPr b="1" lang="en" sz="1250">
                <a:solidFill>
                  <a:srgbClr val="098658"/>
                </a:solidFill>
                <a:highlight>
                  <a:srgbClr val="FFFFFF"/>
                </a:highlight>
                <a:latin typeface="Courier New"/>
                <a:ea typeface="Courier New"/>
                <a:cs typeface="Courier New"/>
                <a:sym typeface="Courier New"/>
              </a:rPr>
              <a:t>3</a:t>
            </a:r>
            <a:r>
              <a:rPr b="1" lang="en" sz="1250">
                <a:solidFill>
                  <a:schemeClr val="dk1"/>
                </a:solidFill>
                <a:highlight>
                  <a:srgbClr val="FFFFFF"/>
                </a:highlight>
                <a:latin typeface="Courier New"/>
                <a:ea typeface="Courier New"/>
                <a:cs typeface="Courier New"/>
                <a:sym typeface="Courier New"/>
              </a:rPr>
              <a:t>]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1</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2</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3</a:t>
            </a:r>
            <a:r>
              <a:rPr b="1" lang="en" sz="1250">
                <a:solidFill>
                  <a:schemeClr val="dk1"/>
                </a:solidFill>
                <a:highlight>
                  <a:srgbClr val="FFFFFF"/>
                </a:highlight>
                <a:latin typeface="Courier New"/>
                <a:ea typeface="Courier New"/>
                <a:cs typeface="Courier New"/>
                <a:sym typeface="Courier New"/>
              </a:rPr>
              <a:t>, </a:t>
            </a:r>
            <a:r>
              <a:rPr b="1" lang="en" sz="1250">
                <a:solidFill>
                  <a:srgbClr val="098658"/>
                </a:solidFill>
                <a:highlight>
                  <a:srgbClr val="FFFFFF"/>
                </a:highlight>
                <a:latin typeface="Courier New"/>
                <a:ea typeface="Courier New"/>
                <a:cs typeface="Courier New"/>
                <a:sym typeface="Courier New"/>
              </a:rPr>
              <a:t>4, 5</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printArray(num, 2);</a:t>
            </a:r>
            <a:endParaRPr b="1" sz="14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p:txBody>
      </p:sp>
      <p:sp>
        <p:nvSpPr>
          <p:cNvPr id="810" name="Google Shape;810;p57"/>
          <p:cNvSpPr txBox="1"/>
          <p:nvPr/>
        </p:nvSpPr>
        <p:spPr>
          <a:xfrm>
            <a:off x="4724400" y="1966164"/>
            <a:ext cx="3924300" cy="17238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printArray(</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arr[][3], int size)</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for</a:t>
            </a:r>
            <a:r>
              <a:rPr b="1" lang="en" sz="1250">
                <a:solidFill>
                  <a:schemeClr val="dk1"/>
                </a:solidFill>
                <a:highlight>
                  <a:srgbClr val="FFFFFF"/>
                </a:highlight>
                <a:latin typeface="Courier New"/>
                <a:ea typeface="Courier New"/>
                <a:cs typeface="Courier New"/>
                <a:sym typeface="Courier New"/>
              </a:rPr>
              <a:t>(</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x = </a:t>
            </a:r>
            <a:r>
              <a:rPr b="1" lang="en" sz="1250">
                <a:solidFill>
                  <a:srgbClr val="098658"/>
                </a:solidFill>
                <a:highlight>
                  <a:srgbClr val="FFFFFF"/>
                </a:highlight>
                <a:latin typeface="Courier New"/>
                <a:ea typeface="Courier New"/>
                <a:cs typeface="Courier New"/>
                <a:sym typeface="Courier New"/>
              </a:rPr>
              <a:t>0</a:t>
            </a:r>
            <a:r>
              <a:rPr b="1" lang="en" sz="1250">
                <a:solidFill>
                  <a:schemeClr val="dk1"/>
                </a:solidFill>
                <a:highlight>
                  <a:srgbClr val="FFFFFF"/>
                </a:highlight>
                <a:latin typeface="Courier New"/>
                <a:ea typeface="Courier New"/>
                <a:cs typeface="Courier New"/>
                <a:sym typeface="Courier New"/>
              </a:rPr>
              <a:t>; x &lt; </a:t>
            </a:r>
            <a:r>
              <a:rPr b="1" lang="en" sz="1250">
                <a:solidFill>
                  <a:srgbClr val="098658"/>
                </a:solidFill>
                <a:highlight>
                  <a:srgbClr val="FFFFFF"/>
                </a:highlight>
                <a:latin typeface="Courier New"/>
                <a:ea typeface="Courier New"/>
                <a:cs typeface="Courier New"/>
                <a:sym typeface="Courier New"/>
              </a:rPr>
              <a:t>size</a:t>
            </a:r>
            <a:r>
              <a:rPr b="1" lang="en" sz="1250">
                <a:solidFill>
                  <a:schemeClr val="dk1"/>
                </a:solidFill>
                <a:highlight>
                  <a:srgbClr val="FFFFFF"/>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chemeClr val="lt1"/>
                </a:highlight>
                <a:latin typeface="Courier New"/>
                <a:ea typeface="Courier New"/>
                <a:cs typeface="Courier New"/>
                <a:sym typeface="Courier New"/>
              </a:rPr>
              <a:t>for</a:t>
            </a:r>
            <a:r>
              <a:rPr b="1" lang="en" sz="1250">
                <a:solidFill>
                  <a:schemeClr val="dk1"/>
                </a:solidFill>
                <a:highlight>
                  <a:schemeClr val="lt1"/>
                </a:highlight>
                <a:latin typeface="Courier New"/>
                <a:ea typeface="Courier New"/>
                <a:cs typeface="Courier New"/>
                <a:sym typeface="Courier New"/>
              </a:rPr>
              <a:t>(</a:t>
            </a:r>
            <a:r>
              <a:rPr b="1" lang="en" sz="1250">
                <a:solidFill>
                  <a:srgbClr val="0000FF"/>
                </a:solidFill>
                <a:highlight>
                  <a:schemeClr val="lt1"/>
                </a:highlight>
                <a:latin typeface="Courier New"/>
                <a:ea typeface="Courier New"/>
                <a:cs typeface="Courier New"/>
                <a:sym typeface="Courier New"/>
              </a:rPr>
              <a:t>int</a:t>
            </a:r>
            <a:r>
              <a:rPr b="1" lang="en" sz="1250">
                <a:solidFill>
                  <a:schemeClr val="dk1"/>
                </a:solidFill>
                <a:highlight>
                  <a:schemeClr val="lt1"/>
                </a:highlight>
                <a:latin typeface="Courier New"/>
                <a:ea typeface="Courier New"/>
                <a:cs typeface="Courier New"/>
                <a:sym typeface="Courier New"/>
              </a:rPr>
              <a:t> y = </a:t>
            </a:r>
            <a:r>
              <a:rPr b="1" lang="en" sz="1250">
                <a:solidFill>
                  <a:srgbClr val="098658"/>
                </a:solidFill>
                <a:highlight>
                  <a:schemeClr val="lt1"/>
                </a:highlight>
                <a:latin typeface="Courier New"/>
                <a:ea typeface="Courier New"/>
                <a:cs typeface="Courier New"/>
                <a:sym typeface="Courier New"/>
              </a:rPr>
              <a:t>0</a:t>
            </a:r>
            <a:r>
              <a:rPr b="1" lang="en" sz="1250">
                <a:solidFill>
                  <a:schemeClr val="dk1"/>
                </a:solidFill>
                <a:highlight>
                  <a:schemeClr val="lt1"/>
                </a:highlight>
                <a:latin typeface="Courier New"/>
                <a:ea typeface="Courier New"/>
                <a:cs typeface="Courier New"/>
                <a:sym typeface="Courier New"/>
              </a:rPr>
              <a:t>; y &lt; </a:t>
            </a:r>
            <a:r>
              <a:rPr b="1" lang="en" sz="1250">
                <a:solidFill>
                  <a:srgbClr val="098658"/>
                </a:solidFill>
                <a:highlight>
                  <a:schemeClr val="lt1"/>
                </a:highlight>
                <a:latin typeface="Courier New"/>
                <a:ea typeface="Courier New"/>
                <a:cs typeface="Courier New"/>
                <a:sym typeface="Courier New"/>
              </a:rPr>
              <a:t>3</a:t>
            </a:r>
            <a:r>
              <a:rPr b="1" lang="en" sz="1250">
                <a:solidFill>
                  <a:schemeClr val="dk1"/>
                </a:solidFill>
                <a:highlight>
                  <a:schemeClr val="lt1"/>
                </a:highlight>
                <a:latin typeface="Courier New"/>
                <a:ea typeface="Courier New"/>
                <a:cs typeface="Courier New"/>
                <a:sym typeface="Courier New"/>
              </a:rPr>
              <a:t>; x++)</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arr[x][y]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rgbClr val="0000FF"/>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1000"/>
                                        <p:tgtEl>
                                          <p:spTgt spid="8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58"/>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404040"/>
                </a:solidFill>
                <a:latin typeface="Comic Sans MS"/>
                <a:ea typeface="Comic Sans MS"/>
                <a:cs typeface="Comic Sans MS"/>
                <a:sym typeface="Comic Sans MS"/>
              </a:rPr>
              <a:t>   Learning Objective</a:t>
            </a:r>
            <a:endParaRPr b="1" sz="3600">
              <a:solidFill>
                <a:srgbClr val="404040"/>
              </a:solidFill>
              <a:latin typeface="Comic Sans MS"/>
              <a:ea typeface="Comic Sans MS"/>
              <a:cs typeface="Comic Sans MS"/>
              <a:sym typeface="Comic Sans MS"/>
            </a:endParaRPr>
          </a:p>
        </p:txBody>
      </p:sp>
      <p:sp>
        <p:nvSpPr>
          <p:cNvPr id="816" name="Google Shape;816;p58"/>
          <p:cNvSpPr txBox="1"/>
          <p:nvPr>
            <p:ph idx="1" type="subTitle"/>
          </p:nvPr>
        </p:nvSpPr>
        <p:spPr>
          <a:xfrm>
            <a:off x="701875" y="1756725"/>
            <a:ext cx="6388800" cy="214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3000">
                <a:solidFill>
                  <a:srgbClr val="404040"/>
                </a:solidFill>
                <a:latin typeface="Comic Sans MS"/>
                <a:ea typeface="Comic Sans MS"/>
                <a:cs typeface="Comic Sans MS"/>
                <a:sym typeface="Comic Sans MS"/>
              </a:rPr>
              <a:t>Differentiate between passing the parameters </a:t>
            </a:r>
            <a:r>
              <a:rPr b="1" lang="en" sz="3000">
                <a:solidFill>
                  <a:srgbClr val="D15A12"/>
                </a:solidFill>
                <a:latin typeface="Comic Sans MS"/>
                <a:ea typeface="Comic Sans MS"/>
                <a:cs typeface="Comic Sans MS"/>
                <a:sym typeface="Comic Sans MS"/>
              </a:rPr>
              <a:t>by value</a:t>
            </a:r>
            <a:r>
              <a:rPr b="1" lang="en" sz="3000">
                <a:solidFill>
                  <a:srgbClr val="404040"/>
                </a:solidFill>
                <a:latin typeface="Comic Sans MS"/>
                <a:ea typeface="Comic Sans MS"/>
                <a:cs typeface="Comic Sans MS"/>
                <a:sym typeface="Comic Sans MS"/>
              </a:rPr>
              <a:t> and </a:t>
            </a:r>
            <a:r>
              <a:rPr b="1" lang="en" sz="3000">
                <a:solidFill>
                  <a:srgbClr val="D15A12"/>
                </a:solidFill>
                <a:latin typeface="Comic Sans MS"/>
                <a:ea typeface="Comic Sans MS"/>
                <a:cs typeface="Comic Sans MS"/>
                <a:sym typeface="Comic Sans MS"/>
              </a:rPr>
              <a:t>by reference</a:t>
            </a:r>
            <a:r>
              <a:rPr b="1" lang="en" sz="3000">
                <a:solidFill>
                  <a:srgbClr val="404040"/>
                </a:solidFill>
                <a:latin typeface="Comic Sans MS"/>
                <a:ea typeface="Comic Sans MS"/>
                <a:cs typeface="Comic Sans MS"/>
                <a:sym typeface="Comic Sans MS"/>
              </a:rPr>
              <a:t>.</a:t>
            </a:r>
            <a:endParaRPr b="1" sz="3000">
              <a:solidFill>
                <a:srgbClr val="404040"/>
              </a:solidFill>
              <a:latin typeface="Comic Sans MS"/>
              <a:ea typeface="Comic Sans MS"/>
              <a:cs typeface="Comic Sans MS"/>
              <a:sym typeface="Comic Sans MS"/>
            </a:endParaRPr>
          </a:p>
        </p:txBody>
      </p:sp>
      <p:pic>
        <p:nvPicPr>
          <p:cNvPr id="817" name="Google Shape;817;p58"/>
          <p:cNvPicPr preferRelativeResize="0"/>
          <p:nvPr/>
        </p:nvPicPr>
        <p:blipFill>
          <a:blip r:embed="rId3">
            <a:alphaModFix/>
          </a:blip>
          <a:stretch>
            <a:fillRect/>
          </a:stretch>
        </p:blipFill>
        <p:spPr>
          <a:xfrm>
            <a:off x="7261975" y="718825"/>
            <a:ext cx="1792300" cy="3885750"/>
          </a:xfrm>
          <a:prstGeom prst="rect">
            <a:avLst/>
          </a:prstGeom>
          <a:noFill/>
          <a:ln>
            <a:noFill/>
          </a:ln>
        </p:spPr>
      </p:pic>
      <p:cxnSp>
        <p:nvCxnSpPr>
          <p:cNvPr id="818" name="Google Shape;818;p5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819" name="Google Shape;819;p5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820" name="Google Shape;820;p5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cxnSp>
        <p:nvCxnSpPr>
          <p:cNvPr id="825" name="Google Shape;825;p59"/>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826" name="Google Shape;826;p59"/>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827" name="Google Shape;827;p5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8" name="Google Shape;828;p59"/>
          <p:cNvSpPr txBox="1"/>
          <p:nvPr>
            <p:ph type="ctrTitle"/>
          </p:nvPr>
        </p:nvSpPr>
        <p:spPr>
          <a:xfrm>
            <a:off x="0" y="0"/>
            <a:ext cx="82950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Conclusion</a:t>
            </a:r>
            <a:endParaRPr b="1" sz="3600">
              <a:solidFill>
                <a:srgbClr val="434343"/>
              </a:solidFill>
              <a:latin typeface="Comic Sans MS"/>
              <a:ea typeface="Comic Sans MS"/>
              <a:cs typeface="Comic Sans MS"/>
              <a:sym typeface="Comic Sans MS"/>
            </a:endParaRPr>
          </a:p>
        </p:txBody>
      </p:sp>
      <p:graphicFrame>
        <p:nvGraphicFramePr>
          <p:cNvPr id="829" name="Google Shape;829;p59"/>
          <p:cNvGraphicFramePr/>
          <p:nvPr/>
        </p:nvGraphicFramePr>
        <p:xfrm>
          <a:off x="375500" y="828000"/>
          <a:ext cx="3000000" cy="3000000"/>
        </p:xfrm>
        <a:graphic>
          <a:graphicData uri="http://schemas.openxmlformats.org/drawingml/2006/table">
            <a:tbl>
              <a:tblPr>
                <a:noFill/>
                <a:tableStyleId>{6DC9DAA1-5D5F-4AF1-9951-D345C4DB1958}</a:tableStyleId>
              </a:tblPr>
              <a:tblGrid>
                <a:gridCol w="4291350"/>
                <a:gridCol w="4291350"/>
              </a:tblGrid>
              <a:tr h="381000">
                <a:tc>
                  <a:txBody>
                    <a:bodyPr/>
                    <a:lstStyle/>
                    <a:p>
                      <a:pPr indent="0" lvl="0" marL="0" rtl="0" algn="ctr">
                        <a:spcBef>
                          <a:spcPts val="0"/>
                        </a:spcBef>
                        <a:spcAft>
                          <a:spcPts val="0"/>
                        </a:spcAft>
                        <a:buNone/>
                      </a:pPr>
                      <a:r>
                        <a:rPr b="1" lang="en" sz="1500">
                          <a:solidFill>
                            <a:schemeClr val="lt1"/>
                          </a:solidFill>
                          <a:latin typeface="Comic Sans MS"/>
                          <a:ea typeface="Comic Sans MS"/>
                          <a:cs typeface="Comic Sans MS"/>
                          <a:sym typeface="Comic Sans MS"/>
                        </a:rPr>
                        <a:t>Pass by Value</a:t>
                      </a:r>
                      <a:endParaRPr b="1" sz="1500">
                        <a:solidFill>
                          <a:schemeClr val="lt1"/>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15A12"/>
                    </a:solidFill>
                  </a:tcPr>
                </a:tc>
                <a:tc>
                  <a:txBody>
                    <a:bodyPr/>
                    <a:lstStyle/>
                    <a:p>
                      <a:pPr indent="0" lvl="0" marL="0" rtl="0" algn="ctr">
                        <a:spcBef>
                          <a:spcPts val="0"/>
                        </a:spcBef>
                        <a:spcAft>
                          <a:spcPts val="0"/>
                        </a:spcAft>
                        <a:buNone/>
                      </a:pPr>
                      <a:r>
                        <a:rPr b="1" lang="en" sz="1500">
                          <a:solidFill>
                            <a:schemeClr val="lt1"/>
                          </a:solidFill>
                          <a:latin typeface="Comic Sans MS"/>
                          <a:ea typeface="Comic Sans MS"/>
                          <a:cs typeface="Comic Sans MS"/>
                          <a:sym typeface="Comic Sans MS"/>
                        </a:rPr>
                        <a:t>Pass by Reference</a:t>
                      </a:r>
                      <a:endParaRPr b="1" sz="1500">
                        <a:solidFill>
                          <a:schemeClr val="lt1"/>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15A12"/>
                    </a:solidFill>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Mechanism of copying function parameter value to another variable</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Mechanism of passing the actual parameters to the function</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Changes made inside the function are not reflected in the original value</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Changes made inside the function are reflected in the original value</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Makes a copy of the actual parameter</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Address of the actual parameter passes to the function</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Function gets a copy of the actual content</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Function accesses the original variable’s content</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more memory</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less memory</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more time as it involves copying values</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rgbClr val="434343"/>
                          </a:solidFill>
                          <a:latin typeface="Comic Sans MS"/>
                          <a:ea typeface="Comic Sans MS"/>
                          <a:cs typeface="Comic Sans MS"/>
                          <a:sym typeface="Comic Sans MS"/>
                        </a:rPr>
                        <a:t>Requires a less amount of time as there is no copying</a:t>
                      </a:r>
                      <a:endParaRPr b="1" sz="1500">
                        <a:solidFill>
                          <a:srgbClr val="434343"/>
                        </a:solidFill>
                        <a:latin typeface="Comic Sans MS"/>
                        <a:ea typeface="Comic Sans MS"/>
                        <a:cs typeface="Comic Sans MS"/>
                        <a:sym typeface="Comic Sans MS"/>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60"/>
          <p:cNvSpPr txBox="1"/>
          <p:nvPr>
            <p:ph type="ctrTitle"/>
          </p:nvPr>
        </p:nvSpPr>
        <p:spPr>
          <a:xfrm>
            <a:off x="0" y="0"/>
            <a:ext cx="82296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Self </a:t>
            </a:r>
            <a:r>
              <a:rPr b="1" lang="en" sz="3600">
                <a:solidFill>
                  <a:srgbClr val="D15A12"/>
                </a:solidFill>
                <a:latin typeface="Comic Sans MS"/>
                <a:ea typeface="Comic Sans MS"/>
                <a:cs typeface="Comic Sans MS"/>
                <a:sym typeface="Comic Sans MS"/>
              </a:rPr>
              <a:t>Assessment:</a:t>
            </a:r>
            <a:endParaRPr b="1" sz="2933">
              <a:solidFill>
                <a:srgbClr val="D15A12"/>
              </a:solidFill>
              <a:latin typeface="Comic Sans MS"/>
              <a:ea typeface="Comic Sans MS"/>
              <a:cs typeface="Comic Sans MS"/>
              <a:sym typeface="Comic Sans MS"/>
            </a:endParaRPr>
          </a:p>
        </p:txBody>
      </p:sp>
      <p:cxnSp>
        <p:nvCxnSpPr>
          <p:cNvPr id="835" name="Google Shape;835;p60"/>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836" name="Google Shape;836;p60"/>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837" name="Google Shape;837;p6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8" name="Google Shape;838;p60"/>
          <p:cNvSpPr txBox="1"/>
          <p:nvPr/>
        </p:nvSpPr>
        <p:spPr>
          <a:xfrm>
            <a:off x="622675" y="1025050"/>
            <a:ext cx="6453300" cy="384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04040"/>
                </a:solidFill>
                <a:latin typeface="Calibri"/>
                <a:ea typeface="Calibri"/>
                <a:cs typeface="Calibri"/>
                <a:sym typeface="Calibri"/>
              </a:rPr>
              <a:t>1.	 What is the </a:t>
            </a:r>
            <a:r>
              <a:rPr b="1" lang="en" sz="1900">
                <a:solidFill>
                  <a:srgbClr val="D15A12"/>
                </a:solidFill>
                <a:latin typeface="Calibri"/>
                <a:ea typeface="Calibri"/>
                <a:cs typeface="Calibri"/>
                <a:sym typeface="Calibri"/>
              </a:rPr>
              <a:t>output</a:t>
            </a:r>
            <a:r>
              <a:rPr b="1" lang="en" sz="1900">
                <a:solidFill>
                  <a:srgbClr val="404040"/>
                </a:solidFill>
                <a:latin typeface="Calibri"/>
                <a:ea typeface="Calibri"/>
                <a:cs typeface="Calibri"/>
                <a:sym typeface="Calibri"/>
              </a:rPr>
              <a:t> of the following code?</a:t>
            </a:r>
            <a:endParaRPr sz="10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550">
              <a:solidFill>
                <a:srgbClr val="0000FF"/>
              </a:solidFill>
              <a:highlight>
                <a:srgbClr val="FFFFFF"/>
              </a:highlight>
              <a:latin typeface="Courier New"/>
              <a:ea typeface="Courier New"/>
              <a:cs typeface="Courier New"/>
              <a:sym typeface="Courier New"/>
            </a:endParaRPr>
          </a:p>
          <a:p>
            <a:pPr indent="0" lvl="0" marL="457200" marR="0" rtl="0" algn="l">
              <a:lnSpc>
                <a:spcPct val="115000"/>
              </a:lnSpc>
              <a:spcBef>
                <a:spcPts val="0"/>
              </a:spcBef>
              <a:spcAft>
                <a:spcPts val="0"/>
              </a:spcAft>
              <a:buNone/>
            </a:pPr>
            <a:r>
              <a:t/>
            </a:r>
            <a:endParaRPr b="1" sz="1900">
              <a:solidFill>
                <a:srgbClr val="404040"/>
              </a:solidFill>
              <a:latin typeface="Calibri"/>
              <a:ea typeface="Calibri"/>
              <a:cs typeface="Calibri"/>
              <a:sym typeface="Calibri"/>
            </a:endParaRPr>
          </a:p>
        </p:txBody>
      </p:sp>
      <p:sp>
        <p:nvSpPr>
          <p:cNvPr id="839" name="Google Shape;839;p60"/>
          <p:cNvSpPr txBox="1"/>
          <p:nvPr/>
        </p:nvSpPr>
        <p:spPr>
          <a:xfrm>
            <a:off x="204650" y="1982050"/>
            <a:ext cx="3603900" cy="19260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main()</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i = </a:t>
            </a:r>
            <a:r>
              <a:rPr b="1" lang="en" sz="1250">
                <a:solidFill>
                  <a:srgbClr val="098658"/>
                </a:solidFill>
                <a:highlight>
                  <a:srgbClr val="FFFFFF"/>
                </a:highlight>
                <a:latin typeface="Courier New"/>
                <a:ea typeface="Courier New"/>
                <a:cs typeface="Courier New"/>
                <a:sym typeface="Courier New"/>
              </a:rPr>
              <a:t>10</a:t>
            </a:r>
            <a:r>
              <a:rPr b="1" lang="en" sz="1250">
                <a:solidFill>
                  <a:schemeClr val="dk1"/>
                </a:solidFill>
                <a:highlight>
                  <a:srgbClr val="FFFFFF"/>
                </a:highlight>
                <a:latin typeface="Courier New"/>
                <a:ea typeface="Courier New"/>
                <a:cs typeface="Courier New"/>
                <a:sym typeface="Courier New"/>
              </a:rPr>
              <a:t>, j = </a:t>
            </a:r>
            <a:r>
              <a:rPr b="1" lang="en" sz="1250">
                <a:solidFill>
                  <a:srgbClr val="098658"/>
                </a:solidFill>
                <a:highlight>
                  <a:srgbClr val="FFFFFF"/>
                </a:highlight>
                <a:latin typeface="Courier New"/>
                <a:ea typeface="Courier New"/>
                <a:cs typeface="Courier New"/>
                <a:sym typeface="Courier New"/>
              </a:rPr>
              <a:t>20</a:t>
            </a: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swapThemByVal(i, j);</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i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 &lt;&lt; j &lt;&lt; endl;</a:t>
            </a:r>
            <a:endParaRPr b="1" sz="1250">
              <a:solidFill>
                <a:srgbClr val="008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swapThemByRef(i, j);</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cout &lt;&lt; i &lt;&lt; </a:t>
            </a:r>
            <a:r>
              <a:rPr b="1" lang="en" sz="1250">
                <a:solidFill>
                  <a:srgbClr val="A31515"/>
                </a:solidFill>
                <a:highlight>
                  <a:srgbClr val="FFFFFF"/>
                </a:highlight>
                <a:latin typeface="Courier New"/>
                <a:ea typeface="Courier New"/>
                <a:cs typeface="Courier New"/>
                <a:sym typeface="Courier New"/>
              </a:rPr>
              <a:t>"  "</a:t>
            </a:r>
            <a:r>
              <a:rPr b="1" lang="en" sz="1250">
                <a:solidFill>
                  <a:schemeClr val="dk1"/>
                </a:solidFill>
                <a:highlight>
                  <a:srgbClr val="FFFFFF"/>
                </a:highlight>
                <a:latin typeface="Courier New"/>
                <a:ea typeface="Courier New"/>
                <a:cs typeface="Courier New"/>
                <a:sym typeface="Courier New"/>
              </a:rPr>
              <a:t> &lt;&lt; j &lt;&lt; endl;</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600"/>
          </a:p>
        </p:txBody>
      </p:sp>
      <p:sp>
        <p:nvSpPr>
          <p:cNvPr id="840" name="Google Shape;840;p60"/>
          <p:cNvSpPr txBox="1"/>
          <p:nvPr/>
        </p:nvSpPr>
        <p:spPr>
          <a:xfrm>
            <a:off x="4343400" y="1524000"/>
            <a:ext cx="43032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swapThemByVal(</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num1,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temp = num1;</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num1 = 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num2 = temp;</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600"/>
          </a:p>
        </p:txBody>
      </p:sp>
      <p:sp>
        <p:nvSpPr>
          <p:cNvPr id="841" name="Google Shape;841;p60"/>
          <p:cNvSpPr txBox="1"/>
          <p:nvPr/>
        </p:nvSpPr>
        <p:spPr>
          <a:xfrm>
            <a:off x="4343400" y="3200400"/>
            <a:ext cx="4303200" cy="1483500"/>
          </a:xfrm>
          <a:prstGeom prst="rect">
            <a:avLst/>
          </a:prstGeom>
          <a:noFill/>
          <a:ln cap="flat" cmpd="sng" w="2857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50">
                <a:solidFill>
                  <a:srgbClr val="0000FF"/>
                </a:solidFill>
                <a:highlight>
                  <a:srgbClr val="FFFFFF"/>
                </a:highlight>
                <a:latin typeface="Courier New"/>
                <a:ea typeface="Courier New"/>
                <a:cs typeface="Courier New"/>
                <a:sym typeface="Courier New"/>
              </a:rPr>
              <a:t>void</a:t>
            </a:r>
            <a:r>
              <a:rPr b="1" lang="en" sz="1250">
                <a:solidFill>
                  <a:schemeClr val="dk1"/>
                </a:solidFill>
                <a:highlight>
                  <a:srgbClr val="FFFFFF"/>
                </a:highlight>
                <a:latin typeface="Courier New"/>
                <a:ea typeface="Courier New"/>
                <a:cs typeface="Courier New"/>
                <a:sym typeface="Courier New"/>
              </a:rPr>
              <a:t> swapThemByRef(</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&amp;</a:t>
            </a:r>
            <a:r>
              <a:rPr b="1" lang="en" sz="1250">
                <a:solidFill>
                  <a:schemeClr val="dk1"/>
                </a:solidFill>
                <a:highlight>
                  <a:srgbClr val="FFFFFF"/>
                </a:highlight>
                <a:latin typeface="Courier New"/>
                <a:ea typeface="Courier New"/>
                <a:cs typeface="Courier New"/>
                <a:sym typeface="Courier New"/>
              </a:rPr>
              <a:t>num1,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&amp;</a:t>
            </a:r>
            <a:r>
              <a:rPr b="1" lang="en" sz="1250">
                <a:solidFill>
                  <a:schemeClr val="dk1"/>
                </a:solidFill>
                <a:highlight>
                  <a:srgbClr val="FFFFFF"/>
                </a:highlight>
                <a:latin typeface="Courier New"/>
                <a:ea typeface="Courier New"/>
                <a:cs typeface="Courier New"/>
                <a:sym typeface="Courier New"/>
              </a:rPr>
              <a:t>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a:t>
            </a:r>
            <a:r>
              <a:rPr b="1" lang="en" sz="1250">
                <a:solidFill>
                  <a:srgbClr val="0000FF"/>
                </a:solidFill>
                <a:highlight>
                  <a:srgbClr val="FFFFFF"/>
                </a:highlight>
                <a:latin typeface="Courier New"/>
                <a:ea typeface="Courier New"/>
                <a:cs typeface="Courier New"/>
                <a:sym typeface="Courier New"/>
              </a:rPr>
              <a:t>int</a:t>
            </a:r>
            <a:r>
              <a:rPr b="1" lang="en" sz="1250">
                <a:solidFill>
                  <a:schemeClr val="dk1"/>
                </a:solidFill>
                <a:highlight>
                  <a:srgbClr val="FFFFFF"/>
                </a:highlight>
                <a:latin typeface="Courier New"/>
                <a:ea typeface="Courier New"/>
                <a:cs typeface="Courier New"/>
                <a:sym typeface="Courier New"/>
              </a:rPr>
              <a:t> temp = num1;</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num1 = num2;</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    num2 = temp;</a:t>
            </a:r>
            <a:endParaRPr b="1" sz="12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50">
                <a:solidFill>
                  <a:schemeClr val="dk1"/>
                </a:solidFill>
                <a:highlight>
                  <a:srgbClr val="FFFFFF"/>
                </a:highlight>
                <a:latin typeface="Courier New"/>
                <a:ea typeface="Courier New"/>
                <a:cs typeface="Courier New"/>
                <a:sym typeface="Courier New"/>
              </a:rPr>
              <a:t>}</a:t>
            </a:r>
            <a:endParaRPr b="1"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