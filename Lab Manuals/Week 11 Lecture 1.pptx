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5143500" cx="9144000"/>
  <p:notesSz cx="6858000" cy="9144000"/>
  <p:embeddedFontLst>
    <p:embeddedFont>
      <p:font typeface="Raleway"/>
      <p:regular r:id="rId50"/>
      <p:bold r:id="rId51"/>
      <p:italic r:id="rId52"/>
      <p:boldItalic r:id="rId53"/>
    </p:embeddedFont>
    <p:embeddedFont>
      <p:font typeface="Libre Franklin"/>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E775C3B-ED88-47DF-BCA5-81FE39E699D0}">
  <a:tblStyle styleId="{0E775C3B-ED88-47DF-BCA5-81FE39E699D0}"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4529115-C356-4AFF-A7AC-48432B7B1547}"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aleway-bold.fntdata"/><Relationship Id="rId50" Type="http://schemas.openxmlformats.org/officeDocument/2006/relationships/font" Target="fonts/Raleway-regular.fntdata"/><Relationship Id="rId53" Type="http://schemas.openxmlformats.org/officeDocument/2006/relationships/font" Target="fonts/Raleway-boldItalic.fntdata"/><Relationship Id="rId52" Type="http://schemas.openxmlformats.org/officeDocument/2006/relationships/font" Target="fonts/Raleway-italic.fntdata"/><Relationship Id="rId11" Type="http://schemas.openxmlformats.org/officeDocument/2006/relationships/slide" Target="slides/slide5.xml"/><Relationship Id="rId55" Type="http://schemas.openxmlformats.org/officeDocument/2006/relationships/font" Target="fonts/LibreFranklin-bold.fntdata"/><Relationship Id="rId10" Type="http://schemas.openxmlformats.org/officeDocument/2006/relationships/slide" Target="slides/slide4.xml"/><Relationship Id="rId54" Type="http://schemas.openxmlformats.org/officeDocument/2006/relationships/font" Target="fonts/LibreFranklin-regular.fntdata"/><Relationship Id="rId13" Type="http://schemas.openxmlformats.org/officeDocument/2006/relationships/slide" Target="slides/slide7.xml"/><Relationship Id="rId57" Type="http://schemas.openxmlformats.org/officeDocument/2006/relationships/font" Target="fonts/LibreFranklin-boldItalic.fntdata"/><Relationship Id="rId12" Type="http://schemas.openxmlformats.org/officeDocument/2006/relationships/slide" Target="slides/slide6.xml"/><Relationship Id="rId56" Type="http://schemas.openxmlformats.org/officeDocument/2006/relationships/font" Target="fonts/LibreFranklin-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07fe9b08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07fe9b08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07fe9b08de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07fe9b08de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07fe9b08de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07fe9b08de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07fe9b08de_0_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207fe9b08de_0_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82" name="Google Shape;82;g207fe9b08de_0_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07fe9b08de_0_1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g207fe9b08de_0_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93" name="Google Shape;93;g207fe9b08de_0_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07fe9b08de_0_2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207fe9b08de_0_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104" name="Google Shape;104;g207fe9b08de_0_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07fe9b08de_0_3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g207fe9b08de_0_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115" name="Google Shape;115;g207fe9b08de_0_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07fe9b08de_0_4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g207fe9b08de_0_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126" name="Google Shape;126;g207fe9b08de_0_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07fe9b08de_0_5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207fe9b08de_0_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137" name="Google Shape;137;g207fe9b08de_0_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07fe9b08de_0_67: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g207fe9b08de_0_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147" name="Google Shape;147;g207fe9b08de_0_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07fe9b08de_0_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207fe9b08de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IS sawal main user sy 2 numbers ly ker un main sy larger number find kerna hia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07fe9b08de_0_86: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g207fe9b08de_0_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168" name="Google Shape;168;g207fe9b08de_0_8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07fe9b08de_0_112: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207fe9b08de_0_1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195" name="Google Shape;195;g207fe9b08de_0_1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07fe9b08de_0_13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207fe9b08de_0_1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222" name="Google Shape;222;g207fe9b08de_0_1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07fe9b08de_0_166: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g207fe9b08de_0_1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251" name="Google Shape;251;g207fe9b08de_0_1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07fe9b08de_0_195: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g207fe9b08de_0_1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281" name="Google Shape;281;g207fe9b08de_0_19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07fe9b08de_0_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g207fe9b08de_0_2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IS sawal main user sy 2 numbers ly ker un main sy larger number find kerna hia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07fe9b08de_0_214: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g207fe9b08de_0_2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302" name="Google Shape;302;g207fe9b08de_0_2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07fe9b08de_0_240: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g207fe9b08de_0_2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329" name="Google Shape;329;g207fe9b08de_0_2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9d34748325_0_5: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29d34748325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358" name="Google Shape;358;g29d34748325_0_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07fe9b08de_0_26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g207fe9b08de_0_2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372" name="Google Shape;372;g207fe9b08de_0_2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07fe9b08de_0_281: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g207fe9b08de_0_2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386" name="Google Shape;386;g207fe9b08de_0_2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07fe9b08de_0_290: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g207fe9b08de_0_2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396" name="Google Shape;396;g207fe9b08de_0_2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07fe9b08de_0_300: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g207fe9b08de_0_3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407" name="Google Shape;407;g207fe9b08de_0_30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07fe9b08de_0_325: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g207fe9b08de_0_3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433" name="Google Shape;433;g207fe9b08de_0_3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07fe9b08de_0_353: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g207fe9b08de_0_3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462" name="Google Shape;462;g207fe9b08de_0_3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07fe9b08de_0_381: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g207fe9b08de_0_3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491" name="Google Shape;491;g207fe9b08de_0_3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207fe9b08de_0_407: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g207fe9b08de_0_4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518" name="Google Shape;518;g207fe9b08de_0_40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207fe9b08de_0_417: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g207fe9b08de_0_4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529" name="Google Shape;529;g207fe9b08de_0_4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207fe9b08de_0_427: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 name="Google Shape;539;g207fe9b08de_0_4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540" name="Google Shape;540;g207fe9b08de_0_4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07fe9b08de_0_437: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g207fe9b08de_0_4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551" name="Google Shape;551;g207fe9b08de_0_4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207fe9b08de_0_453: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g207fe9b08de_0_4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568" name="Google Shape;568;g207fe9b08de_0_4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207fe9b08de_0_470: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g207fe9b08de_0_4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586" name="Google Shape;586;g207fe9b08de_0_4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07fe9b08de_0_48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207fe9b08de_0_4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605" name="Google Shape;605;g207fe9b08de_0_48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207fe9b08de_0_506: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g207fe9b08de_0_5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624" name="Google Shape;624;g207fe9b08de_0_50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207fe9b08de_0_524: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g207fe9b08de_0_5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643" name="Google Shape;643;g207fe9b08de_0_5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29d16cf8b2f_0_3: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1" name="Google Shape;661;g29d16cf8b2f_0_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662" name="Google Shape;662;g29d16cf8b2f_0_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207fe9b08de_0_542: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g207fe9b08de_0_5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681" name="Google Shape;681;g207fe9b08de_0_5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207fe9b08de_0_55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g207fe9b08de_0_5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698" name="Google Shape;698;g207fe9b08de_0_5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207fe9b08de_0_576: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g207fe9b08de_0_5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717" name="Google Shape;717;g207fe9b08de_0_5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207fe9b08de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207fe9b08de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207fe9b08de_0_6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5" name="Google Shape;745;g207fe9b08de_0_6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Data can be of the following types.</a:t>
            </a:r>
            <a:endParaRPr/>
          </a:p>
          <a:p>
            <a:pPr indent="0" lvl="0" marL="0" rtl="0" algn="l">
              <a:lnSpc>
                <a:spcPct val="100000"/>
              </a:lnSpc>
              <a:spcBef>
                <a:spcPts val="0"/>
              </a:spcBef>
              <a:spcAft>
                <a:spcPts val="0"/>
              </a:spcAft>
              <a:buClr>
                <a:schemeClr val="dk1"/>
              </a:buClr>
              <a:buSzPts val="1100"/>
              <a:buFont typeface="Arial"/>
              <a:buNone/>
            </a:pPr>
            <a:r>
              <a:rPr lang="en"/>
              <a:t>Numbers, Text and Multimedia.</a:t>
            </a:r>
            <a:endParaRPr/>
          </a:p>
          <a:p>
            <a:pPr indent="0" lvl="0" marL="0" rtl="0" algn="l">
              <a:lnSpc>
                <a:spcPct val="100000"/>
              </a:lnSpc>
              <a:spcBef>
                <a:spcPts val="0"/>
              </a:spcBef>
              <a:spcAft>
                <a:spcPts val="0"/>
              </a:spcAft>
              <a:buClr>
                <a:schemeClr val="dk1"/>
              </a:buClr>
              <a:buSzPts val="1100"/>
              <a:buFont typeface="Arial"/>
              <a:buNone/>
            </a:pPr>
            <a:r>
              <a:rPr lang="en"/>
              <a:t>Telling the memory about the datatype helps </a:t>
            </a:r>
            <a:endParaRPr/>
          </a:p>
          <a:p>
            <a:pPr indent="0" lvl="0" marL="0" rtl="0" algn="l">
              <a:lnSpc>
                <a:spcPct val="100000"/>
              </a:lnSpc>
              <a:spcBef>
                <a:spcPts val="0"/>
              </a:spcBef>
              <a:spcAft>
                <a:spcPts val="0"/>
              </a:spcAft>
              <a:buClr>
                <a:schemeClr val="dk1"/>
              </a:buClr>
              <a:buSzPts val="1100"/>
              <a:buFont typeface="Arial"/>
              <a:buNone/>
            </a:pPr>
            <a:r>
              <a:rPr lang="en"/>
              <a:t>To Adjust Size of Allocated Memory Cell</a:t>
            </a:r>
            <a:endParaRPr/>
          </a:p>
          <a:p>
            <a:pPr indent="0" lvl="0" marL="0" rtl="0" algn="l">
              <a:lnSpc>
                <a:spcPct val="100000"/>
              </a:lnSpc>
              <a:spcBef>
                <a:spcPts val="0"/>
              </a:spcBef>
              <a:spcAft>
                <a:spcPts val="0"/>
              </a:spcAft>
              <a:buClr>
                <a:schemeClr val="dk1"/>
              </a:buClr>
              <a:buSzPts val="1100"/>
              <a:buFont typeface="Arial"/>
              <a:buNone/>
            </a:pPr>
            <a:r>
              <a:rPr lang="en"/>
              <a:t>To Check the Validity of the Operations</a:t>
            </a:r>
            <a:br>
              <a:rPr lang="en"/>
            </a:br>
            <a:r>
              <a:rPr lang="en"/>
              <a:t>And finally Variable declaration meand Reserving the memory location through Variables  for certain type of data.</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07fe9b08de_0_6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4" name="Google Shape;754;g207fe9b08de_0_6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970613" y="285750"/>
            <a:ext cx="7202700" cy="8574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sz="1100"/>
            </a:lvl1pPr>
            <a:lvl2pPr lvl="1" rtl="0">
              <a:spcBef>
                <a:spcPts val="0"/>
              </a:spcBef>
              <a:spcAft>
                <a:spcPts val="0"/>
              </a:spcAft>
              <a:buSzPts val="1100"/>
              <a:buNone/>
              <a:defRPr sz="1100"/>
            </a:lvl2pPr>
            <a:lvl3pPr lvl="2" rtl="0">
              <a:spcBef>
                <a:spcPts val="0"/>
              </a:spcBef>
              <a:spcAft>
                <a:spcPts val="0"/>
              </a:spcAft>
              <a:buSzPts val="1100"/>
              <a:buNone/>
              <a:defRPr sz="1100"/>
            </a:lvl3pPr>
            <a:lvl4pPr lvl="3" rtl="0">
              <a:spcBef>
                <a:spcPts val="0"/>
              </a:spcBef>
              <a:spcAft>
                <a:spcPts val="0"/>
              </a:spcAft>
              <a:buSzPts val="1100"/>
              <a:buNone/>
              <a:defRPr sz="1100"/>
            </a:lvl4pPr>
            <a:lvl5pPr lvl="4" rtl="0">
              <a:spcBef>
                <a:spcPts val="0"/>
              </a:spcBef>
              <a:spcAft>
                <a:spcPts val="0"/>
              </a:spcAft>
              <a:buSzPts val="1100"/>
              <a:buNone/>
              <a:defRPr sz="1100"/>
            </a:lvl5pPr>
            <a:lvl6pPr lvl="5" rtl="0">
              <a:spcBef>
                <a:spcPts val="0"/>
              </a:spcBef>
              <a:spcAft>
                <a:spcPts val="0"/>
              </a:spcAft>
              <a:buSzPts val="1100"/>
              <a:buNone/>
              <a:defRPr sz="1100"/>
            </a:lvl6pPr>
            <a:lvl7pPr lvl="6" rtl="0">
              <a:spcBef>
                <a:spcPts val="0"/>
              </a:spcBef>
              <a:spcAft>
                <a:spcPts val="0"/>
              </a:spcAft>
              <a:buSzPts val="1100"/>
              <a:buNone/>
              <a:defRPr sz="1100"/>
            </a:lvl7pPr>
            <a:lvl8pPr lvl="7" rtl="0">
              <a:spcBef>
                <a:spcPts val="0"/>
              </a:spcBef>
              <a:spcAft>
                <a:spcPts val="0"/>
              </a:spcAft>
              <a:buSzPts val="1100"/>
              <a:buNone/>
              <a:defRPr sz="1100"/>
            </a:lvl8pPr>
            <a:lvl9pPr lvl="8" rtl="0">
              <a:spcBef>
                <a:spcPts val="0"/>
              </a:spcBef>
              <a:spcAft>
                <a:spcPts val="0"/>
              </a:spcAft>
              <a:buSzPts val="1100"/>
              <a:buNone/>
              <a:defRPr sz="1100"/>
            </a:lvl9pPr>
          </a:lstStyle>
          <a:p/>
        </p:txBody>
      </p:sp>
      <p:sp>
        <p:nvSpPr>
          <p:cNvPr id="52" name="Google Shape;52;p13"/>
          <p:cNvSpPr txBox="1"/>
          <p:nvPr>
            <p:ph idx="1" type="body"/>
          </p:nvPr>
        </p:nvSpPr>
        <p:spPr>
          <a:xfrm>
            <a:off x="970613" y="1257300"/>
            <a:ext cx="7202700" cy="33720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1200"/>
              </a:spcBef>
              <a:spcAft>
                <a:spcPts val="0"/>
              </a:spcAft>
              <a:buClr>
                <a:schemeClr val="dk1"/>
              </a:buClr>
              <a:buSzPts val="1400"/>
              <a:buChar char="●"/>
              <a:defRPr sz="1100"/>
            </a:lvl1pPr>
            <a:lvl2pPr indent="-317500" lvl="1" marL="914400" rtl="0" algn="l">
              <a:lnSpc>
                <a:spcPct val="90000"/>
              </a:lnSpc>
              <a:spcBef>
                <a:spcPts val="1200"/>
              </a:spcBef>
              <a:spcAft>
                <a:spcPts val="0"/>
              </a:spcAft>
              <a:buClr>
                <a:schemeClr val="dk1"/>
              </a:buClr>
              <a:buSzPts val="1400"/>
              <a:buChar char="○"/>
              <a:defRPr sz="1100"/>
            </a:lvl2pPr>
            <a:lvl3pPr indent="-317500" lvl="2" marL="1371600" rtl="0" algn="l">
              <a:lnSpc>
                <a:spcPct val="90000"/>
              </a:lnSpc>
              <a:spcBef>
                <a:spcPts val="1200"/>
              </a:spcBef>
              <a:spcAft>
                <a:spcPts val="0"/>
              </a:spcAft>
              <a:buClr>
                <a:schemeClr val="dk1"/>
              </a:buClr>
              <a:buSzPts val="1400"/>
              <a:buChar char="■"/>
              <a:defRPr sz="1100"/>
            </a:lvl3pPr>
            <a:lvl4pPr indent="-317500" lvl="3" marL="1828800" rtl="0" algn="l">
              <a:lnSpc>
                <a:spcPct val="90000"/>
              </a:lnSpc>
              <a:spcBef>
                <a:spcPts val="1200"/>
              </a:spcBef>
              <a:spcAft>
                <a:spcPts val="0"/>
              </a:spcAft>
              <a:buClr>
                <a:schemeClr val="dk1"/>
              </a:buClr>
              <a:buSzPts val="1400"/>
              <a:buChar char="●"/>
              <a:defRPr sz="1100"/>
            </a:lvl4pPr>
            <a:lvl5pPr indent="-304800" lvl="4" marL="2286000" rtl="0" algn="l">
              <a:lnSpc>
                <a:spcPct val="90000"/>
              </a:lnSpc>
              <a:spcBef>
                <a:spcPts val="1200"/>
              </a:spcBef>
              <a:spcAft>
                <a:spcPts val="0"/>
              </a:spcAft>
              <a:buClr>
                <a:schemeClr val="dk1"/>
              </a:buClr>
              <a:buSzPts val="1200"/>
              <a:buChar char="○"/>
              <a:defRPr sz="1100"/>
            </a:lvl5pPr>
            <a:lvl6pPr indent="-304800" lvl="5" marL="2743200" rtl="0" algn="l">
              <a:spcBef>
                <a:spcPts val="1200"/>
              </a:spcBef>
              <a:spcAft>
                <a:spcPts val="0"/>
              </a:spcAft>
              <a:buClr>
                <a:schemeClr val="dk1"/>
              </a:buClr>
              <a:buSzPts val="1200"/>
              <a:buChar char="■"/>
              <a:defRPr sz="1100"/>
            </a:lvl6pPr>
            <a:lvl7pPr indent="-304800" lvl="6" marL="3200400" rtl="0" algn="l">
              <a:spcBef>
                <a:spcPts val="1200"/>
              </a:spcBef>
              <a:spcAft>
                <a:spcPts val="0"/>
              </a:spcAft>
              <a:buClr>
                <a:schemeClr val="dk1"/>
              </a:buClr>
              <a:buSzPts val="1200"/>
              <a:buChar char="●"/>
              <a:defRPr sz="1100"/>
            </a:lvl7pPr>
            <a:lvl8pPr indent="-304800" lvl="7" marL="3657600" rtl="0" algn="l">
              <a:spcBef>
                <a:spcPts val="1200"/>
              </a:spcBef>
              <a:spcAft>
                <a:spcPts val="0"/>
              </a:spcAft>
              <a:buClr>
                <a:schemeClr val="dk1"/>
              </a:buClr>
              <a:buSzPts val="1200"/>
              <a:buChar char="○"/>
              <a:defRPr sz="1100"/>
            </a:lvl8pPr>
            <a:lvl9pPr indent="-304800" lvl="8" marL="4114800" rtl="0" algn="l">
              <a:spcBef>
                <a:spcPts val="1200"/>
              </a:spcBef>
              <a:spcAft>
                <a:spcPts val="1200"/>
              </a:spcAft>
              <a:buClr>
                <a:schemeClr val="dk1"/>
              </a:buClr>
              <a:buSzPts val="1200"/>
              <a:buChar char="■"/>
              <a:defRPr sz="1100"/>
            </a:lvl9pPr>
          </a:lstStyle>
          <a:p/>
        </p:txBody>
      </p:sp>
      <p:sp>
        <p:nvSpPr>
          <p:cNvPr id="53" name="Google Shape;53;p13"/>
          <p:cNvSpPr txBox="1"/>
          <p:nvPr>
            <p:ph idx="10" type="dt"/>
          </p:nvPr>
        </p:nvSpPr>
        <p:spPr>
          <a:xfrm>
            <a:off x="954084" y="4767263"/>
            <a:ext cx="2133600" cy="2739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SzPts val="1100"/>
              <a:buNone/>
              <a:defRPr b="0" i="0" sz="8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9pPr>
          </a:lstStyle>
          <a:p/>
        </p:txBody>
      </p:sp>
      <p:sp>
        <p:nvSpPr>
          <p:cNvPr id="54" name="Google Shape;54;p13"/>
          <p:cNvSpPr txBox="1"/>
          <p:nvPr>
            <p:ph idx="11" type="ftr"/>
          </p:nvPr>
        </p:nvSpPr>
        <p:spPr>
          <a:xfrm>
            <a:off x="3124200" y="4767263"/>
            <a:ext cx="2895600" cy="2739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SzPts val="1100"/>
              <a:buNone/>
              <a:defRPr b="0" i="0" sz="8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9pPr>
          </a:lstStyle>
          <a:p/>
        </p:txBody>
      </p:sp>
      <p:sp>
        <p:nvSpPr>
          <p:cNvPr id="55" name="Google Shape;55;p13"/>
          <p:cNvSpPr txBox="1"/>
          <p:nvPr>
            <p:ph idx="12" type="sldNum"/>
          </p:nvPr>
        </p:nvSpPr>
        <p:spPr>
          <a:xfrm>
            <a:off x="6039992" y="4767263"/>
            <a:ext cx="2133600" cy="2739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b="0" i="0" sz="800" u="none" cap="none" strike="noStrike">
                <a:solidFill>
                  <a:srgbClr val="191919"/>
                </a:solidFill>
                <a:latin typeface="Libre Franklin"/>
                <a:ea typeface="Libre Franklin"/>
                <a:cs typeface="Libre Franklin"/>
                <a:sym typeface="Libre Franklin"/>
              </a:defRPr>
            </a:lvl1pPr>
            <a:lvl2pPr indent="0" lvl="1" marL="0" rtl="0" algn="r">
              <a:spcBef>
                <a:spcPts val="0"/>
              </a:spcBef>
              <a:buNone/>
              <a:defRPr b="0" i="0" sz="800" u="none" cap="none" strike="noStrike">
                <a:solidFill>
                  <a:srgbClr val="191919"/>
                </a:solidFill>
                <a:latin typeface="Libre Franklin"/>
                <a:ea typeface="Libre Franklin"/>
                <a:cs typeface="Libre Franklin"/>
                <a:sym typeface="Libre Franklin"/>
              </a:defRPr>
            </a:lvl2pPr>
            <a:lvl3pPr indent="0" lvl="2" marL="0" rtl="0" algn="r">
              <a:spcBef>
                <a:spcPts val="0"/>
              </a:spcBef>
              <a:buNone/>
              <a:defRPr b="0" i="0" sz="800" u="none" cap="none" strike="noStrike">
                <a:solidFill>
                  <a:srgbClr val="191919"/>
                </a:solidFill>
                <a:latin typeface="Libre Franklin"/>
                <a:ea typeface="Libre Franklin"/>
                <a:cs typeface="Libre Franklin"/>
                <a:sym typeface="Libre Franklin"/>
              </a:defRPr>
            </a:lvl3pPr>
            <a:lvl4pPr indent="0" lvl="3" marL="0" rtl="0" algn="r">
              <a:spcBef>
                <a:spcPts val="0"/>
              </a:spcBef>
              <a:buNone/>
              <a:defRPr b="0" i="0" sz="800" u="none" cap="none" strike="noStrike">
                <a:solidFill>
                  <a:srgbClr val="191919"/>
                </a:solidFill>
                <a:latin typeface="Libre Franklin"/>
                <a:ea typeface="Libre Franklin"/>
                <a:cs typeface="Libre Franklin"/>
                <a:sym typeface="Libre Franklin"/>
              </a:defRPr>
            </a:lvl4pPr>
            <a:lvl5pPr indent="0" lvl="4" marL="0" rtl="0" algn="r">
              <a:spcBef>
                <a:spcPts val="0"/>
              </a:spcBef>
              <a:buNone/>
              <a:defRPr b="0" i="0" sz="800" u="none" cap="none" strike="noStrike">
                <a:solidFill>
                  <a:srgbClr val="191919"/>
                </a:solidFill>
                <a:latin typeface="Libre Franklin"/>
                <a:ea typeface="Libre Franklin"/>
                <a:cs typeface="Libre Franklin"/>
                <a:sym typeface="Libre Franklin"/>
              </a:defRPr>
            </a:lvl5pPr>
            <a:lvl6pPr indent="0" lvl="5" marL="0" rtl="0" algn="r">
              <a:spcBef>
                <a:spcPts val="0"/>
              </a:spcBef>
              <a:buNone/>
              <a:defRPr b="0" i="0" sz="800" u="none" cap="none" strike="noStrike">
                <a:solidFill>
                  <a:srgbClr val="191919"/>
                </a:solidFill>
                <a:latin typeface="Libre Franklin"/>
                <a:ea typeface="Libre Franklin"/>
                <a:cs typeface="Libre Franklin"/>
                <a:sym typeface="Libre Franklin"/>
              </a:defRPr>
            </a:lvl6pPr>
            <a:lvl7pPr indent="0" lvl="6" marL="0" rtl="0" algn="r">
              <a:spcBef>
                <a:spcPts val="0"/>
              </a:spcBef>
              <a:buNone/>
              <a:defRPr b="0" i="0" sz="800" u="none" cap="none" strike="noStrike">
                <a:solidFill>
                  <a:srgbClr val="191919"/>
                </a:solidFill>
                <a:latin typeface="Libre Franklin"/>
                <a:ea typeface="Libre Franklin"/>
                <a:cs typeface="Libre Franklin"/>
                <a:sym typeface="Libre Franklin"/>
              </a:defRPr>
            </a:lvl7pPr>
            <a:lvl8pPr indent="0" lvl="7" marL="0" rtl="0" algn="r">
              <a:spcBef>
                <a:spcPts val="0"/>
              </a:spcBef>
              <a:buNone/>
              <a:defRPr b="0" i="0" sz="800" u="none" cap="none" strike="noStrike">
                <a:solidFill>
                  <a:srgbClr val="191919"/>
                </a:solidFill>
                <a:latin typeface="Libre Franklin"/>
                <a:ea typeface="Libre Franklin"/>
                <a:cs typeface="Libre Franklin"/>
                <a:sym typeface="Libre Franklin"/>
              </a:defRPr>
            </a:lvl8pPr>
            <a:lvl9pPr indent="0" lvl="8" marL="0" rtl="0" algn="r">
              <a:spcBef>
                <a:spcPts val="0"/>
              </a:spcBef>
              <a:buNone/>
              <a:defRPr b="0" i="0" sz="800" u="none" cap="none" strike="noStrike">
                <a:solidFill>
                  <a:srgbClr val="191919"/>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8.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9.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9.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9.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0.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0.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10.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4"/>
          <p:cNvSpPr txBox="1"/>
          <p:nvPr>
            <p:ph type="ctrTitle"/>
          </p:nvPr>
        </p:nvSpPr>
        <p:spPr>
          <a:xfrm>
            <a:off x="1404550" y="1939475"/>
            <a:ext cx="6331500" cy="18780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n" sz="4500">
                <a:solidFill>
                  <a:srgbClr val="434343"/>
                </a:solidFill>
                <a:latin typeface="Comic Sans MS"/>
                <a:ea typeface="Comic Sans MS"/>
                <a:cs typeface="Comic Sans MS"/>
                <a:sym typeface="Comic Sans MS"/>
              </a:rPr>
              <a:t>Parameter Passing</a:t>
            </a:r>
            <a:endParaRPr b="1" sz="4500">
              <a:solidFill>
                <a:srgbClr val="434343"/>
              </a:solidFill>
              <a:latin typeface="Comic Sans MS"/>
              <a:ea typeface="Comic Sans MS"/>
              <a:cs typeface="Comic Sans MS"/>
              <a:sym typeface="Comic Sans MS"/>
            </a:endParaRPr>
          </a:p>
          <a:p>
            <a:pPr indent="0" lvl="0" marL="0" rtl="0" algn="ctr">
              <a:spcBef>
                <a:spcPts val="0"/>
              </a:spcBef>
              <a:spcAft>
                <a:spcPts val="0"/>
              </a:spcAft>
              <a:buNone/>
            </a:pPr>
            <a:r>
              <a:rPr b="1" lang="en" sz="4500">
                <a:solidFill>
                  <a:srgbClr val="D15A12"/>
                </a:solidFill>
                <a:latin typeface="Comic Sans MS"/>
                <a:ea typeface="Comic Sans MS"/>
                <a:cs typeface="Comic Sans MS"/>
                <a:sym typeface="Comic Sans MS"/>
              </a:rPr>
              <a:t>by value</a:t>
            </a:r>
            <a:endParaRPr b="1" sz="4500">
              <a:solidFill>
                <a:srgbClr val="D15A12"/>
              </a:solidFill>
              <a:latin typeface="Comic Sans MS"/>
              <a:ea typeface="Comic Sans MS"/>
              <a:cs typeface="Comic Sans MS"/>
              <a:sym typeface="Comic Sans MS"/>
            </a:endParaRPr>
          </a:p>
          <a:p>
            <a:pPr indent="0" lvl="0" marL="0" rtl="0" algn="ctr">
              <a:spcBef>
                <a:spcPts val="0"/>
              </a:spcBef>
              <a:spcAft>
                <a:spcPts val="0"/>
              </a:spcAft>
              <a:buNone/>
            </a:pPr>
            <a:r>
              <a:rPr b="1" lang="en" sz="4500">
                <a:solidFill>
                  <a:srgbClr val="434343"/>
                </a:solidFill>
                <a:latin typeface="Comic Sans MS"/>
                <a:ea typeface="Comic Sans MS"/>
                <a:cs typeface="Comic Sans MS"/>
                <a:sym typeface="Comic Sans MS"/>
              </a:rPr>
              <a:t>And</a:t>
            </a:r>
            <a:endParaRPr b="1" sz="4500">
              <a:solidFill>
                <a:srgbClr val="434343"/>
              </a:solidFill>
              <a:latin typeface="Comic Sans MS"/>
              <a:ea typeface="Comic Sans MS"/>
              <a:cs typeface="Comic Sans MS"/>
              <a:sym typeface="Comic Sans MS"/>
            </a:endParaRPr>
          </a:p>
          <a:p>
            <a:pPr indent="0" lvl="0" marL="0" rtl="0" algn="ctr">
              <a:spcBef>
                <a:spcPts val="0"/>
              </a:spcBef>
              <a:spcAft>
                <a:spcPts val="0"/>
              </a:spcAft>
              <a:buNone/>
            </a:pPr>
            <a:r>
              <a:rPr b="1" lang="en" sz="4500">
                <a:solidFill>
                  <a:srgbClr val="D15A12"/>
                </a:solidFill>
                <a:latin typeface="Comic Sans MS"/>
                <a:ea typeface="Comic Sans MS"/>
                <a:cs typeface="Comic Sans MS"/>
                <a:sym typeface="Comic Sans MS"/>
              </a:rPr>
              <a:t>by reference</a:t>
            </a:r>
            <a:endParaRPr b="1" sz="4500">
              <a:solidFill>
                <a:srgbClr val="434343"/>
              </a:solidFill>
              <a:latin typeface="Comic Sans MS"/>
              <a:ea typeface="Comic Sans MS"/>
              <a:cs typeface="Comic Sans MS"/>
              <a:sym typeface="Comic Sans MS"/>
            </a:endParaRPr>
          </a:p>
        </p:txBody>
      </p:sp>
      <p:sp>
        <p:nvSpPr>
          <p:cNvPr id="61" name="Google Shape;61;p14"/>
          <p:cNvSpPr/>
          <p:nvPr/>
        </p:nvSpPr>
        <p:spPr>
          <a:xfrm rot="10800000">
            <a:off x="8513292"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62" name="Google Shape;62;p14"/>
          <p:cNvPicPr preferRelativeResize="0"/>
          <p:nvPr/>
        </p:nvPicPr>
        <p:blipFill>
          <a:blip r:embed="rId3">
            <a:alphaModFix/>
          </a:blip>
          <a:stretch>
            <a:fillRect/>
          </a:stretch>
        </p:blipFill>
        <p:spPr>
          <a:xfrm>
            <a:off x="7417825" y="1039140"/>
            <a:ext cx="1549400" cy="4104370"/>
          </a:xfrm>
          <a:prstGeom prst="rect">
            <a:avLst/>
          </a:prstGeom>
          <a:noFill/>
          <a:ln>
            <a:noFill/>
          </a:ln>
        </p:spPr>
      </p:pic>
      <p:sp>
        <p:nvSpPr>
          <p:cNvPr id="63" name="Google Shape;63;p14"/>
          <p:cNvSpPr/>
          <p:nvPr/>
        </p:nvSpPr>
        <p:spPr>
          <a:xfrm flipH="1" rot="10800000">
            <a:off x="-8"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64" name="Google Shape;64;p14"/>
          <p:cNvPicPr preferRelativeResize="0"/>
          <p:nvPr/>
        </p:nvPicPr>
        <p:blipFill>
          <a:blip r:embed="rId4">
            <a:alphaModFix/>
          </a:blip>
          <a:stretch>
            <a:fillRect/>
          </a:stretch>
        </p:blipFill>
        <p:spPr>
          <a:xfrm>
            <a:off x="193550" y="1040975"/>
            <a:ext cx="1421136" cy="4104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gtEl>
                                        <p:attrNameLst>
                                          <p:attrName>style.visibility</p:attrName>
                                        </p:attrNameLst>
                                      </p:cBhvr>
                                      <p:to>
                                        <p:strVal val="visible"/>
                                      </p:to>
                                    </p:set>
                                    <p:animEffect filter="fade" transition="in">
                                      <p:cBhvr>
                                        <p:cTn dur="1000"/>
                                        <p:tgtEl>
                                          <p:spTgt spid="62"/>
                                        </p:tgtEl>
                                      </p:cBhvr>
                                    </p:animEffect>
                                  </p:childTnLst>
                                </p:cTn>
                              </p:par>
                              <p:par>
                                <p:cTn fill="hold" nodeType="withEffect" presetClass="entr" presetID="10" presetSubtype="0">
                                  <p:stCondLst>
                                    <p:cond delay="0"/>
                                  </p:stCondLst>
                                  <p:childTnLst>
                                    <p:set>
                                      <p:cBhvr>
                                        <p:cTn dur="1" fill="hold">
                                          <p:stCondLst>
                                            <p:cond delay="0"/>
                                          </p:stCondLst>
                                        </p:cTn>
                                        <p:tgtEl>
                                          <p:spTgt spid="64"/>
                                        </p:tgtEl>
                                        <p:attrNameLst>
                                          <p:attrName>style.visibility</p:attrName>
                                        </p:attrNameLst>
                                      </p:cBhvr>
                                      <p:to>
                                        <p:strVal val="visible"/>
                                      </p:to>
                                    </p:set>
                                    <p:animEffect filter="fade" transition="in">
                                      <p:cBhvr>
                                        <p:cTn dur="1000"/>
                                        <p:tgtEl>
                                          <p:spTgt spid="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
                                        </p:tgtEl>
                                        <p:attrNameLst>
                                          <p:attrName>style.visibility</p:attrName>
                                        </p:attrNameLst>
                                      </p:cBhvr>
                                      <p:to>
                                        <p:strVal val="visible"/>
                                      </p:to>
                                    </p:set>
                                    <p:animEffect filter="fade" transition="in">
                                      <p:cBhvr>
                                        <p:cTn dur="1000"/>
                                        <p:tgtEl>
                                          <p:spTgt spid="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 name="Shape 68"/>
        <p:cNvGrpSpPr/>
        <p:nvPr/>
      </p:nvGrpSpPr>
      <p:grpSpPr>
        <a:xfrm>
          <a:off x="0" y="0"/>
          <a:ext cx="0" cy="0"/>
          <a:chOff x="0" y="0"/>
          <a:chExt cx="0" cy="0"/>
        </a:xfrm>
      </p:grpSpPr>
      <p:sp>
        <p:nvSpPr>
          <p:cNvPr id="69" name="Google Shape;69;p15"/>
          <p:cNvSpPr/>
          <p:nvPr/>
        </p:nvSpPr>
        <p:spPr>
          <a:xfrm rot="10800000">
            <a:off x="8513292"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2A3D4B"/>
              </a:solidFill>
              <a:latin typeface="Arial"/>
              <a:ea typeface="Arial"/>
              <a:cs typeface="Arial"/>
              <a:sym typeface="Arial"/>
            </a:endParaRPr>
          </a:p>
        </p:txBody>
      </p:sp>
      <p:sp>
        <p:nvSpPr>
          <p:cNvPr id="70" name="Google Shape;70;p15"/>
          <p:cNvSpPr/>
          <p:nvPr/>
        </p:nvSpPr>
        <p:spPr>
          <a:xfrm flipH="1" rot="10800000">
            <a:off x="-8"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71" name="Google Shape;71;p15"/>
          <p:cNvPicPr preferRelativeResize="0"/>
          <p:nvPr/>
        </p:nvPicPr>
        <p:blipFill rotWithShape="1">
          <a:blip r:embed="rId3">
            <a:alphaModFix/>
          </a:blip>
          <a:srcRect b="0" l="0" r="0" t="0"/>
          <a:stretch/>
        </p:blipFill>
        <p:spPr>
          <a:xfrm>
            <a:off x="713777" y="1434311"/>
            <a:ext cx="7989900" cy="2274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sp>
        <p:nvSpPr>
          <p:cNvPr id="76" name="Google Shape;76;p16"/>
          <p:cNvSpPr/>
          <p:nvPr/>
        </p:nvSpPr>
        <p:spPr>
          <a:xfrm rot="10800000">
            <a:off x="8513292"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2A3D4B"/>
              </a:solidFill>
              <a:latin typeface="Arial"/>
              <a:ea typeface="Arial"/>
              <a:cs typeface="Arial"/>
              <a:sym typeface="Arial"/>
            </a:endParaRPr>
          </a:p>
        </p:txBody>
      </p:sp>
      <p:sp>
        <p:nvSpPr>
          <p:cNvPr id="77" name="Google Shape;77;p16"/>
          <p:cNvSpPr/>
          <p:nvPr/>
        </p:nvSpPr>
        <p:spPr>
          <a:xfrm flipH="1" rot="10800000">
            <a:off x="-8"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78" name="Google Shape;78;p16"/>
          <p:cNvPicPr preferRelativeResize="0"/>
          <p:nvPr/>
        </p:nvPicPr>
        <p:blipFill rotWithShape="1">
          <a:blip r:embed="rId3">
            <a:alphaModFix/>
          </a:blip>
          <a:srcRect b="0" l="0" r="0" t="0"/>
          <a:stretch/>
        </p:blipFill>
        <p:spPr>
          <a:xfrm>
            <a:off x="693329" y="1643932"/>
            <a:ext cx="7989900" cy="1481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85" name="Google Shape;85;p17"/>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86" name="Google Shape;86;p17"/>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87" name="Google Shape;87;p17"/>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Real life Scenario 01</a:t>
            </a:r>
            <a:endParaRPr b="1" sz="3600">
              <a:solidFill>
                <a:srgbClr val="434343"/>
              </a:solidFill>
              <a:latin typeface="Comic Sans MS"/>
              <a:ea typeface="Comic Sans MS"/>
              <a:cs typeface="Comic Sans MS"/>
              <a:sym typeface="Comic Sans MS"/>
            </a:endParaRPr>
          </a:p>
        </p:txBody>
      </p:sp>
      <p:sp>
        <p:nvSpPr>
          <p:cNvPr id="88" name="Google Shape;88;p17"/>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Suppose your </a:t>
            </a:r>
            <a:r>
              <a:rPr b="1" lang="en" sz="2400">
                <a:solidFill>
                  <a:srgbClr val="D15A12"/>
                </a:solidFill>
                <a:latin typeface="Comic Sans MS"/>
                <a:ea typeface="Comic Sans MS"/>
                <a:cs typeface="Comic Sans MS"/>
                <a:sym typeface="Comic Sans MS"/>
              </a:rPr>
              <a:t>laptop battery</a:t>
            </a:r>
            <a:r>
              <a:rPr b="1" lang="en" sz="2400">
                <a:solidFill>
                  <a:srgbClr val="434343"/>
                </a:solidFill>
                <a:latin typeface="Comic Sans MS"/>
                <a:ea typeface="Comic Sans MS"/>
                <a:cs typeface="Comic Sans MS"/>
                <a:sym typeface="Comic Sans MS"/>
              </a:rPr>
              <a:t> is damaged and you want to buy a new battery.</a:t>
            </a:r>
            <a:endParaRPr b="1" sz="2400">
              <a:solidFill>
                <a:srgbClr val="434343"/>
              </a:solidFill>
              <a:latin typeface="Comic Sans MS"/>
              <a:ea typeface="Comic Sans MS"/>
              <a:cs typeface="Comic Sans MS"/>
              <a:sym typeface="Comic Sans MS"/>
            </a:endParaRPr>
          </a:p>
        </p:txBody>
      </p:sp>
      <p:pic>
        <p:nvPicPr>
          <p:cNvPr id="89" name="Google Shape;89;p17"/>
          <p:cNvPicPr preferRelativeResize="0"/>
          <p:nvPr/>
        </p:nvPicPr>
        <p:blipFill>
          <a:blip r:embed="rId3">
            <a:alphaModFix/>
          </a:blip>
          <a:stretch>
            <a:fillRect/>
          </a:stretch>
        </p:blipFill>
        <p:spPr>
          <a:xfrm>
            <a:off x="2286000" y="2247900"/>
            <a:ext cx="4572000" cy="2781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1000"/>
                                        <p:tgtEl>
                                          <p:spTgt spid="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96" name="Google Shape;96;p18"/>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97" name="Google Shape;97;p18"/>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98" name="Google Shape;98;p18"/>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Real life Scenario 01</a:t>
            </a:r>
            <a:endParaRPr b="1" sz="3600">
              <a:solidFill>
                <a:srgbClr val="434343"/>
              </a:solidFill>
              <a:latin typeface="Comic Sans MS"/>
              <a:ea typeface="Comic Sans MS"/>
              <a:cs typeface="Comic Sans MS"/>
              <a:sym typeface="Comic Sans MS"/>
            </a:endParaRPr>
          </a:p>
        </p:txBody>
      </p:sp>
      <p:sp>
        <p:nvSpPr>
          <p:cNvPr id="99" name="Google Shape;99;p18"/>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You take your laptop with you to </a:t>
            </a:r>
            <a:r>
              <a:rPr b="1" lang="en" sz="2400">
                <a:solidFill>
                  <a:srgbClr val="D15A12"/>
                </a:solidFill>
                <a:latin typeface="Comic Sans MS"/>
                <a:ea typeface="Comic Sans MS"/>
                <a:cs typeface="Comic Sans MS"/>
                <a:sym typeface="Comic Sans MS"/>
              </a:rPr>
              <a:t>Shop Center</a:t>
            </a:r>
            <a:r>
              <a:rPr b="1" lang="en" sz="2400">
                <a:solidFill>
                  <a:srgbClr val="434343"/>
                </a:solidFill>
                <a:latin typeface="Comic Sans MS"/>
                <a:ea typeface="Comic Sans MS"/>
                <a:cs typeface="Comic Sans MS"/>
                <a:sym typeface="Comic Sans MS"/>
              </a:rPr>
              <a:t> and the shop manager gives you a </a:t>
            </a:r>
            <a:r>
              <a:rPr b="1" lang="en" sz="2400">
                <a:solidFill>
                  <a:srgbClr val="D15A12"/>
                </a:solidFill>
                <a:latin typeface="Comic Sans MS"/>
                <a:ea typeface="Comic Sans MS"/>
                <a:cs typeface="Comic Sans MS"/>
                <a:sym typeface="Comic Sans MS"/>
              </a:rPr>
              <a:t>new battery</a:t>
            </a:r>
            <a:r>
              <a:rPr b="1" lang="en" sz="2400">
                <a:solidFill>
                  <a:srgbClr val="434343"/>
                </a:solidFill>
                <a:latin typeface="Comic Sans MS"/>
                <a:ea typeface="Comic Sans MS"/>
                <a:cs typeface="Comic Sans MS"/>
                <a:sym typeface="Comic Sans MS"/>
              </a:rPr>
              <a:t> according to your laptop.</a:t>
            </a:r>
            <a:endParaRPr b="1" sz="2400">
              <a:solidFill>
                <a:srgbClr val="434343"/>
              </a:solidFill>
              <a:latin typeface="Comic Sans MS"/>
              <a:ea typeface="Comic Sans MS"/>
              <a:cs typeface="Comic Sans MS"/>
              <a:sym typeface="Comic Sans MS"/>
            </a:endParaRPr>
          </a:p>
        </p:txBody>
      </p:sp>
      <p:pic>
        <p:nvPicPr>
          <p:cNvPr id="100" name="Google Shape;100;p18"/>
          <p:cNvPicPr preferRelativeResize="0"/>
          <p:nvPr/>
        </p:nvPicPr>
        <p:blipFill>
          <a:blip r:embed="rId3">
            <a:alphaModFix/>
          </a:blip>
          <a:stretch>
            <a:fillRect/>
          </a:stretch>
        </p:blipFill>
        <p:spPr>
          <a:xfrm>
            <a:off x="2872063" y="2571750"/>
            <a:ext cx="3399875" cy="2124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1000"/>
                                        <p:tgtEl>
                                          <p:spTgt spid="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07" name="Google Shape;107;p19"/>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08" name="Google Shape;108;p19"/>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109" name="Google Shape;109;p19"/>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Real life Scenario 01</a:t>
            </a:r>
            <a:endParaRPr b="1" sz="3600">
              <a:solidFill>
                <a:srgbClr val="434343"/>
              </a:solidFill>
              <a:latin typeface="Comic Sans MS"/>
              <a:ea typeface="Comic Sans MS"/>
              <a:cs typeface="Comic Sans MS"/>
              <a:sym typeface="Comic Sans MS"/>
            </a:endParaRPr>
          </a:p>
        </p:txBody>
      </p:sp>
      <p:sp>
        <p:nvSpPr>
          <p:cNvPr id="110" name="Google Shape;110;p19"/>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You bring the </a:t>
            </a:r>
            <a:r>
              <a:rPr b="1" lang="en" sz="2400">
                <a:solidFill>
                  <a:srgbClr val="D15A12"/>
                </a:solidFill>
                <a:latin typeface="Comic Sans MS"/>
                <a:ea typeface="Comic Sans MS"/>
                <a:cs typeface="Comic Sans MS"/>
                <a:sym typeface="Comic Sans MS"/>
              </a:rPr>
              <a:t>battery home</a:t>
            </a:r>
            <a:r>
              <a:rPr b="1" lang="en" sz="2400">
                <a:solidFill>
                  <a:srgbClr val="434343"/>
                </a:solidFill>
                <a:latin typeface="Comic Sans MS"/>
                <a:ea typeface="Comic Sans MS"/>
                <a:cs typeface="Comic Sans MS"/>
                <a:sym typeface="Comic Sans MS"/>
              </a:rPr>
              <a:t>, replace the old battery with the new battery and everything starts working </a:t>
            </a:r>
            <a:r>
              <a:rPr b="1" lang="en" sz="2400">
                <a:solidFill>
                  <a:srgbClr val="D15A12"/>
                </a:solidFill>
                <a:latin typeface="Comic Sans MS"/>
                <a:ea typeface="Comic Sans MS"/>
                <a:cs typeface="Comic Sans MS"/>
                <a:sym typeface="Comic Sans MS"/>
              </a:rPr>
              <a:t>fine</a:t>
            </a:r>
            <a:r>
              <a:rPr b="1" lang="en" sz="2400">
                <a:solidFill>
                  <a:srgbClr val="434343"/>
                </a:solidFill>
                <a:latin typeface="Comic Sans MS"/>
                <a:ea typeface="Comic Sans MS"/>
                <a:cs typeface="Comic Sans MS"/>
                <a:sym typeface="Comic Sans MS"/>
              </a:rPr>
              <a:t>.</a:t>
            </a:r>
            <a:endParaRPr b="1" sz="2400">
              <a:solidFill>
                <a:srgbClr val="434343"/>
              </a:solidFill>
              <a:latin typeface="Comic Sans MS"/>
              <a:ea typeface="Comic Sans MS"/>
              <a:cs typeface="Comic Sans MS"/>
              <a:sym typeface="Comic Sans MS"/>
            </a:endParaRPr>
          </a:p>
        </p:txBody>
      </p:sp>
      <p:pic>
        <p:nvPicPr>
          <p:cNvPr id="111" name="Google Shape;111;p19"/>
          <p:cNvPicPr preferRelativeResize="0"/>
          <p:nvPr/>
        </p:nvPicPr>
        <p:blipFill>
          <a:blip r:embed="rId3">
            <a:alphaModFix/>
          </a:blip>
          <a:stretch>
            <a:fillRect/>
          </a:stretch>
        </p:blipFill>
        <p:spPr>
          <a:xfrm>
            <a:off x="2872063" y="2571750"/>
            <a:ext cx="3399875" cy="2124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1000"/>
                                        <p:tgtEl>
                                          <p:spTgt spid="1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18" name="Google Shape;118;p20"/>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19" name="Google Shape;119;p20"/>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120" name="Google Shape;120;p20"/>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Real life Scenario 02</a:t>
            </a:r>
            <a:endParaRPr b="1" sz="3600">
              <a:solidFill>
                <a:srgbClr val="434343"/>
              </a:solidFill>
              <a:latin typeface="Comic Sans MS"/>
              <a:ea typeface="Comic Sans MS"/>
              <a:cs typeface="Comic Sans MS"/>
              <a:sym typeface="Comic Sans MS"/>
            </a:endParaRPr>
          </a:p>
        </p:txBody>
      </p:sp>
      <p:sp>
        <p:nvSpPr>
          <p:cNvPr id="121" name="Google Shape;121;p20"/>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Now, again suppose your </a:t>
            </a:r>
            <a:r>
              <a:rPr b="1" lang="en" sz="2400">
                <a:solidFill>
                  <a:srgbClr val="D15A12"/>
                </a:solidFill>
                <a:latin typeface="Comic Sans MS"/>
                <a:ea typeface="Comic Sans MS"/>
                <a:cs typeface="Comic Sans MS"/>
                <a:sym typeface="Comic Sans MS"/>
              </a:rPr>
              <a:t>laptop battery</a:t>
            </a:r>
            <a:r>
              <a:rPr b="1" lang="en" sz="2400">
                <a:solidFill>
                  <a:srgbClr val="434343"/>
                </a:solidFill>
                <a:latin typeface="Comic Sans MS"/>
                <a:ea typeface="Comic Sans MS"/>
                <a:cs typeface="Comic Sans MS"/>
                <a:sym typeface="Comic Sans MS"/>
              </a:rPr>
              <a:t> is damaged and you want to buy a new battery.</a:t>
            </a:r>
            <a:endParaRPr b="1" sz="2400">
              <a:solidFill>
                <a:srgbClr val="434343"/>
              </a:solidFill>
              <a:latin typeface="Comic Sans MS"/>
              <a:ea typeface="Comic Sans MS"/>
              <a:cs typeface="Comic Sans MS"/>
              <a:sym typeface="Comic Sans MS"/>
            </a:endParaRPr>
          </a:p>
        </p:txBody>
      </p:sp>
      <p:pic>
        <p:nvPicPr>
          <p:cNvPr id="122" name="Google Shape;122;p20"/>
          <p:cNvPicPr preferRelativeResize="0"/>
          <p:nvPr/>
        </p:nvPicPr>
        <p:blipFill>
          <a:blip r:embed="rId3">
            <a:alphaModFix/>
          </a:blip>
          <a:stretch>
            <a:fillRect/>
          </a:stretch>
        </p:blipFill>
        <p:spPr>
          <a:xfrm>
            <a:off x="2286000" y="2247900"/>
            <a:ext cx="4572000" cy="2781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1"/>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29" name="Google Shape;129;p21"/>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30" name="Google Shape;130;p21"/>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131" name="Google Shape;131;p21"/>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Real life Scenario 02</a:t>
            </a:r>
            <a:endParaRPr b="1" sz="3600">
              <a:solidFill>
                <a:srgbClr val="434343"/>
              </a:solidFill>
              <a:latin typeface="Comic Sans MS"/>
              <a:ea typeface="Comic Sans MS"/>
              <a:cs typeface="Comic Sans MS"/>
              <a:sym typeface="Comic Sans MS"/>
            </a:endParaRPr>
          </a:p>
        </p:txBody>
      </p:sp>
      <p:sp>
        <p:nvSpPr>
          <p:cNvPr id="132" name="Google Shape;132;p21"/>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Now, in this scenario you just </a:t>
            </a:r>
            <a:r>
              <a:rPr b="1" lang="en" sz="2400">
                <a:solidFill>
                  <a:srgbClr val="D15A12"/>
                </a:solidFill>
                <a:latin typeface="Comic Sans MS"/>
                <a:ea typeface="Comic Sans MS"/>
                <a:cs typeface="Comic Sans MS"/>
                <a:sym typeface="Comic Sans MS"/>
              </a:rPr>
              <a:t>call</a:t>
            </a:r>
            <a:r>
              <a:rPr b="1" lang="en" sz="2400">
                <a:solidFill>
                  <a:srgbClr val="434343"/>
                </a:solidFill>
                <a:latin typeface="Comic Sans MS"/>
                <a:ea typeface="Comic Sans MS"/>
                <a:cs typeface="Comic Sans MS"/>
                <a:sym typeface="Comic Sans MS"/>
              </a:rPr>
              <a:t> the Shop Center and tell them your </a:t>
            </a:r>
            <a:r>
              <a:rPr b="1" lang="en" sz="2400">
                <a:solidFill>
                  <a:srgbClr val="D15A12"/>
                </a:solidFill>
                <a:latin typeface="Comic Sans MS"/>
                <a:ea typeface="Comic Sans MS"/>
                <a:cs typeface="Comic Sans MS"/>
                <a:sym typeface="Comic Sans MS"/>
              </a:rPr>
              <a:t>house</a:t>
            </a:r>
            <a:r>
              <a:rPr b="1" lang="en" sz="2400">
                <a:solidFill>
                  <a:srgbClr val="434343"/>
                </a:solidFill>
                <a:latin typeface="Comic Sans MS"/>
                <a:ea typeface="Comic Sans MS"/>
                <a:cs typeface="Comic Sans MS"/>
                <a:sym typeface="Comic Sans MS"/>
              </a:rPr>
              <a:t> </a:t>
            </a:r>
            <a:r>
              <a:rPr b="1" lang="en" sz="2400">
                <a:solidFill>
                  <a:srgbClr val="D15A12"/>
                </a:solidFill>
                <a:latin typeface="Comic Sans MS"/>
                <a:ea typeface="Comic Sans MS"/>
                <a:cs typeface="Comic Sans MS"/>
                <a:sym typeface="Comic Sans MS"/>
              </a:rPr>
              <a:t>address</a:t>
            </a:r>
            <a:r>
              <a:rPr b="1" lang="en" sz="2400">
                <a:solidFill>
                  <a:srgbClr val="434343"/>
                </a:solidFill>
                <a:latin typeface="Comic Sans MS"/>
                <a:ea typeface="Comic Sans MS"/>
                <a:cs typeface="Comic Sans MS"/>
                <a:sym typeface="Comic Sans MS"/>
              </a:rPr>
              <a:t> and they come and fix your laptop.</a:t>
            </a:r>
            <a:endParaRPr b="1" sz="2400">
              <a:solidFill>
                <a:srgbClr val="434343"/>
              </a:solidFill>
              <a:latin typeface="Comic Sans MS"/>
              <a:ea typeface="Comic Sans MS"/>
              <a:cs typeface="Comic Sans MS"/>
              <a:sym typeface="Comic Sans MS"/>
            </a:endParaRPr>
          </a:p>
        </p:txBody>
      </p:sp>
      <p:pic>
        <p:nvPicPr>
          <p:cNvPr id="133" name="Google Shape;133;p21"/>
          <p:cNvPicPr preferRelativeResize="0"/>
          <p:nvPr/>
        </p:nvPicPr>
        <p:blipFill>
          <a:blip r:embed="rId3">
            <a:alphaModFix/>
          </a:blip>
          <a:stretch>
            <a:fillRect/>
          </a:stretch>
        </p:blipFill>
        <p:spPr>
          <a:xfrm>
            <a:off x="2872063" y="2571750"/>
            <a:ext cx="3399875" cy="2124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40" name="Google Shape;140;p22"/>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41" name="Google Shape;141;p22"/>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142" name="Google Shape;142;p22"/>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In C++</a:t>
            </a:r>
            <a:endParaRPr b="1" sz="3600">
              <a:solidFill>
                <a:srgbClr val="434343"/>
              </a:solidFill>
              <a:latin typeface="Comic Sans MS"/>
              <a:ea typeface="Comic Sans MS"/>
              <a:cs typeface="Comic Sans MS"/>
              <a:sym typeface="Comic Sans MS"/>
            </a:endParaRPr>
          </a:p>
        </p:txBody>
      </p:sp>
      <p:sp>
        <p:nvSpPr>
          <p:cNvPr id="143" name="Google Shape;143;p22"/>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Similarly, in C++, we can pass the complete </a:t>
            </a:r>
            <a:r>
              <a:rPr b="1" lang="en" sz="2400">
                <a:solidFill>
                  <a:srgbClr val="D15A12"/>
                </a:solidFill>
                <a:latin typeface="Comic Sans MS"/>
                <a:ea typeface="Comic Sans MS"/>
                <a:cs typeface="Comic Sans MS"/>
                <a:sym typeface="Comic Sans MS"/>
              </a:rPr>
              <a:t>variables</a:t>
            </a:r>
            <a:r>
              <a:rPr b="1" lang="en" sz="2400">
                <a:solidFill>
                  <a:srgbClr val="434343"/>
                </a:solidFill>
                <a:latin typeface="Comic Sans MS"/>
                <a:ea typeface="Comic Sans MS"/>
                <a:cs typeface="Comic Sans MS"/>
                <a:sym typeface="Comic Sans MS"/>
              </a:rPr>
              <a:t> to the functions (</a:t>
            </a:r>
            <a:r>
              <a:rPr b="1" lang="en" sz="2400">
                <a:solidFill>
                  <a:srgbClr val="D15A12"/>
                </a:solidFill>
                <a:latin typeface="Comic Sans MS"/>
                <a:ea typeface="Comic Sans MS"/>
                <a:cs typeface="Comic Sans MS"/>
                <a:sym typeface="Comic Sans MS"/>
              </a:rPr>
              <a:t>Pass by Value</a:t>
            </a:r>
            <a:r>
              <a:rPr b="1" lang="en" sz="2400">
                <a:solidFill>
                  <a:srgbClr val="434343"/>
                </a:solidFill>
                <a:latin typeface="Comic Sans MS"/>
                <a:ea typeface="Comic Sans MS"/>
                <a:cs typeface="Comic Sans MS"/>
                <a:sym typeface="Comic Sans MS"/>
              </a:rPr>
              <a:t>) or we can just pass the address of the variable (</a:t>
            </a:r>
            <a:r>
              <a:rPr b="1" lang="en" sz="2400">
                <a:solidFill>
                  <a:srgbClr val="D15A12"/>
                </a:solidFill>
                <a:latin typeface="Comic Sans MS"/>
                <a:ea typeface="Comic Sans MS"/>
                <a:cs typeface="Comic Sans MS"/>
                <a:sym typeface="Comic Sans MS"/>
              </a:rPr>
              <a:t>Pass by Reference</a:t>
            </a:r>
            <a:r>
              <a:rPr b="1" lang="en" sz="2400">
                <a:solidFill>
                  <a:srgbClr val="434343"/>
                </a:solidFill>
                <a:latin typeface="Comic Sans MS"/>
                <a:ea typeface="Comic Sans MS"/>
                <a:cs typeface="Comic Sans MS"/>
                <a:sym typeface="Comic Sans MS"/>
              </a:rPr>
              <a:t>).</a:t>
            </a:r>
            <a:endParaRPr b="1" sz="2400">
              <a:solidFill>
                <a:srgbClr val="434343"/>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50" name="Google Shape;150;p23"/>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51" name="Google Shape;151;p23"/>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152" name="Google Shape;152;p23"/>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In C++</a:t>
            </a:r>
            <a:endParaRPr b="1" sz="3600">
              <a:solidFill>
                <a:srgbClr val="434343"/>
              </a:solidFill>
              <a:latin typeface="Comic Sans MS"/>
              <a:ea typeface="Comic Sans MS"/>
              <a:cs typeface="Comic Sans MS"/>
              <a:sym typeface="Comic Sans MS"/>
            </a:endParaRPr>
          </a:p>
        </p:txBody>
      </p:sp>
      <p:sp>
        <p:nvSpPr>
          <p:cNvPr id="153" name="Google Shape;153;p23"/>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Previously, we have already seen how we can pass the complete </a:t>
            </a:r>
            <a:r>
              <a:rPr b="1" lang="en" sz="2400">
                <a:solidFill>
                  <a:srgbClr val="D15A12"/>
                </a:solidFill>
                <a:latin typeface="Comic Sans MS"/>
                <a:ea typeface="Comic Sans MS"/>
                <a:cs typeface="Comic Sans MS"/>
                <a:sym typeface="Comic Sans MS"/>
              </a:rPr>
              <a:t>variables</a:t>
            </a:r>
            <a:r>
              <a:rPr b="1" lang="en" sz="2400">
                <a:solidFill>
                  <a:srgbClr val="434343"/>
                </a:solidFill>
                <a:latin typeface="Comic Sans MS"/>
                <a:ea typeface="Comic Sans MS"/>
                <a:cs typeface="Comic Sans MS"/>
                <a:sym typeface="Comic Sans MS"/>
              </a:rPr>
              <a:t> to the functions (</a:t>
            </a:r>
            <a:r>
              <a:rPr b="1" lang="en" sz="2400">
                <a:solidFill>
                  <a:srgbClr val="D15A12"/>
                </a:solidFill>
                <a:latin typeface="Comic Sans MS"/>
                <a:ea typeface="Comic Sans MS"/>
                <a:cs typeface="Comic Sans MS"/>
                <a:sym typeface="Comic Sans MS"/>
              </a:rPr>
              <a:t>Pass by Value</a:t>
            </a:r>
            <a:r>
              <a:rPr b="1" lang="en" sz="2400">
                <a:solidFill>
                  <a:srgbClr val="434343"/>
                </a:solidFill>
                <a:latin typeface="Comic Sans MS"/>
                <a:ea typeface="Comic Sans MS"/>
                <a:cs typeface="Comic Sans MS"/>
                <a:sym typeface="Comic Sans MS"/>
              </a:rPr>
              <a:t>).</a:t>
            </a:r>
            <a:endParaRPr b="1" sz="2400">
              <a:solidFill>
                <a:srgbClr val="434343"/>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ctrTitle"/>
          </p:nvPr>
        </p:nvSpPr>
        <p:spPr>
          <a:xfrm>
            <a:off x="0" y="0"/>
            <a:ext cx="9144000" cy="790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b="1" lang="en" sz="3300">
                <a:solidFill>
                  <a:srgbClr val="404040"/>
                </a:solidFill>
                <a:latin typeface="Comic Sans MS"/>
                <a:ea typeface="Comic Sans MS"/>
                <a:cs typeface="Comic Sans MS"/>
                <a:sym typeface="Comic Sans MS"/>
              </a:rPr>
              <a:t>   Review: Function in </a:t>
            </a:r>
            <a:r>
              <a:rPr b="1" lang="en" sz="3300">
                <a:solidFill>
                  <a:srgbClr val="D15A12"/>
                </a:solidFill>
                <a:latin typeface="Comic Sans MS"/>
                <a:ea typeface="Comic Sans MS"/>
                <a:cs typeface="Comic Sans MS"/>
                <a:sym typeface="Comic Sans MS"/>
              </a:rPr>
              <a:t>C++</a:t>
            </a:r>
            <a:endParaRPr b="1" sz="2600">
              <a:solidFill>
                <a:srgbClr val="D15A12"/>
              </a:solidFill>
              <a:latin typeface="Comic Sans MS"/>
              <a:ea typeface="Comic Sans MS"/>
              <a:cs typeface="Comic Sans MS"/>
              <a:sym typeface="Comic Sans MS"/>
            </a:endParaRPr>
          </a:p>
        </p:txBody>
      </p:sp>
      <p:cxnSp>
        <p:nvCxnSpPr>
          <p:cNvPr id="159" name="Google Shape;159;p24"/>
          <p:cNvCxnSpPr/>
          <p:nvPr/>
        </p:nvCxnSpPr>
        <p:spPr>
          <a:xfrm>
            <a:off x="375500" y="123950"/>
            <a:ext cx="0" cy="570000"/>
          </a:xfrm>
          <a:prstGeom prst="straightConnector1">
            <a:avLst/>
          </a:prstGeom>
          <a:noFill/>
          <a:ln cap="flat" cmpd="sng" w="38100">
            <a:solidFill>
              <a:srgbClr val="D15A12"/>
            </a:solidFill>
            <a:prstDash val="solid"/>
            <a:round/>
            <a:headEnd len="sm" w="sm" type="none"/>
            <a:tailEnd len="sm" w="sm" type="none"/>
          </a:ln>
        </p:spPr>
      </p:cxnSp>
      <p:cxnSp>
        <p:nvCxnSpPr>
          <p:cNvPr id="160" name="Google Shape;160;p24"/>
          <p:cNvCxnSpPr/>
          <p:nvPr/>
        </p:nvCxnSpPr>
        <p:spPr>
          <a:xfrm>
            <a:off x="299300" y="47750"/>
            <a:ext cx="0" cy="570000"/>
          </a:xfrm>
          <a:prstGeom prst="straightConnector1">
            <a:avLst/>
          </a:prstGeom>
          <a:noFill/>
          <a:ln cap="flat" cmpd="sng" w="38100">
            <a:solidFill>
              <a:schemeClr val="dk2"/>
            </a:solidFill>
            <a:prstDash val="solid"/>
            <a:round/>
            <a:headEnd len="sm" w="sm" type="none"/>
            <a:tailEnd len="sm" w="sm" type="none"/>
          </a:ln>
        </p:spPr>
      </p:cxnSp>
      <p:sp>
        <p:nvSpPr>
          <p:cNvPr id="161" name="Google Shape;161;p24"/>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2" name="Google Shape;162;p24"/>
          <p:cNvSpPr txBox="1"/>
          <p:nvPr/>
        </p:nvSpPr>
        <p:spPr>
          <a:xfrm>
            <a:off x="552400" y="930375"/>
            <a:ext cx="8591700" cy="10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04040"/>
                </a:solidFill>
                <a:latin typeface="Comic Sans MS"/>
                <a:ea typeface="Comic Sans MS"/>
                <a:cs typeface="Comic Sans MS"/>
                <a:sym typeface="Comic Sans MS"/>
              </a:rPr>
              <a:t>Previously, we have written the function</a:t>
            </a:r>
            <a:br>
              <a:rPr b="1" lang="en" sz="2800">
                <a:solidFill>
                  <a:srgbClr val="404040"/>
                </a:solidFill>
                <a:latin typeface="Comic Sans MS"/>
                <a:ea typeface="Comic Sans MS"/>
                <a:cs typeface="Comic Sans MS"/>
                <a:sym typeface="Comic Sans MS"/>
              </a:rPr>
            </a:br>
            <a:r>
              <a:rPr b="1" lang="en" sz="2800">
                <a:solidFill>
                  <a:srgbClr val="404040"/>
                </a:solidFill>
                <a:latin typeface="Comic Sans MS"/>
                <a:ea typeface="Comic Sans MS"/>
                <a:cs typeface="Comic Sans MS"/>
                <a:sym typeface="Comic Sans MS"/>
              </a:rPr>
              <a:t>of </a:t>
            </a:r>
            <a:r>
              <a:rPr b="1" lang="en" sz="2800">
                <a:solidFill>
                  <a:srgbClr val="D15A12"/>
                </a:solidFill>
                <a:latin typeface="Comic Sans MS"/>
                <a:ea typeface="Comic Sans MS"/>
                <a:cs typeface="Comic Sans MS"/>
                <a:sym typeface="Comic Sans MS"/>
              </a:rPr>
              <a:t>Addition</a:t>
            </a:r>
            <a:r>
              <a:rPr b="1" lang="en" sz="2800">
                <a:solidFill>
                  <a:srgbClr val="404040"/>
                </a:solidFill>
                <a:latin typeface="Comic Sans MS"/>
                <a:ea typeface="Comic Sans MS"/>
                <a:cs typeface="Comic Sans MS"/>
                <a:sym typeface="Comic Sans MS"/>
              </a:rPr>
              <a:t>.</a:t>
            </a:r>
            <a:endParaRPr b="1" sz="2800">
              <a:solidFill>
                <a:srgbClr val="404040"/>
              </a:solidFill>
              <a:latin typeface="Comic Sans MS"/>
              <a:ea typeface="Comic Sans MS"/>
              <a:cs typeface="Comic Sans MS"/>
              <a:sym typeface="Comic Sans MS"/>
            </a:endParaRPr>
          </a:p>
        </p:txBody>
      </p:sp>
      <p:graphicFrame>
        <p:nvGraphicFramePr>
          <p:cNvPr id="163" name="Google Shape;163;p24"/>
          <p:cNvGraphicFramePr/>
          <p:nvPr/>
        </p:nvGraphicFramePr>
        <p:xfrm>
          <a:off x="2208088" y="2382825"/>
          <a:ext cx="3000000" cy="3000000"/>
        </p:xfrm>
        <a:graphic>
          <a:graphicData uri="http://schemas.openxmlformats.org/drawingml/2006/table">
            <a:tbl>
              <a:tblPr>
                <a:noFill/>
                <a:tableStyleId>{0E775C3B-ED88-47DF-BCA5-81FE39E699D0}</a:tableStyleId>
              </a:tblPr>
              <a:tblGrid>
                <a:gridCol w="489575"/>
                <a:gridCol w="4238225"/>
              </a:tblGrid>
              <a:tr h="12700">
                <a:tc>
                  <a:txBody>
                    <a:bodyPr/>
                    <a:lstStyle/>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1</a:t>
                      </a:r>
                      <a:endParaRPr b="1" sz="1600">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2</a:t>
                      </a:r>
                      <a:endParaRPr b="1" sz="1600">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3</a:t>
                      </a:r>
                      <a:endParaRPr b="1" sz="1600">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4</a:t>
                      </a:r>
                      <a:endParaRPr b="1" sz="1600">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5</a:t>
                      </a:r>
                      <a:endParaRPr b="1" sz="1600"/>
                    </a:p>
                  </a:txBody>
                  <a:tcPr marT="63500" marB="63500" marR="63500" marL="63500"/>
                </a:tc>
                <a:tc>
                  <a:txBody>
                    <a:bodyPr/>
                    <a:lstStyle/>
                    <a:p>
                      <a:pPr indent="0" lvl="0" marL="0" rtl="0" algn="l">
                        <a:lnSpc>
                          <a:spcPct val="135714"/>
                        </a:lnSpc>
                        <a:spcBef>
                          <a:spcPts val="0"/>
                        </a:spcBef>
                        <a:spcAft>
                          <a:spcPts val="0"/>
                        </a:spcAft>
                        <a:buClr>
                          <a:schemeClr val="dk1"/>
                        </a:buClr>
                        <a:buSzPts val="1100"/>
                        <a:buFont typeface="Arial"/>
                        <a:buNone/>
                      </a:pP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addition(</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num1,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sum = num1 +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return</a:t>
                      </a:r>
                      <a:r>
                        <a:rPr b="1" lang="en" sz="1550">
                          <a:solidFill>
                            <a:schemeClr val="dk1"/>
                          </a:solidFill>
                          <a:highlight>
                            <a:srgbClr val="FFFFFF"/>
                          </a:highlight>
                          <a:latin typeface="Courier New"/>
                          <a:ea typeface="Courier New"/>
                          <a:cs typeface="Courier New"/>
                          <a:sym typeface="Courier New"/>
                        </a:rPr>
                        <a:t> sum;</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550">
                          <a:solidFill>
                            <a:schemeClr val="dk1"/>
                          </a:solidFill>
                          <a:highlight>
                            <a:srgbClr val="FFFFFF"/>
                          </a:highlight>
                          <a:latin typeface="Courier New"/>
                          <a:ea typeface="Courier New"/>
                          <a:cs typeface="Courier New"/>
                          <a:sym typeface="Courier New"/>
                        </a:rPr>
                        <a:t>}</a:t>
                      </a:r>
                      <a:endParaRPr b="1" sz="1600">
                        <a:solidFill>
                          <a:srgbClr val="AF00DB"/>
                        </a:solidFill>
                        <a:latin typeface="Courier New"/>
                        <a:ea typeface="Courier New"/>
                        <a:cs typeface="Courier New"/>
                        <a:sym typeface="Courier New"/>
                      </a:endParaRPr>
                    </a:p>
                  </a:txBody>
                  <a:tcPr marT="63500" marB="63500" marR="63500" marL="63500"/>
                </a:tc>
              </a:tr>
            </a:tbl>
          </a:graphicData>
        </a:graphic>
      </p:graphicFrame>
      <p:pic>
        <p:nvPicPr>
          <p:cNvPr id="164" name="Google Shape;164;p24"/>
          <p:cNvPicPr preferRelativeResize="0"/>
          <p:nvPr/>
        </p:nvPicPr>
        <p:blipFill>
          <a:blip r:embed="rId3">
            <a:alphaModFix/>
          </a:blip>
          <a:stretch>
            <a:fillRect/>
          </a:stretch>
        </p:blipFill>
        <p:spPr>
          <a:xfrm>
            <a:off x="7709175" y="0"/>
            <a:ext cx="1434925" cy="1427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71" name="Google Shape;171;p25"/>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72" name="Google Shape;172;p25"/>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173" name="Google Shape;173;p25"/>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Variables: </a:t>
            </a:r>
            <a:r>
              <a:rPr b="1" lang="en" sz="3600">
                <a:solidFill>
                  <a:srgbClr val="434343"/>
                </a:solidFill>
                <a:latin typeface="Comic Sans MS"/>
                <a:ea typeface="Comic Sans MS"/>
                <a:cs typeface="Comic Sans MS"/>
                <a:sym typeface="Comic Sans MS"/>
              </a:rPr>
              <a:t>Passing by Value</a:t>
            </a:r>
            <a:endParaRPr b="1" sz="3600">
              <a:solidFill>
                <a:srgbClr val="434343"/>
              </a:solidFill>
              <a:latin typeface="Comic Sans MS"/>
              <a:ea typeface="Comic Sans MS"/>
              <a:cs typeface="Comic Sans MS"/>
              <a:sym typeface="Comic Sans MS"/>
            </a:endParaRPr>
          </a:p>
        </p:txBody>
      </p:sp>
      <p:graphicFrame>
        <p:nvGraphicFramePr>
          <p:cNvPr id="174" name="Google Shape;174;p25"/>
          <p:cNvGraphicFramePr/>
          <p:nvPr/>
        </p:nvGraphicFramePr>
        <p:xfrm>
          <a:off x="74488" y="2916225"/>
          <a:ext cx="3000000" cy="3000000"/>
        </p:xfrm>
        <a:graphic>
          <a:graphicData uri="http://schemas.openxmlformats.org/drawingml/2006/table">
            <a:tbl>
              <a:tblPr>
                <a:noFill/>
                <a:tableStyleId>{0E775C3B-ED88-47DF-BCA5-81FE39E699D0}</a:tableStyleId>
              </a:tblPr>
              <a:tblGrid>
                <a:gridCol w="401550"/>
                <a:gridCol w="3476275"/>
              </a:tblGrid>
              <a:tr h="12700">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p>
                  </a:txBody>
                  <a:tcPr marT="63500" marB="63500" marR="63500" marL="63500"/>
                </a:tc>
                <a:tc>
                  <a:txBody>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addition(</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num1,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sum = num1 +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return</a:t>
                      </a:r>
                      <a:r>
                        <a:rPr b="1" lang="en" sz="1350">
                          <a:solidFill>
                            <a:srgbClr val="000000"/>
                          </a:solidFill>
                          <a:highlight>
                            <a:srgbClr val="FFFFFF"/>
                          </a:highlight>
                          <a:latin typeface="Courier New"/>
                          <a:ea typeface="Courier New"/>
                          <a:cs typeface="Courier New"/>
                          <a:sym typeface="Courier New"/>
                        </a:rPr>
                        <a:t> sum;</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a:solidFill>
                          <a:srgbClr val="AF00DB"/>
                        </a:solidFill>
                        <a:latin typeface="Courier New"/>
                        <a:ea typeface="Courier New"/>
                        <a:cs typeface="Courier New"/>
                        <a:sym typeface="Courier New"/>
                      </a:endParaRPr>
                    </a:p>
                  </a:txBody>
                  <a:tcPr marT="63500" marB="63500" marR="63500" marL="63500"/>
                </a:tc>
              </a:tr>
            </a:tbl>
          </a:graphicData>
        </a:graphic>
      </p:graphicFrame>
      <p:graphicFrame>
        <p:nvGraphicFramePr>
          <p:cNvPr id="175" name="Google Shape;175;p25"/>
          <p:cNvGraphicFramePr/>
          <p:nvPr/>
        </p:nvGraphicFramePr>
        <p:xfrm>
          <a:off x="4188988" y="1883475"/>
          <a:ext cx="3000000" cy="3000000"/>
        </p:xfrm>
        <a:graphic>
          <a:graphicData uri="http://schemas.openxmlformats.org/drawingml/2006/table">
            <a:tbl>
              <a:tblPr>
                <a:noFill/>
                <a:tableStyleId>{0E775C3B-ED88-47DF-BCA5-81FE39E699D0}</a:tableStyleId>
              </a:tblPr>
              <a:tblGrid>
                <a:gridCol w="327000"/>
                <a:gridCol w="4553250"/>
              </a:tblGrid>
              <a:tr h="2786175">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6</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7</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8</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9</a:t>
                      </a:r>
                      <a:endParaRPr b="1">
                        <a:solidFill>
                          <a:srgbClr val="098658"/>
                        </a:solidFill>
                        <a:latin typeface="Courier New"/>
                        <a:ea typeface="Courier New"/>
                        <a:cs typeface="Courier New"/>
                        <a:sym typeface="Courier New"/>
                      </a:endParaRPr>
                    </a:p>
                  </a:txBody>
                  <a:tcPr marT="63500" marB="63500" marR="63500" marL="63500"/>
                </a:tc>
                <a:tc>
                  <a:txBody>
                    <a:bodyPr/>
                    <a:lstStyle/>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main(){</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a:t>
                      </a:r>
                      <a:r>
                        <a:rPr b="1" lang="en">
                          <a:solidFill>
                            <a:srgbClr val="0000FF"/>
                          </a:solidFill>
                          <a:highlight>
                            <a:srgbClr val="FFFFFF"/>
                          </a:highlight>
                          <a:latin typeface="Courier New"/>
                          <a:ea typeface="Courier New"/>
                          <a:cs typeface="Courier New"/>
                          <a:sym typeface="Courier New"/>
                        </a:rPr>
                        <a:t>int</a:t>
                      </a:r>
                      <a:r>
                        <a:rPr b="1" lang="en">
                          <a:solidFill>
                            <a:srgbClr val="000000"/>
                          </a:solidFill>
                          <a:highlight>
                            <a:srgbClr val="FFFFFF"/>
                          </a:highlight>
                          <a:latin typeface="Courier New"/>
                          <a:ea typeface="Courier New"/>
                          <a:cs typeface="Courier New"/>
                          <a:sym typeface="Courier New"/>
                        </a:rPr>
                        <a:t> number1, number2,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First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number1;</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Second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result = addition(number1,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"Sum is: "</a:t>
                      </a:r>
                      <a:r>
                        <a:rPr b="1" lang="en">
                          <a:solidFill>
                            <a:srgbClr val="000000"/>
                          </a:solidFill>
                          <a:highlight>
                            <a:srgbClr val="FFFFFF"/>
                          </a:highlight>
                          <a:latin typeface="Courier New"/>
                          <a:ea typeface="Courier New"/>
                          <a:cs typeface="Courier New"/>
                          <a:sym typeface="Courier New"/>
                        </a:rPr>
                        <a:t> &lt;&lt;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a:t>
                      </a:r>
                      <a:endParaRPr b="1">
                        <a:solidFill>
                          <a:srgbClr val="0000FF"/>
                        </a:solidFill>
                        <a:highlight>
                          <a:srgbClr val="FFFFFF"/>
                        </a:highlight>
                        <a:latin typeface="Courier New"/>
                        <a:ea typeface="Courier New"/>
                        <a:cs typeface="Courier New"/>
                        <a:sym typeface="Courier New"/>
                      </a:endParaRPr>
                    </a:p>
                  </a:txBody>
                  <a:tcPr marT="63500" marB="63500" marR="63500" marL="63500"/>
                </a:tc>
              </a:tr>
            </a:tbl>
          </a:graphicData>
        </a:graphic>
      </p:graphicFrame>
      <p:sp>
        <p:nvSpPr>
          <p:cNvPr id="176" name="Google Shape;176;p25"/>
          <p:cNvSpPr/>
          <p:nvPr/>
        </p:nvSpPr>
        <p:spPr>
          <a:xfrm>
            <a:off x="4754950" y="3642700"/>
            <a:ext cx="4196400" cy="2880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7" name="Google Shape;177;p25"/>
          <p:cNvCxnSpPr>
            <a:stCxn id="176" idx="1"/>
          </p:cNvCxnSpPr>
          <p:nvPr/>
        </p:nvCxnSpPr>
        <p:spPr>
          <a:xfrm rot="10800000">
            <a:off x="1490950" y="3313000"/>
            <a:ext cx="3264000" cy="473700"/>
          </a:xfrm>
          <a:prstGeom prst="straightConnector1">
            <a:avLst/>
          </a:prstGeom>
          <a:noFill/>
          <a:ln cap="flat" cmpd="sng" w="28575">
            <a:solidFill>
              <a:srgbClr val="980000"/>
            </a:solidFill>
            <a:prstDash val="solid"/>
            <a:round/>
            <a:headEnd len="med" w="med" type="none"/>
            <a:tailEnd len="med" w="med" type="triangle"/>
          </a:ln>
        </p:spPr>
      </p:cxnSp>
      <p:sp>
        <p:nvSpPr>
          <p:cNvPr id="178" name="Google Shape;178;p25"/>
          <p:cNvSpPr txBox="1"/>
          <p:nvPr/>
        </p:nvSpPr>
        <p:spPr>
          <a:xfrm>
            <a:off x="2430525" y="4367513"/>
            <a:ext cx="1887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Function Call</a:t>
            </a:r>
            <a:endParaRPr b="1" sz="2000">
              <a:solidFill>
                <a:srgbClr val="404040"/>
              </a:solidFill>
              <a:latin typeface="Comic Sans MS"/>
              <a:ea typeface="Comic Sans MS"/>
              <a:cs typeface="Comic Sans MS"/>
              <a:sym typeface="Comic Sans MS"/>
            </a:endParaRPr>
          </a:p>
        </p:txBody>
      </p:sp>
      <p:cxnSp>
        <p:nvCxnSpPr>
          <p:cNvPr id="179" name="Google Shape;179;p25"/>
          <p:cNvCxnSpPr/>
          <p:nvPr/>
        </p:nvCxnSpPr>
        <p:spPr>
          <a:xfrm>
            <a:off x="8630775" y="2331325"/>
            <a:ext cx="12600" cy="1209600"/>
          </a:xfrm>
          <a:prstGeom prst="straightConnector1">
            <a:avLst/>
          </a:prstGeom>
          <a:noFill/>
          <a:ln cap="flat" cmpd="sng" w="28575">
            <a:solidFill>
              <a:srgbClr val="980000"/>
            </a:solidFill>
            <a:prstDash val="solid"/>
            <a:round/>
            <a:headEnd len="med" w="med" type="none"/>
            <a:tailEnd len="med" w="med" type="triangle"/>
          </a:ln>
        </p:spPr>
      </p:cxnSp>
      <p:sp>
        <p:nvSpPr>
          <p:cNvPr id="180" name="Google Shape;180;p25"/>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5"/>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700">
              <a:solidFill>
                <a:srgbClr val="D15A12"/>
              </a:solidFill>
              <a:latin typeface="Comic Sans MS"/>
              <a:ea typeface="Comic Sans MS"/>
              <a:cs typeface="Comic Sans MS"/>
              <a:sym typeface="Comic Sans MS"/>
            </a:endParaRPr>
          </a:p>
        </p:txBody>
      </p:sp>
      <p:sp>
        <p:nvSpPr>
          <p:cNvPr id="182" name="Google Shape;182;p25"/>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t/>
            </a:r>
            <a:endParaRPr b="1" sz="1700">
              <a:solidFill>
                <a:srgbClr val="D15A12"/>
              </a:solidFill>
              <a:latin typeface="Comic Sans MS"/>
              <a:ea typeface="Comic Sans MS"/>
              <a:cs typeface="Comic Sans MS"/>
              <a:sym typeface="Comic Sans MS"/>
            </a:endParaRPr>
          </a:p>
        </p:txBody>
      </p:sp>
      <p:sp>
        <p:nvSpPr>
          <p:cNvPr id="183" name="Google Shape;183;p25"/>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a:p>
        </p:txBody>
      </p:sp>
      <p:sp>
        <p:nvSpPr>
          <p:cNvPr id="184" name="Google Shape;184;p25"/>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185" name="Google Shape;185;p25"/>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186" name="Google Shape;186;p25"/>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187" name="Google Shape;187;p25"/>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188" name="Google Shape;188;p25"/>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189" name="Google Shape;189;p25"/>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a:p>
        </p:txBody>
      </p:sp>
      <p:sp>
        <p:nvSpPr>
          <p:cNvPr id="190" name="Google Shape;190;p25"/>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191" name="Google Shape;191;p25"/>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6"/>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98" name="Google Shape;198;p26"/>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99" name="Google Shape;199;p26"/>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200" name="Google Shape;200;p26"/>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Variables: </a:t>
            </a:r>
            <a:r>
              <a:rPr b="1" lang="en" sz="3600">
                <a:solidFill>
                  <a:srgbClr val="434343"/>
                </a:solidFill>
                <a:latin typeface="Comic Sans MS"/>
                <a:ea typeface="Comic Sans MS"/>
                <a:cs typeface="Comic Sans MS"/>
                <a:sym typeface="Comic Sans MS"/>
              </a:rPr>
              <a:t>Passing by Value</a:t>
            </a:r>
            <a:endParaRPr b="1" sz="3600">
              <a:solidFill>
                <a:srgbClr val="434343"/>
              </a:solidFill>
              <a:latin typeface="Comic Sans MS"/>
              <a:ea typeface="Comic Sans MS"/>
              <a:cs typeface="Comic Sans MS"/>
              <a:sym typeface="Comic Sans MS"/>
            </a:endParaRPr>
          </a:p>
        </p:txBody>
      </p:sp>
      <p:graphicFrame>
        <p:nvGraphicFramePr>
          <p:cNvPr id="201" name="Google Shape;201;p26"/>
          <p:cNvGraphicFramePr/>
          <p:nvPr/>
        </p:nvGraphicFramePr>
        <p:xfrm>
          <a:off x="74488" y="2916225"/>
          <a:ext cx="3000000" cy="3000000"/>
        </p:xfrm>
        <a:graphic>
          <a:graphicData uri="http://schemas.openxmlformats.org/drawingml/2006/table">
            <a:tbl>
              <a:tblPr>
                <a:noFill/>
                <a:tableStyleId>{0E775C3B-ED88-47DF-BCA5-81FE39E699D0}</a:tableStyleId>
              </a:tblPr>
              <a:tblGrid>
                <a:gridCol w="401550"/>
                <a:gridCol w="3476275"/>
              </a:tblGrid>
              <a:tr h="12700">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p>
                  </a:txBody>
                  <a:tcPr marT="63500" marB="63500" marR="63500" marL="63500"/>
                </a:tc>
                <a:tc>
                  <a:txBody>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addition(</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num1,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sum = num1 +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return</a:t>
                      </a:r>
                      <a:r>
                        <a:rPr b="1" lang="en" sz="1350">
                          <a:solidFill>
                            <a:srgbClr val="000000"/>
                          </a:solidFill>
                          <a:highlight>
                            <a:srgbClr val="FFFFFF"/>
                          </a:highlight>
                          <a:latin typeface="Courier New"/>
                          <a:ea typeface="Courier New"/>
                          <a:cs typeface="Courier New"/>
                          <a:sym typeface="Courier New"/>
                        </a:rPr>
                        <a:t> sum;</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a:solidFill>
                          <a:srgbClr val="AF00DB"/>
                        </a:solidFill>
                        <a:latin typeface="Courier New"/>
                        <a:ea typeface="Courier New"/>
                        <a:cs typeface="Courier New"/>
                        <a:sym typeface="Courier New"/>
                      </a:endParaRPr>
                    </a:p>
                  </a:txBody>
                  <a:tcPr marT="63500" marB="63500" marR="63500" marL="63500"/>
                </a:tc>
              </a:tr>
            </a:tbl>
          </a:graphicData>
        </a:graphic>
      </p:graphicFrame>
      <p:graphicFrame>
        <p:nvGraphicFramePr>
          <p:cNvPr id="202" name="Google Shape;202;p26"/>
          <p:cNvGraphicFramePr/>
          <p:nvPr/>
        </p:nvGraphicFramePr>
        <p:xfrm>
          <a:off x="4188988" y="1883475"/>
          <a:ext cx="3000000" cy="3000000"/>
        </p:xfrm>
        <a:graphic>
          <a:graphicData uri="http://schemas.openxmlformats.org/drawingml/2006/table">
            <a:tbl>
              <a:tblPr>
                <a:noFill/>
                <a:tableStyleId>{0E775C3B-ED88-47DF-BCA5-81FE39E699D0}</a:tableStyleId>
              </a:tblPr>
              <a:tblGrid>
                <a:gridCol w="327000"/>
                <a:gridCol w="4553250"/>
              </a:tblGrid>
              <a:tr h="2786175">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6</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7</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8</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9</a:t>
                      </a:r>
                      <a:endParaRPr b="1">
                        <a:solidFill>
                          <a:srgbClr val="098658"/>
                        </a:solidFill>
                        <a:latin typeface="Courier New"/>
                        <a:ea typeface="Courier New"/>
                        <a:cs typeface="Courier New"/>
                        <a:sym typeface="Courier New"/>
                      </a:endParaRPr>
                    </a:p>
                  </a:txBody>
                  <a:tcPr marT="63500" marB="63500" marR="63500" marL="63500"/>
                </a:tc>
                <a:tc>
                  <a:txBody>
                    <a:bodyPr/>
                    <a:lstStyle/>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main(){</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a:t>
                      </a:r>
                      <a:r>
                        <a:rPr b="1" lang="en">
                          <a:solidFill>
                            <a:srgbClr val="0000FF"/>
                          </a:solidFill>
                          <a:highlight>
                            <a:srgbClr val="FFFFFF"/>
                          </a:highlight>
                          <a:latin typeface="Courier New"/>
                          <a:ea typeface="Courier New"/>
                          <a:cs typeface="Courier New"/>
                          <a:sym typeface="Courier New"/>
                        </a:rPr>
                        <a:t>int</a:t>
                      </a:r>
                      <a:r>
                        <a:rPr b="1" lang="en">
                          <a:solidFill>
                            <a:srgbClr val="000000"/>
                          </a:solidFill>
                          <a:highlight>
                            <a:srgbClr val="FFFFFF"/>
                          </a:highlight>
                          <a:latin typeface="Courier New"/>
                          <a:ea typeface="Courier New"/>
                          <a:cs typeface="Courier New"/>
                          <a:sym typeface="Courier New"/>
                        </a:rPr>
                        <a:t> number1, number2,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First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number1;</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Second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result = addition(number1,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"Sum is: "</a:t>
                      </a:r>
                      <a:r>
                        <a:rPr b="1" lang="en">
                          <a:solidFill>
                            <a:srgbClr val="000000"/>
                          </a:solidFill>
                          <a:highlight>
                            <a:srgbClr val="FFFFFF"/>
                          </a:highlight>
                          <a:latin typeface="Courier New"/>
                          <a:ea typeface="Courier New"/>
                          <a:cs typeface="Courier New"/>
                          <a:sym typeface="Courier New"/>
                        </a:rPr>
                        <a:t> &lt;&lt;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a:t>
                      </a:r>
                      <a:endParaRPr b="1">
                        <a:solidFill>
                          <a:srgbClr val="0000FF"/>
                        </a:solidFill>
                        <a:highlight>
                          <a:srgbClr val="FFFFFF"/>
                        </a:highlight>
                        <a:latin typeface="Courier New"/>
                        <a:ea typeface="Courier New"/>
                        <a:cs typeface="Courier New"/>
                        <a:sym typeface="Courier New"/>
                      </a:endParaRPr>
                    </a:p>
                  </a:txBody>
                  <a:tcPr marT="63500" marB="63500" marR="63500" marL="63500"/>
                </a:tc>
              </a:tr>
            </a:tbl>
          </a:graphicData>
        </a:graphic>
      </p:graphicFrame>
      <p:sp>
        <p:nvSpPr>
          <p:cNvPr id="203" name="Google Shape;203;p26"/>
          <p:cNvSpPr/>
          <p:nvPr/>
        </p:nvSpPr>
        <p:spPr>
          <a:xfrm>
            <a:off x="4754950" y="3642700"/>
            <a:ext cx="4196400" cy="2880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4" name="Google Shape;204;p26"/>
          <p:cNvCxnSpPr>
            <a:stCxn id="203" idx="1"/>
          </p:cNvCxnSpPr>
          <p:nvPr/>
        </p:nvCxnSpPr>
        <p:spPr>
          <a:xfrm rot="10800000">
            <a:off x="1490950" y="3313000"/>
            <a:ext cx="3264000" cy="473700"/>
          </a:xfrm>
          <a:prstGeom prst="straightConnector1">
            <a:avLst/>
          </a:prstGeom>
          <a:noFill/>
          <a:ln cap="flat" cmpd="sng" w="28575">
            <a:solidFill>
              <a:srgbClr val="980000"/>
            </a:solidFill>
            <a:prstDash val="solid"/>
            <a:round/>
            <a:headEnd len="med" w="med" type="none"/>
            <a:tailEnd len="med" w="med" type="triangle"/>
          </a:ln>
        </p:spPr>
      </p:cxnSp>
      <p:sp>
        <p:nvSpPr>
          <p:cNvPr id="205" name="Google Shape;205;p26"/>
          <p:cNvSpPr txBox="1"/>
          <p:nvPr/>
        </p:nvSpPr>
        <p:spPr>
          <a:xfrm>
            <a:off x="2430525" y="4367513"/>
            <a:ext cx="1887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Function Call</a:t>
            </a:r>
            <a:endParaRPr b="1" sz="2000">
              <a:solidFill>
                <a:srgbClr val="404040"/>
              </a:solidFill>
              <a:latin typeface="Comic Sans MS"/>
              <a:ea typeface="Comic Sans MS"/>
              <a:cs typeface="Comic Sans MS"/>
              <a:sym typeface="Comic Sans MS"/>
            </a:endParaRPr>
          </a:p>
        </p:txBody>
      </p:sp>
      <p:cxnSp>
        <p:nvCxnSpPr>
          <p:cNvPr id="206" name="Google Shape;206;p26"/>
          <p:cNvCxnSpPr/>
          <p:nvPr/>
        </p:nvCxnSpPr>
        <p:spPr>
          <a:xfrm>
            <a:off x="8630775" y="2331325"/>
            <a:ext cx="12600" cy="1209600"/>
          </a:xfrm>
          <a:prstGeom prst="straightConnector1">
            <a:avLst/>
          </a:prstGeom>
          <a:noFill/>
          <a:ln cap="flat" cmpd="sng" w="28575">
            <a:solidFill>
              <a:srgbClr val="980000"/>
            </a:solidFill>
            <a:prstDash val="solid"/>
            <a:round/>
            <a:headEnd len="med" w="med" type="none"/>
            <a:tailEnd len="med" w="med" type="triangle"/>
          </a:ln>
        </p:spPr>
      </p:cxnSp>
      <p:sp>
        <p:nvSpPr>
          <p:cNvPr id="207" name="Google Shape;207;p26"/>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6"/>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209" name="Google Shape;209;p26"/>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210" name="Google Shape;210;p26"/>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26"/>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212" name="Google Shape;212;p26"/>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213" name="Google Shape;213;p26"/>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214" name="Google Shape;214;p26"/>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215" name="Google Shape;215;p26"/>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216" name="Google Shape;216;p26"/>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 name="Google Shape;217;p26"/>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218" name="Google Shape;218;p26"/>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7"/>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25" name="Google Shape;225;p27"/>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226" name="Google Shape;226;p27"/>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227" name="Google Shape;227;p27"/>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Variables: </a:t>
            </a:r>
            <a:r>
              <a:rPr b="1" lang="en" sz="3600">
                <a:solidFill>
                  <a:srgbClr val="434343"/>
                </a:solidFill>
                <a:latin typeface="Comic Sans MS"/>
                <a:ea typeface="Comic Sans MS"/>
                <a:cs typeface="Comic Sans MS"/>
                <a:sym typeface="Comic Sans MS"/>
              </a:rPr>
              <a:t>Passing by Value</a:t>
            </a:r>
            <a:endParaRPr b="1" sz="3600">
              <a:solidFill>
                <a:srgbClr val="434343"/>
              </a:solidFill>
              <a:latin typeface="Comic Sans MS"/>
              <a:ea typeface="Comic Sans MS"/>
              <a:cs typeface="Comic Sans MS"/>
              <a:sym typeface="Comic Sans MS"/>
            </a:endParaRPr>
          </a:p>
        </p:txBody>
      </p:sp>
      <p:graphicFrame>
        <p:nvGraphicFramePr>
          <p:cNvPr id="228" name="Google Shape;228;p27"/>
          <p:cNvGraphicFramePr/>
          <p:nvPr/>
        </p:nvGraphicFramePr>
        <p:xfrm>
          <a:off x="74488" y="2916225"/>
          <a:ext cx="3000000" cy="3000000"/>
        </p:xfrm>
        <a:graphic>
          <a:graphicData uri="http://schemas.openxmlformats.org/drawingml/2006/table">
            <a:tbl>
              <a:tblPr>
                <a:noFill/>
                <a:tableStyleId>{0E775C3B-ED88-47DF-BCA5-81FE39E699D0}</a:tableStyleId>
              </a:tblPr>
              <a:tblGrid>
                <a:gridCol w="401550"/>
                <a:gridCol w="3476275"/>
              </a:tblGrid>
              <a:tr h="12700">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p>
                  </a:txBody>
                  <a:tcPr marT="63500" marB="63500" marR="63500" marL="63500"/>
                </a:tc>
                <a:tc>
                  <a:txBody>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addition(</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num1,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sum = num1 +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return</a:t>
                      </a:r>
                      <a:r>
                        <a:rPr b="1" lang="en" sz="1350">
                          <a:solidFill>
                            <a:srgbClr val="000000"/>
                          </a:solidFill>
                          <a:highlight>
                            <a:srgbClr val="FFFFFF"/>
                          </a:highlight>
                          <a:latin typeface="Courier New"/>
                          <a:ea typeface="Courier New"/>
                          <a:cs typeface="Courier New"/>
                          <a:sym typeface="Courier New"/>
                        </a:rPr>
                        <a:t> sum;</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a:solidFill>
                          <a:srgbClr val="AF00DB"/>
                        </a:solidFill>
                        <a:latin typeface="Courier New"/>
                        <a:ea typeface="Courier New"/>
                        <a:cs typeface="Courier New"/>
                        <a:sym typeface="Courier New"/>
                      </a:endParaRPr>
                    </a:p>
                  </a:txBody>
                  <a:tcPr marT="63500" marB="63500" marR="63500" marL="63500"/>
                </a:tc>
              </a:tr>
            </a:tbl>
          </a:graphicData>
        </a:graphic>
      </p:graphicFrame>
      <p:graphicFrame>
        <p:nvGraphicFramePr>
          <p:cNvPr id="229" name="Google Shape;229;p27"/>
          <p:cNvGraphicFramePr/>
          <p:nvPr/>
        </p:nvGraphicFramePr>
        <p:xfrm>
          <a:off x="4188988" y="1883475"/>
          <a:ext cx="3000000" cy="3000000"/>
        </p:xfrm>
        <a:graphic>
          <a:graphicData uri="http://schemas.openxmlformats.org/drawingml/2006/table">
            <a:tbl>
              <a:tblPr>
                <a:noFill/>
                <a:tableStyleId>{0E775C3B-ED88-47DF-BCA5-81FE39E699D0}</a:tableStyleId>
              </a:tblPr>
              <a:tblGrid>
                <a:gridCol w="327000"/>
                <a:gridCol w="4553250"/>
              </a:tblGrid>
              <a:tr h="2786175">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6</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7</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8</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9</a:t>
                      </a:r>
                      <a:endParaRPr b="1">
                        <a:solidFill>
                          <a:srgbClr val="098658"/>
                        </a:solidFill>
                        <a:latin typeface="Courier New"/>
                        <a:ea typeface="Courier New"/>
                        <a:cs typeface="Courier New"/>
                        <a:sym typeface="Courier New"/>
                      </a:endParaRPr>
                    </a:p>
                  </a:txBody>
                  <a:tcPr marT="63500" marB="63500" marR="63500" marL="63500"/>
                </a:tc>
                <a:tc>
                  <a:txBody>
                    <a:bodyPr/>
                    <a:lstStyle/>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main(){</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a:t>
                      </a:r>
                      <a:r>
                        <a:rPr b="1" lang="en">
                          <a:solidFill>
                            <a:srgbClr val="0000FF"/>
                          </a:solidFill>
                          <a:highlight>
                            <a:srgbClr val="FFFFFF"/>
                          </a:highlight>
                          <a:latin typeface="Courier New"/>
                          <a:ea typeface="Courier New"/>
                          <a:cs typeface="Courier New"/>
                          <a:sym typeface="Courier New"/>
                        </a:rPr>
                        <a:t>int</a:t>
                      </a:r>
                      <a:r>
                        <a:rPr b="1" lang="en">
                          <a:solidFill>
                            <a:srgbClr val="000000"/>
                          </a:solidFill>
                          <a:highlight>
                            <a:srgbClr val="FFFFFF"/>
                          </a:highlight>
                          <a:latin typeface="Courier New"/>
                          <a:ea typeface="Courier New"/>
                          <a:cs typeface="Courier New"/>
                          <a:sym typeface="Courier New"/>
                        </a:rPr>
                        <a:t> number1, number2,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First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number1;</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Second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result = addition(number1,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"Sum is: "</a:t>
                      </a:r>
                      <a:r>
                        <a:rPr b="1" lang="en">
                          <a:solidFill>
                            <a:srgbClr val="000000"/>
                          </a:solidFill>
                          <a:highlight>
                            <a:srgbClr val="FFFFFF"/>
                          </a:highlight>
                          <a:latin typeface="Courier New"/>
                          <a:ea typeface="Courier New"/>
                          <a:cs typeface="Courier New"/>
                          <a:sym typeface="Courier New"/>
                        </a:rPr>
                        <a:t> &lt;&lt;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a:t>
                      </a:r>
                      <a:endParaRPr b="1">
                        <a:solidFill>
                          <a:srgbClr val="0000FF"/>
                        </a:solidFill>
                        <a:highlight>
                          <a:srgbClr val="FFFFFF"/>
                        </a:highlight>
                        <a:latin typeface="Courier New"/>
                        <a:ea typeface="Courier New"/>
                        <a:cs typeface="Courier New"/>
                        <a:sym typeface="Courier New"/>
                      </a:endParaRPr>
                    </a:p>
                  </a:txBody>
                  <a:tcPr marT="63500" marB="63500" marR="63500" marL="63500"/>
                </a:tc>
              </a:tr>
            </a:tbl>
          </a:graphicData>
        </a:graphic>
      </p:graphicFrame>
      <p:sp>
        <p:nvSpPr>
          <p:cNvPr id="230" name="Google Shape;230;p27"/>
          <p:cNvSpPr/>
          <p:nvPr/>
        </p:nvSpPr>
        <p:spPr>
          <a:xfrm>
            <a:off x="4754950" y="3642700"/>
            <a:ext cx="4196400" cy="2880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1" name="Google Shape;231;p27"/>
          <p:cNvCxnSpPr>
            <a:stCxn id="230" idx="1"/>
          </p:cNvCxnSpPr>
          <p:nvPr/>
        </p:nvCxnSpPr>
        <p:spPr>
          <a:xfrm rot="10800000">
            <a:off x="1490950" y="3313000"/>
            <a:ext cx="3264000" cy="473700"/>
          </a:xfrm>
          <a:prstGeom prst="straightConnector1">
            <a:avLst/>
          </a:prstGeom>
          <a:noFill/>
          <a:ln cap="flat" cmpd="sng" w="28575">
            <a:solidFill>
              <a:srgbClr val="980000"/>
            </a:solidFill>
            <a:prstDash val="solid"/>
            <a:round/>
            <a:headEnd len="med" w="med" type="none"/>
            <a:tailEnd len="med" w="med" type="triangle"/>
          </a:ln>
        </p:spPr>
      </p:cxnSp>
      <p:sp>
        <p:nvSpPr>
          <p:cNvPr id="232" name="Google Shape;232;p27"/>
          <p:cNvSpPr txBox="1"/>
          <p:nvPr/>
        </p:nvSpPr>
        <p:spPr>
          <a:xfrm>
            <a:off x="2430525" y="4367513"/>
            <a:ext cx="1887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Function Call</a:t>
            </a:r>
            <a:endParaRPr b="1" sz="2000">
              <a:solidFill>
                <a:srgbClr val="404040"/>
              </a:solidFill>
              <a:latin typeface="Comic Sans MS"/>
              <a:ea typeface="Comic Sans MS"/>
              <a:cs typeface="Comic Sans MS"/>
              <a:sym typeface="Comic Sans MS"/>
            </a:endParaRPr>
          </a:p>
        </p:txBody>
      </p:sp>
      <p:cxnSp>
        <p:nvCxnSpPr>
          <p:cNvPr id="233" name="Google Shape;233;p27"/>
          <p:cNvCxnSpPr/>
          <p:nvPr/>
        </p:nvCxnSpPr>
        <p:spPr>
          <a:xfrm>
            <a:off x="8630775" y="2331325"/>
            <a:ext cx="12600" cy="1209600"/>
          </a:xfrm>
          <a:prstGeom prst="straightConnector1">
            <a:avLst/>
          </a:prstGeom>
          <a:noFill/>
          <a:ln cap="flat" cmpd="sng" w="28575">
            <a:solidFill>
              <a:srgbClr val="980000"/>
            </a:solidFill>
            <a:prstDash val="solid"/>
            <a:round/>
            <a:headEnd len="med" w="med" type="none"/>
            <a:tailEnd len="med" w="med" type="triangle"/>
          </a:ln>
        </p:spPr>
      </p:cxnSp>
      <p:sp>
        <p:nvSpPr>
          <p:cNvPr id="234" name="Google Shape;234;p27"/>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7"/>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236" name="Google Shape;236;p27"/>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237" name="Google Shape;237;p27"/>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7</a:t>
            </a:r>
            <a:endParaRPr/>
          </a:p>
        </p:txBody>
      </p:sp>
      <p:sp>
        <p:nvSpPr>
          <p:cNvPr id="238" name="Google Shape;238;p27"/>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239" name="Google Shape;239;p27"/>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240" name="Google Shape;240;p27"/>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241" name="Google Shape;241;p27"/>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242" name="Google Shape;242;p27"/>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243" name="Google Shape;243;p27"/>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5</a:t>
            </a:r>
            <a:endParaRPr/>
          </a:p>
        </p:txBody>
      </p:sp>
      <p:sp>
        <p:nvSpPr>
          <p:cNvPr id="244" name="Google Shape;244;p27"/>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245" name="Google Shape;245;p27"/>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
        <p:nvSpPr>
          <p:cNvPr id="246" name="Google Shape;246;p27"/>
          <p:cNvSpPr txBox="1"/>
          <p:nvPr/>
        </p:nvSpPr>
        <p:spPr>
          <a:xfrm>
            <a:off x="639624" y="1775975"/>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num1</a:t>
            </a:r>
            <a:endParaRPr b="1" sz="1600">
              <a:solidFill>
                <a:srgbClr val="D15A12"/>
              </a:solidFill>
              <a:latin typeface="Raleway"/>
              <a:ea typeface="Raleway"/>
              <a:cs typeface="Raleway"/>
              <a:sym typeface="Raleway"/>
            </a:endParaRPr>
          </a:p>
        </p:txBody>
      </p:sp>
      <p:sp>
        <p:nvSpPr>
          <p:cNvPr id="247" name="Google Shape;247;p27"/>
          <p:cNvSpPr txBox="1"/>
          <p:nvPr/>
        </p:nvSpPr>
        <p:spPr>
          <a:xfrm>
            <a:off x="639624" y="211140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num2</a:t>
            </a:r>
            <a:endParaRPr b="1" sz="1600">
              <a:solidFill>
                <a:srgbClr val="D15A12"/>
              </a:solidFill>
              <a:latin typeface="Raleway"/>
              <a:ea typeface="Raleway"/>
              <a:cs typeface="Raleway"/>
              <a:sym typeface="Ralewa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8"/>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54" name="Google Shape;254;p28"/>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255" name="Google Shape;255;p28"/>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256" name="Google Shape;256;p28"/>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Variables: </a:t>
            </a:r>
            <a:r>
              <a:rPr b="1" lang="en" sz="3600">
                <a:solidFill>
                  <a:srgbClr val="434343"/>
                </a:solidFill>
                <a:latin typeface="Comic Sans MS"/>
                <a:ea typeface="Comic Sans MS"/>
                <a:cs typeface="Comic Sans MS"/>
                <a:sym typeface="Comic Sans MS"/>
              </a:rPr>
              <a:t>Passing by Value</a:t>
            </a:r>
            <a:endParaRPr b="1" sz="3600">
              <a:solidFill>
                <a:srgbClr val="434343"/>
              </a:solidFill>
              <a:latin typeface="Comic Sans MS"/>
              <a:ea typeface="Comic Sans MS"/>
              <a:cs typeface="Comic Sans MS"/>
              <a:sym typeface="Comic Sans MS"/>
            </a:endParaRPr>
          </a:p>
        </p:txBody>
      </p:sp>
      <p:graphicFrame>
        <p:nvGraphicFramePr>
          <p:cNvPr id="257" name="Google Shape;257;p28"/>
          <p:cNvGraphicFramePr/>
          <p:nvPr/>
        </p:nvGraphicFramePr>
        <p:xfrm>
          <a:off x="74488" y="2916225"/>
          <a:ext cx="3000000" cy="3000000"/>
        </p:xfrm>
        <a:graphic>
          <a:graphicData uri="http://schemas.openxmlformats.org/drawingml/2006/table">
            <a:tbl>
              <a:tblPr>
                <a:noFill/>
                <a:tableStyleId>{0E775C3B-ED88-47DF-BCA5-81FE39E699D0}</a:tableStyleId>
              </a:tblPr>
              <a:tblGrid>
                <a:gridCol w="401550"/>
                <a:gridCol w="3476275"/>
              </a:tblGrid>
              <a:tr h="12700">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p>
                  </a:txBody>
                  <a:tcPr marT="63500" marB="63500" marR="63500" marL="63500"/>
                </a:tc>
                <a:tc>
                  <a:txBody>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addition(</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num1,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sum = num1 +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return</a:t>
                      </a:r>
                      <a:r>
                        <a:rPr b="1" lang="en" sz="1350">
                          <a:solidFill>
                            <a:srgbClr val="000000"/>
                          </a:solidFill>
                          <a:highlight>
                            <a:srgbClr val="FFFFFF"/>
                          </a:highlight>
                          <a:latin typeface="Courier New"/>
                          <a:ea typeface="Courier New"/>
                          <a:cs typeface="Courier New"/>
                          <a:sym typeface="Courier New"/>
                        </a:rPr>
                        <a:t> sum;</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a:solidFill>
                          <a:srgbClr val="AF00DB"/>
                        </a:solidFill>
                        <a:latin typeface="Courier New"/>
                        <a:ea typeface="Courier New"/>
                        <a:cs typeface="Courier New"/>
                        <a:sym typeface="Courier New"/>
                      </a:endParaRPr>
                    </a:p>
                  </a:txBody>
                  <a:tcPr marT="63500" marB="63500" marR="63500" marL="63500"/>
                </a:tc>
              </a:tr>
            </a:tbl>
          </a:graphicData>
        </a:graphic>
      </p:graphicFrame>
      <p:graphicFrame>
        <p:nvGraphicFramePr>
          <p:cNvPr id="258" name="Google Shape;258;p28"/>
          <p:cNvGraphicFramePr/>
          <p:nvPr/>
        </p:nvGraphicFramePr>
        <p:xfrm>
          <a:off x="4188988" y="1883475"/>
          <a:ext cx="3000000" cy="3000000"/>
        </p:xfrm>
        <a:graphic>
          <a:graphicData uri="http://schemas.openxmlformats.org/drawingml/2006/table">
            <a:tbl>
              <a:tblPr>
                <a:noFill/>
                <a:tableStyleId>{0E775C3B-ED88-47DF-BCA5-81FE39E699D0}</a:tableStyleId>
              </a:tblPr>
              <a:tblGrid>
                <a:gridCol w="327000"/>
                <a:gridCol w="4553250"/>
              </a:tblGrid>
              <a:tr h="2786175">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6</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7</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8</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9</a:t>
                      </a:r>
                      <a:endParaRPr b="1">
                        <a:solidFill>
                          <a:srgbClr val="098658"/>
                        </a:solidFill>
                        <a:latin typeface="Courier New"/>
                        <a:ea typeface="Courier New"/>
                        <a:cs typeface="Courier New"/>
                        <a:sym typeface="Courier New"/>
                      </a:endParaRPr>
                    </a:p>
                  </a:txBody>
                  <a:tcPr marT="63500" marB="63500" marR="63500" marL="63500"/>
                </a:tc>
                <a:tc>
                  <a:txBody>
                    <a:bodyPr/>
                    <a:lstStyle/>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main(){</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a:t>
                      </a:r>
                      <a:r>
                        <a:rPr b="1" lang="en">
                          <a:solidFill>
                            <a:srgbClr val="0000FF"/>
                          </a:solidFill>
                          <a:highlight>
                            <a:srgbClr val="FFFFFF"/>
                          </a:highlight>
                          <a:latin typeface="Courier New"/>
                          <a:ea typeface="Courier New"/>
                          <a:cs typeface="Courier New"/>
                          <a:sym typeface="Courier New"/>
                        </a:rPr>
                        <a:t>int</a:t>
                      </a:r>
                      <a:r>
                        <a:rPr b="1" lang="en">
                          <a:solidFill>
                            <a:srgbClr val="000000"/>
                          </a:solidFill>
                          <a:highlight>
                            <a:srgbClr val="FFFFFF"/>
                          </a:highlight>
                          <a:latin typeface="Courier New"/>
                          <a:ea typeface="Courier New"/>
                          <a:cs typeface="Courier New"/>
                          <a:sym typeface="Courier New"/>
                        </a:rPr>
                        <a:t> number1, number2,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First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number1;</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Second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result = addition(number1,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"Sum is: "</a:t>
                      </a:r>
                      <a:r>
                        <a:rPr b="1" lang="en">
                          <a:solidFill>
                            <a:srgbClr val="000000"/>
                          </a:solidFill>
                          <a:highlight>
                            <a:srgbClr val="FFFFFF"/>
                          </a:highlight>
                          <a:latin typeface="Courier New"/>
                          <a:ea typeface="Courier New"/>
                          <a:cs typeface="Courier New"/>
                          <a:sym typeface="Courier New"/>
                        </a:rPr>
                        <a:t> &lt;&lt;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a:t>
                      </a:r>
                      <a:endParaRPr b="1">
                        <a:solidFill>
                          <a:srgbClr val="0000FF"/>
                        </a:solidFill>
                        <a:highlight>
                          <a:srgbClr val="FFFFFF"/>
                        </a:highlight>
                        <a:latin typeface="Courier New"/>
                        <a:ea typeface="Courier New"/>
                        <a:cs typeface="Courier New"/>
                        <a:sym typeface="Courier New"/>
                      </a:endParaRPr>
                    </a:p>
                  </a:txBody>
                  <a:tcPr marT="63500" marB="63500" marR="63500" marL="63500"/>
                </a:tc>
              </a:tr>
            </a:tbl>
          </a:graphicData>
        </a:graphic>
      </p:graphicFrame>
      <p:sp>
        <p:nvSpPr>
          <p:cNvPr id="259" name="Google Shape;259;p28"/>
          <p:cNvSpPr/>
          <p:nvPr/>
        </p:nvSpPr>
        <p:spPr>
          <a:xfrm>
            <a:off x="4754950" y="3642700"/>
            <a:ext cx="4196400" cy="2880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0" name="Google Shape;260;p28"/>
          <p:cNvCxnSpPr>
            <a:stCxn id="259" idx="1"/>
          </p:cNvCxnSpPr>
          <p:nvPr/>
        </p:nvCxnSpPr>
        <p:spPr>
          <a:xfrm rot="10800000">
            <a:off x="1490950" y="3313000"/>
            <a:ext cx="3264000" cy="473700"/>
          </a:xfrm>
          <a:prstGeom prst="straightConnector1">
            <a:avLst/>
          </a:prstGeom>
          <a:noFill/>
          <a:ln cap="flat" cmpd="sng" w="28575">
            <a:solidFill>
              <a:srgbClr val="980000"/>
            </a:solidFill>
            <a:prstDash val="solid"/>
            <a:round/>
            <a:headEnd len="med" w="med" type="none"/>
            <a:tailEnd len="med" w="med" type="triangle"/>
          </a:ln>
        </p:spPr>
      </p:cxnSp>
      <p:sp>
        <p:nvSpPr>
          <p:cNvPr id="261" name="Google Shape;261;p28"/>
          <p:cNvSpPr txBox="1"/>
          <p:nvPr/>
        </p:nvSpPr>
        <p:spPr>
          <a:xfrm>
            <a:off x="2430525" y="4367513"/>
            <a:ext cx="1887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Function Call</a:t>
            </a:r>
            <a:endParaRPr b="1" sz="2000">
              <a:solidFill>
                <a:srgbClr val="404040"/>
              </a:solidFill>
              <a:latin typeface="Comic Sans MS"/>
              <a:ea typeface="Comic Sans MS"/>
              <a:cs typeface="Comic Sans MS"/>
              <a:sym typeface="Comic Sans MS"/>
            </a:endParaRPr>
          </a:p>
        </p:txBody>
      </p:sp>
      <p:cxnSp>
        <p:nvCxnSpPr>
          <p:cNvPr id="262" name="Google Shape;262;p28"/>
          <p:cNvCxnSpPr/>
          <p:nvPr/>
        </p:nvCxnSpPr>
        <p:spPr>
          <a:xfrm>
            <a:off x="8630775" y="2331325"/>
            <a:ext cx="12600" cy="1209600"/>
          </a:xfrm>
          <a:prstGeom prst="straightConnector1">
            <a:avLst/>
          </a:prstGeom>
          <a:noFill/>
          <a:ln cap="flat" cmpd="sng" w="28575">
            <a:solidFill>
              <a:srgbClr val="980000"/>
            </a:solidFill>
            <a:prstDash val="solid"/>
            <a:round/>
            <a:headEnd len="med" w="med" type="none"/>
            <a:tailEnd len="med" w="med" type="triangle"/>
          </a:ln>
        </p:spPr>
      </p:cxnSp>
      <p:sp>
        <p:nvSpPr>
          <p:cNvPr id="263" name="Google Shape;263;p28"/>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8"/>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265" name="Google Shape;265;p28"/>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266" name="Google Shape;266;p28"/>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 name="Google Shape;267;p28"/>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268" name="Google Shape;268;p28"/>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269" name="Google Shape;269;p28"/>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270" name="Google Shape;270;p28"/>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271" name="Google Shape;271;p28"/>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272" name="Google Shape;272;p28"/>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3" name="Google Shape;273;p28"/>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274" name="Google Shape;274;p28"/>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
        <p:nvSpPr>
          <p:cNvPr id="275" name="Google Shape;275;p28"/>
          <p:cNvSpPr txBox="1"/>
          <p:nvPr/>
        </p:nvSpPr>
        <p:spPr>
          <a:xfrm>
            <a:off x="639624" y="1775975"/>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276" name="Google Shape;276;p28"/>
          <p:cNvSpPr txBox="1"/>
          <p:nvPr/>
        </p:nvSpPr>
        <p:spPr>
          <a:xfrm>
            <a:off x="639624" y="211140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277" name="Google Shape;277;p28"/>
          <p:cNvSpPr txBox="1"/>
          <p:nvPr/>
        </p:nvSpPr>
        <p:spPr>
          <a:xfrm>
            <a:off x="4580100" y="845100"/>
            <a:ext cx="42693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After the function call, the </a:t>
            </a:r>
            <a:r>
              <a:rPr b="1" lang="en" sz="1500">
                <a:solidFill>
                  <a:srgbClr val="D15A12"/>
                </a:solidFill>
                <a:latin typeface="Comic Sans MS"/>
                <a:ea typeface="Comic Sans MS"/>
                <a:cs typeface="Comic Sans MS"/>
                <a:sym typeface="Comic Sans MS"/>
              </a:rPr>
              <a:t>local variables</a:t>
            </a:r>
            <a:r>
              <a:rPr b="1" lang="en" sz="1500">
                <a:solidFill>
                  <a:srgbClr val="434343"/>
                </a:solidFill>
                <a:latin typeface="Comic Sans MS"/>
                <a:ea typeface="Comic Sans MS"/>
                <a:cs typeface="Comic Sans MS"/>
                <a:sym typeface="Comic Sans MS"/>
              </a:rPr>
              <a:t> of the addition function will be </a:t>
            </a:r>
            <a:r>
              <a:rPr b="1" lang="en" sz="1500">
                <a:solidFill>
                  <a:srgbClr val="D15A12"/>
                </a:solidFill>
                <a:latin typeface="Comic Sans MS"/>
                <a:ea typeface="Comic Sans MS"/>
                <a:cs typeface="Comic Sans MS"/>
                <a:sym typeface="Comic Sans MS"/>
              </a:rPr>
              <a:t>destroyed</a:t>
            </a:r>
            <a:r>
              <a:rPr b="1" lang="en" sz="1500">
                <a:solidFill>
                  <a:srgbClr val="434343"/>
                </a:solidFill>
                <a:latin typeface="Comic Sans MS"/>
                <a:ea typeface="Comic Sans MS"/>
                <a:cs typeface="Comic Sans MS"/>
                <a:sym typeface="Comic Sans MS"/>
              </a:rPr>
              <a:t> and only the variables of the </a:t>
            </a:r>
            <a:r>
              <a:rPr b="1" lang="en" sz="1500">
                <a:solidFill>
                  <a:srgbClr val="D15A12"/>
                </a:solidFill>
                <a:latin typeface="Comic Sans MS"/>
                <a:ea typeface="Comic Sans MS"/>
                <a:cs typeface="Comic Sans MS"/>
                <a:sym typeface="Comic Sans MS"/>
              </a:rPr>
              <a:t>main</a:t>
            </a:r>
            <a:r>
              <a:rPr b="1" lang="en" sz="1500">
                <a:solidFill>
                  <a:srgbClr val="434343"/>
                </a:solidFill>
                <a:latin typeface="Comic Sans MS"/>
                <a:ea typeface="Comic Sans MS"/>
                <a:cs typeface="Comic Sans MS"/>
                <a:sym typeface="Comic Sans MS"/>
              </a:rPr>
              <a:t> function will remain. </a:t>
            </a:r>
            <a:endParaRPr b="1" sz="1500">
              <a:solidFill>
                <a:srgbClr val="434343"/>
              </a:solidFill>
              <a:latin typeface="Comic Sans MS"/>
              <a:ea typeface="Comic Sans MS"/>
              <a:cs typeface="Comic Sans MS"/>
              <a:sym typeface="Comic Sans M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9"/>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84" name="Google Shape;284;p29"/>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285" name="Google Shape;285;p29"/>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286" name="Google Shape;286;p29"/>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In C++</a:t>
            </a:r>
            <a:endParaRPr b="1" sz="3600">
              <a:solidFill>
                <a:srgbClr val="434343"/>
              </a:solidFill>
              <a:latin typeface="Comic Sans MS"/>
              <a:ea typeface="Comic Sans MS"/>
              <a:cs typeface="Comic Sans MS"/>
              <a:sym typeface="Comic Sans MS"/>
            </a:endParaRPr>
          </a:p>
        </p:txBody>
      </p:sp>
      <p:sp>
        <p:nvSpPr>
          <p:cNvPr id="287" name="Google Shape;287;p29"/>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Let’s see how we can just pass the address of the variable (</a:t>
            </a:r>
            <a:r>
              <a:rPr b="1" lang="en" sz="2400">
                <a:solidFill>
                  <a:srgbClr val="D15A12"/>
                </a:solidFill>
                <a:latin typeface="Comic Sans MS"/>
                <a:ea typeface="Comic Sans MS"/>
                <a:cs typeface="Comic Sans MS"/>
                <a:sym typeface="Comic Sans MS"/>
              </a:rPr>
              <a:t>Pass by Reference</a:t>
            </a:r>
            <a:r>
              <a:rPr b="1" lang="en" sz="2400">
                <a:solidFill>
                  <a:srgbClr val="434343"/>
                </a:solidFill>
                <a:latin typeface="Comic Sans MS"/>
                <a:ea typeface="Comic Sans MS"/>
                <a:cs typeface="Comic Sans MS"/>
                <a:sym typeface="Comic Sans MS"/>
              </a:rPr>
              <a:t>).</a:t>
            </a:r>
            <a:endParaRPr b="1" sz="2400">
              <a:solidFill>
                <a:srgbClr val="434343"/>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000"/>
                                        <p:tgtEl>
                                          <p:spTgt spid="2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0"/>
          <p:cNvSpPr txBox="1"/>
          <p:nvPr>
            <p:ph type="ctrTitle"/>
          </p:nvPr>
        </p:nvSpPr>
        <p:spPr>
          <a:xfrm>
            <a:off x="0" y="0"/>
            <a:ext cx="9144000" cy="790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b="1" lang="en" sz="3300">
                <a:solidFill>
                  <a:srgbClr val="404040"/>
                </a:solidFill>
                <a:latin typeface="Comic Sans MS"/>
                <a:ea typeface="Comic Sans MS"/>
                <a:cs typeface="Comic Sans MS"/>
                <a:sym typeface="Comic Sans MS"/>
              </a:rPr>
              <a:t>   Function in </a:t>
            </a:r>
            <a:r>
              <a:rPr b="1" lang="en" sz="3300">
                <a:solidFill>
                  <a:srgbClr val="D15A12"/>
                </a:solidFill>
                <a:latin typeface="Comic Sans MS"/>
                <a:ea typeface="Comic Sans MS"/>
                <a:cs typeface="Comic Sans MS"/>
                <a:sym typeface="Comic Sans MS"/>
              </a:rPr>
              <a:t>C++</a:t>
            </a:r>
            <a:endParaRPr b="1" sz="2600">
              <a:solidFill>
                <a:srgbClr val="D15A12"/>
              </a:solidFill>
              <a:latin typeface="Comic Sans MS"/>
              <a:ea typeface="Comic Sans MS"/>
              <a:cs typeface="Comic Sans MS"/>
              <a:sym typeface="Comic Sans MS"/>
            </a:endParaRPr>
          </a:p>
        </p:txBody>
      </p:sp>
      <p:cxnSp>
        <p:nvCxnSpPr>
          <p:cNvPr id="293" name="Google Shape;293;p30"/>
          <p:cNvCxnSpPr/>
          <p:nvPr/>
        </p:nvCxnSpPr>
        <p:spPr>
          <a:xfrm>
            <a:off x="375500" y="123950"/>
            <a:ext cx="0" cy="570000"/>
          </a:xfrm>
          <a:prstGeom prst="straightConnector1">
            <a:avLst/>
          </a:prstGeom>
          <a:noFill/>
          <a:ln cap="flat" cmpd="sng" w="38100">
            <a:solidFill>
              <a:srgbClr val="D15A12"/>
            </a:solidFill>
            <a:prstDash val="solid"/>
            <a:round/>
            <a:headEnd len="sm" w="sm" type="none"/>
            <a:tailEnd len="sm" w="sm" type="none"/>
          </a:ln>
        </p:spPr>
      </p:cxnSp>
      <p:cxnSp>
        <p:nvCxnSpPr>
          <p:cNvPr id="294" name="Google Shape;294;p30"/>
          <p:cNvCxnSpPr/>
          <p:nvPr/>
        </p:nvCxnSpPr>
        <p:spPr>
          <a:xfrm>
            <a:off x="299300" y="47750"/>
            <a:ext cx="0" cy="570000"/>
          </a:xfrm>
          <a:prstGeom prst="straightConnector1">
            <a:avLst/>
          </a:prstGeom>
          <a:noFill/>
          <a:ln cap="flat" cmpd="sng" w="38100">
            <a:solidFill>
              <a:schemeClr val="dk2"/>
            </a:solidFill>
            <a:prstDash val="solid"/>
            <a:round/>
            <a:headEnd len="sm" w="sm" type="none"/>
            <a:tailEnd len="sm" w="sm" type="none"/>
          </a:ln>
        </p:spPr>
      </p:cxnSp>
      <p:sp>
        <p:nvSpPr>
          <p:cNvPr id="295" name="Google Shape;295;p30"/>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96" name="Google Shape;296;p30"/>
          <p:cNvSpPr txBox="1"/>
          <p:nvPr/>
        </p:nvSpPr>
        <p:spPr>
          <a:xfrm>
            <a:off x="552400" y="930375"/>
            <a:ext cx="8591700" cy="10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04040"/>
                </a:solidFill>
                <a:latin typeface="Comic Sans MS"/>
                <a:ea typeface="Comic Sans MS"/>
                <a:cs typeface="Comic Sans MS"/>
                <a:sym typeface="Comic Sans MS"/>
              </a:rPr>
              <a:t>Now, the </a:t>
            </a:r>
            <a:r>
              <a:rPr b="1" lang="en" sz="2800">
                <a:solidFill>
                  <a:srgbClr val="D15A12"/>
                </a:solidFill>
                <a:latin typeface="Comic Sans MS"/>
                <a:ea typeface="Comic Sans MS"/>
                <a:cs typeface="Comic Sans MS"/>
                <a:sym typeface="Comic Sans MS"/>
              </a:rPr>
              <a:t>Addition</a:t>
            </a:r>
            <a:r>
              <a:rPr b="1" lang="en" sz="2800">
                <a:solidFill>
                  <a:srgbClr val="404040"/>
                </a:solidFill>
                <a:latin typeface="Comic Sans MS"/>
                <a:ea typeface="Comic Sans MS"/>
                <a:cs typeface="Comic Sans MS"/>
                <a:sym typeface="Comic Sans MS"/>
              </a:rPr>
              <a:t> function is</a:t>
            </a:r>
            <a:endParaRPr b="1" sz="2800">
              <a:solidFill>
                <a:srgbClr val="404040"/>
              </a:solidFill>
              <a:latin typeface="Comic Sans MS"/>
              <a:ea typeface="Comic Sans MS"/>
              <a:cs typeface="Comic Sans MS"/>
              <a:sym typeface="Comic Sans MS"/>
            </a:endParaRPr>
          </a:p>
          <a:p>
            <a:pPr indent="0" lvl="0" marL="0" rtl="0" algn="l">
              <a:spcBef>
                <a:spcPts val="0"/>
              </a:spcBef>
              <a:spcAft>
                <a:spcPts val="0"/>
              </a:spcAft>
              <a:buNone/>
            </a:pPr>
            <a:r>
              <a:rPr b="1" lang="en" sz="2800">
                <a:solidFill>
                  <a:srgbClr val="404040"/>
                </a:solidFill>
                <a:latin typeface="Comic Sans MS"/>
                <a:ea typeface="Comic Sans MS"/>
                <a:cs typeface="Comic Sans MS"/>
                <a:sym typeface="Comic Sans MS"/>
              </a:rPr>
              <a:t>only receiving the address of the variables.</a:t>
            </a:r>
            <a:endParaRPr b="1" sz="2800">
              <a:solidFill>
                <a:srgbClr val="404040"/>
              </a:solidFill>
              <a:latin typeface="Comic Sans MS"/>
              <a:ea typeface="Comic Sans MS"/>
              <a:cs typeface="Comic Sans MS"/>
              <a:sym typeface="Comic Sans MS"/>
            </a:endParaRPr>
          </a:p>
        </p:txBody>
      </p:sp>
      <p:graphicFrame>
        <p:nvGraphicFramePr>
          <p:cNvPr id="297" name="Google Shape;297;p30"/>
          <p:cNvGraphicFramePr/>
          <p:nvPr/>
        </p:nvGraphicFramePr>
        <p:xfrm>
          <a:off x="2208088" y="2382825"/>
          <a:ext cx="3000000" cy="3000000"/>
        </p:xfrm>
        <a:graphic>
          <a:graphicData uri="http://schemas.openxmlformats.org/drawingml/2006/table">
            <a:tbl>
              <a:tblPr>
                <a:noFill/>
                <a:tableStyleId>{0E775C3B-ED88-47DF-BCA5-81FE39E699D0}</a:tableStyleId>
              </a:tblPr>
              <a:tblGrid>
                <a:gridCol w="489575"/>
                <a:gridCol w="4238225"/>
              </a:tblGrid>
              <a:tr h="12700">
                <a:tc>
                  <a:txBody>
                    <a:bodyPr/>
                    <a:lstStyle/>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1</a:t>
                      </a:r>
                      <a:endParaRPr b="1" sz="1600">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2</a:t>
                      </a:r>
                      <a:endParaRPr b="1" sz="1600">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3</a:t>
                      </a:r>
                      <a:endParaRPr b="1" sz="1600">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4</a:t>
                      </a:r>
                      <a:endParaRPr b="1" sz="1600">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5</a:t>
                      </a:r>
                      <a:endParaRPr b="1" sz="1600"/>
                    </a:p>
                  </a:txBody>
                  <a:tcPr marT="63500" marB="63500" marR="63500" marL="63500"/>
                </a:tc>
                <a:tc>
                  <a:txBody>
                    <a:bodyPr/>
                    <a:lstStyle/>
                    <a:p>
                      <a:pPr indent="0" lvl="0" marL="0" rtl="0" algn="l">
                        <a:lnSpc>
                          <a:spcPct val="135714"/>
                        </a:lnSpc>
                        <a:spcBef>
                          <a:spcPts val="0"/>
                        </a:spcBef>
                        <a:spcAft>
                          <a:spcPts val="0"/>
                        </a:spcAft>
                        <a:buClr>
                          <a:schemeClr val="dk1"/>
                        </a:buClr>
                        <a:buSzPts val="1100"/>
                        <a:buFont typeface="Arial"/>
                        <a:buNone/>
                      </a:pP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addition(</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&amp;</a:t>
                      </a:r>
                      <a:r>
                        <a:rPr b="1" lang="en" sz="1550">
                          <a:solidFill>
                            <a:schemeClr val="dk1"/>
                          </a:solidFill>
                          <a:highlight>
                            <a:srgbClr val="FFFFFF"/>
                          </a:highlight>
                          <a:latin typeface="Courier New"/>
                          <a:ea typeface="Courier New"/>
                          <a:cs typeface="Courier New"/>
                          <a:sym typeface="Courier New"/>
                        </a:rPr>
                        <a:t>num1,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&amp;</a:t>
                      </a:r>
                      <a:r>
                        <a:rPr b="1" lang="en" sz="1550">
                          <a:solidFill>
                            <a:schemeClr val="dk1"/>
                          </a:solidFill>
                          <a:highlight>
                            <a:srgbClr val="FFFFFF"/>
                          </a:highlight>
                          <a:latin typeface="Courier New"/>
                          <a:ea typeface="Courier New"/>
                          <a:cs typeface="Courier New"/>
                          <a:sym typeface="Courier New"/>
                        </a:rPr>
                        <a:t>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sum = num1 +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return</a:t>
                      </a:r>
                      <a:r>
                        <a:rPr b="1" lang="en" sz="1550">
                          <a:solidFill>
                            <a:schemeClr val="dk1"/>
                          </a:solidFill>
                          <a:highlight>
                            <a:srgbClr val="FFFFFF"/>
                          </a:highlight>
                          <a:latin typeface="Courier New"/>
                          <a:ea typeface="Courier New"/>
                          <a:cs typeface="Courier New"/>
                          <a:sym typeface="Courier New"/>
                        </a:rPr>
                        <a:t> sum;</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550">
                          <a:solidFill>
                            <a:schemeClr val="dk1"/>
                          </a:solidFill>
                          <a:highlight>
                            <a:srgbClr val="FFFFFF"/>
                          </a:highlight>
                          <a:latin typeface="Courier New"/>
                          <a:ea typeface="Courier New"/>
                          <a:cs typeface="Courier New"/>
                          <a:sym typeface="Courier New"/>
                        </a:rPr>
                        <a:t>}</a:t>
                      </a:r>
                      <a:endParaRPr b="1" sz="1600">
                        <a:solidFill>
                          <a:srgbClr val="AF00DB"/>
                        </a:solidFill>
                        <a:latin typeface="Courier New"/>
                        <a:ea typeface="Courier New"/>
                        <a:cs typeface="Courier New"/>
                        <a:sym typeface="Courier New"/>
                      </a:endParaRPr>
                    </a:p>
                  </a:txBody>
                  <a:tcPr marT="63500" marB="63500" marR="63500" marL="63500"/>
                </a:tc>
              </a:tr>
            </a:tbl>
          </a:graphicData>
        </a:graphic>
      </p:graphicFrame>
      <p:pic>
        <p:nvPicPr>
          <p:cNvPr id="298" name="Google Shape;298;p30"/>
          <p:cNvPicPr preferRelativeResize="0"/>
          <p:nvPr/>
        </p:nvPicPr>
        <p:blipFill>
          <a:blip r:embed="rId3">
            <a:alphaModFix/>
          </a:blip>
          <a:stretch>
            <a:fillRect/>
          </a:stretch>
        </p:blipFill>
        <p:spPr>
          <a:xfrm>
            <a:off x="7709175" y="0"/>
            <a:ext cx="1434925" cy="1427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1"/>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05" name="Google Shape;305;p31"/>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306" name="Google Shape;306;p31"/>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307" name="Google Shape;307;p31"/>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Variables: </a:t>
            </a:r>
            <a:r>
              <a:rPr b="1" lang="en" sz="3600">
                <a:solidFill>
                  <a:srgbClr val="434343"/>
                </a:solidFill>
                <a:latin typeface="Comic Sans MS"/>
                <a:ea typeface="Comic Sans MS"/>
                <a:cs typeface="Comic Sans MS"/>
                <a:sym typeface="Comic Sans MS"/>
              </a:rPr>
              <a:t>Passing by Reference</a:t>
            </a:r>
            <a:endParaRPr b="1" sz="3600">
              <a:solidFill>
                <a:srgbClr val="434343"/>
              </a:solidFill>
              <a:latin typeface="Comic Sans MS"/>
              <a:ea typeface="Comic Sans MS"/>
              <a:cs typeface="Comic Sans MS"/>
              <a:sym typeface="Comic Sans MS"/>
            </a:endParaRPr>
          </a:p>
        </p:txBody>
      </p:sp>
      <p:graphicFrame>
        <p:nvGraphicFramePr>
          <p:cNvPr id="308" name="Google Shape;308;p31"/>
          <p:cNvGraphicFramePr/>
          <p:nvPr/>
        </p:nvGraphicFramePr>
        <p:xfrm>
          <a:off x="74488" y="2916225"/>
          <a:ext cx="3000000" cy="3000000"/>
        </p:xfrm>
        <a:graphic>
          <a:graphicData uri="http://schemas.openxmlformats.org/drawingml/2006/table">
            <a:tbl>
              <a:tblPr>
                <a:noFill/>
                <a:tableStyleId>{0E775C3B-ED88-47DF-BCA5-81FE39E699D0}</a:tableStyleId>
              </a:tblPr>
              <a:tblGrid>
                <a:gridCol w="301000"/>
                <a:gridCol w="3707975"/>
              </a:tblGrid>
              <a:tr h="12700">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p>
                  </a:txBody>
                  <a:tcPr marT="63500" marB="63500" marR="63500" marL="63500"/>
                </a:tc>
                <a:tc>
                  <a:txBody>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addition(</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rgbClr val="000000"/>
                          </a:solidFill>
                          <a:highlight>
                            <a:srgbClr val="FFFFFF"/>
                          </a:highlight>
                          <a:latin typeface="Courier New"/>
                          <a:ea typeface="Courier New"/>
                          <a:cs typeface="Courier New"/>
                          <a:sym typeface="Courier New"/>
                        </a:rPr>
                        <a:t>num1,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rgbClr val="000000"/>
                          </a:solidFill>
                          <a:highlight>
                            <a:srgbClr val="FFFFFF"/>
                          </a:highlight>
                          <a:latin typeface="Courier New"/>
                          <a:ea typeface="Courier New"/>
                          <a:cs typeface="Courier New"/>
                          <a:sym typeface="Courier New"/>
                        </a:rPr>
                        <a:t>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sum = num1 +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return</a:t>
                      </a:r>
                      <a:r>
                        <a:rPr b="1" lang="en" sz="1350">
                          <a:solidFill>
                            <a:srgbClr val="000000"/>
                          </a:solidFill>
                          <a:highlight>
                            <a:srgbClr val="FFFFFF"/>
                          </a:highlight>
                          <a:latin typeface="Courier New"/>
                          <a:ea typeface="Courier New"/>
                          <a:cs typeface="Courier New"/>
                          <a:sym typeface="Courier New"/>
                        </a:rPr>
                        <a:t> sum;</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a:solidFill>
                          <a:srgbClr val="AF00DB"/>
                        </a:solidFill>
                        <a:latin typeface="Courier New"/>
                        <a:ea typeface="Courier New"/>
                        <a:cs typeface="Courier New"/>
                        <a:sym typeface="Courier New"/>
                      </a:endParaRPr>
                    </a:p>
                  </a:txBody>
                  <a:tcPr marT="63500" marB="63500" marR="63500" marL="63500"/>
                </a:tc>
              </a:tr>
            </a:tbl>
          </a:graphicData>
        </a:graphic>
      </p:graphicFrame>
      <p:graphicFrame>
        <p:nvGraphicFramePr>
          <p:cNvPr id="309" name="Google Shape;309;p31"/>
          <p:cNvGraphicFramePr/>
          <p:nvPr/>
        </p:nvGraphicFramePr>
        <p:xfrm>
          <a:off x="4188988" y="1883475"/>
          <a:ext cx="3000000" cy="3000000"/>
        </p:xfrm>
        <a:graphic>
          <a:graphicData uri="http://schemas.openxmlformats.org/drawingml/2006/table">
            <a:tbl>
              <a:tblPr>
                <a:noFill/>
                <a:tableStyleId>{0E775C3B-ED88-47DF-BCA5-81FE39E699D0}</a:tableStyleId>
              </a:tblPr>
              <a:tblGrid>
                <a:gridCol w="327000"/>
                <a:gridCol w="4553250"/>
              </a:tblGrid>
              <a:tr h="2786175">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6</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7</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8</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9</a:t>
                      </a:r>
                      <a:endParaRPr b="1">
                        <a:solidFill>
                          <a:srgbClr val="098658"/>
                        </a:solidFill>
                        <a:latin typeface="Courier New"/>
                        <a:ea typeface="Courier New"/>
                        <a:cs typeface="Courier New"/>
                        <a:sym typeface="Courier New"/>
                      </a:endParaRPr>
                    </a:p>
                  </a:txBody>
                  <a:tcPr marT="63500" marB="63500" marR="63500" marL="63500"/>
                </a:tc>
                <a:tc>
                  <a:txBody>
                    <a:bodyPr/>
                    <a:lstStyle/>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main(){</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a:t>
                      </a:r>
                      <a:r>
                        <a:rPr b="1" lang="en">
                          <a:solidFill>
                            <a:srgbClr val="0000FF"/>
                          </a:solidFill>
                          <a:highlight>
                            <a:srgbClr val="FFFFFF"/>
                          </a:highlight>
                          <a:latin typeface="Courier New"/>
                          <a:ea typeface="Courier New"/>
                          <a:cs typeface="Courier New"/>
                          <a:sym typeface="Courier New"/>
                        </a:rPr>
                        <a:t>int</a:t>
                      </a:r>
                      <a:r>
                        <a:rPr b="1" lang="en">
                          <a:solidFill>
                            <a:srgbClr val="000000"/>
                          </a:solidFill>
                          <a:highlight>
                            <a:srgbClr val="FFFFFF"/>
                          </a:highlight>
                          <a:latin typeface="Courier New"/>
                          <a:ea typeface="Courier New"/>
                          <a:cs typeface="Courier New"/>
                          <a:sym typeface="Courier New"/>
                        </a:rPr>
                        <a:t> number1, number2,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First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number1;</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Second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result = addition(number1,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"Sum is: "</a:t>
                      </a:r>
                      <a:r>
                        <a:rPr b="1" lang="en">
                          <a:solidFill>
                            <a:srgbClr val="000000"/>
                          </a:solidFill>
                          <a:highlight>
                            <a:srgbClr val="FFFFFF"/>
                          </a:highlight>
                          <a:latin typeface="Courier New"/>
                          <a:ea typeface="Courier New"/>
                          <a:cs typeface="Courier New"/>
                          <a:sym typeface="Courier New"/>
                        </a:rPr>
                        <a:t> &lt;&lt;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a:t>
                      </a:r>
                      <a:endParaRPr b="1">
                        <a:solidFill>
                          <a:srgbClr val="0000FF"/>
                        </a:solidFill>
                        <a:highlight>
                          <a:srgbClr val="FFFFFF"/>
                        </a:highlight>
                        <a:latin typeface="Courier New"/>
                        <a:ea typeface="Courier New"/>
                        <a:cs typeface="Courier New"/>
                        <a:sym typeface="Courier New"/>
                      </a:endParaRPr>
                    </a:p>
                  </a:txBody>
                  <a:tcPr marT="63500" marB="63500" marR="63500" marL="63500"/>
                </a:tc>
              </a:tr>
            </a:tbl>
          </a:graphicData>
        </a:graphic>
      </p:graphicFrame>
      <p:sp>
        <p:nvSpPr>
          <p:cNvPr id="310" name="Google Shape;310;p31"/>
          <p:cNvSpPr/>
          <p:nvPr/>
        </p:nvSpPr>
        <p:spPr>
          <a:xfrm>
            <a:off x="4754950" y="3642700"/>
            <a:ext cx="4196400" cy="2880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1" name="Google Shape;311;p31"/>
          <p:cNvCxnSpPr>
            <a:stCxn id="310" idx="1"/>
          </p:cNvCxnSpPr>
          <p:nvPr/>
        </p:nvCxnSpPr>
        <p:spPr>
          <a:xfrm rot="10800000">
            <a:off x="1490950" y="3313000"/>
            <a:ext cx="3264000" cy="473700"/>
          </a:xfrm>
          <a:prstGeom prst="straightConnector1">
            <a:avLst/>
          </a:prstGeom>
          <a:noFill/>
          <a:ln cap="flat" cmpd="sng" w="28575">
            <a:solidFill>
              <a:srgbClr val="980000"/>
            </a:solidFill>
            <a:prstDash val="solid"/>
            <a:round/>
            <a:headEnd len="med" w="med" type="none"/>
            <a:tailEnd len="med" w="med" type="triangle"/>
          </a:ln>
        </p:spPr>
      </p:cxnSp>
      <p:sp>
        <p:nvSpPr>
          <p:cNvPr id="312" name="Google Shape;312;p31"/>
          <p:cNvSpPr txBox="1"/>
          <p:nvPr/>
        </p:nvSpPr>
        <p:spPr>
          <a:xfrm>
            <a:off x="2430525" y="4367513"/>
            <a:ext cx="1887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Function Call</a:t>
            </a:r>
            <a:endParaRPr b="1" sz="2000">
              <a:solidFill>
                <a:srgbClr val="404040"/>
              </a:solidFill>
              <a:latin typeface="Comic Sans MS"/>
              <a:ea typeface="Comic Sans MS"/>
              <a:cs typeface="Comic Sans MS"/>
              <a:sym typeface="Comic Sans MS"/>
            </a:endParaRPr>
          </a:p>
        </p:txBody>
      </p:sp>
      <p:cxnSp>
        <p:nvCxnSpPr>
          <p:cNvPr id="313" name="Google Shape;313;p31"/>
          <p:cNvCxnSpPr/>
          <p:nvPr/>
        </p:nvCxnSpPr>
        <p:spPr>
          <a:xfrm>
            <a:off x="8630775" y="2331325"/>
            <a:ext cx="12600" cy="1209600"/>
          </a:xfrm>
          <a:prstGeom prst="straightConnector1">
            <a:avLst/>
          </a:prstGeom>
          <a:noFill/>
          <a:ln cap="flat" cmpd="sng" w="28575">
            <a:solidFill>
              <a:srgbClr val="980000"/>
            </a:solidFill>
            <a:prstDash val="solid"/>
            <a:round/>
            <a:headEnd len="med" w="med" type="none"/>
            <a:tailEnd len="med" w="med" type="triangle"/>
          </a:ln>
        </p:spPr>
      </p:cxnSp>
      <p:sp>
        <p:nvSpPr>
          <p:cNvPr id="314" name="Google Shape;314;p31"/>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1"/>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316" name="Google Shape;316;p31"/>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317" name="Google Shape;317;p31"/>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31"/>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319" name="Google Shape;319;p31"/>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320" name="Google Shape;320;p31"/>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321" name="Google Shape;321;p31"/>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322" name="Google Shape;322;p31"/>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323" name="Google Shape;323;p31"/>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4" name="Google Shape;324;p31"/>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325" name="Google Shape;325;p31"/>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2"/>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32" name="Google Shape;332;p32"/>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333" name="Google Shape;333;p32"/>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334" name="Google Shape;334;p32"/>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Variables: </a:t>
            </a:r>
            <a:r>
              <a:rPr b="1" lang="en" sz="3600">
                <a:solidFill>
                  <a:srgbClr val="434343"/>
                </a:solidFill>
                <a:latin typeface="Comic Sans MS"/>
                <a:ea typeface="Comic Sans MS"/>
                <a:cs typeface="Comic Sans MS"/>
                <a:sym typeface="Comic Sans MS"/>
              </a:rPr>
              <a:t>Passing by Reference</a:t>
            </a:r>
            <a:endParaRPr b="1" sz="3600">
              <a:solidFill>
                <a:srgbClr val="434343"/>
              </a:solidFill>
              <a:latin typeface="Comic Sans MS"/>
              <a:ea typeface="Comic Sans MS"/>
              <a:cs typeface="Comic Sans MS"/>
              <a:sym typeface="Comic Sans MS"/>
            </a:endParaRPr>
          </a:p>
        </p:txBody>
      </p:sp>
      <p:graphicFrame>
        <p:nvGraphicFramePr>
          <p:cNvPr id="335" name="Google Shape;335;p32"/>
          <p:cNvGraphicFramePr/>
          <p:nvPr/>
        </p:nvGraphicFramePr>
        <p:xfrm>
          <a:off x="74488" y="2916225"/>
          <a:ext cx="3000000" cy="3000000"/>
        </p:xfrm>
        <a:graphic>
          <a:graphicData uri="http://schemas.openxmlformats.org/drawingml/2006/table">
            <a:tbl>
              <a:tblPr>
                <a:noFill/>
                <a:tableStyleId>{0E775C3B-ED88-47DF-BCA5-81FE39E699D0}</a:tableStyleId>
              </a:tblPr>
              <a:tblGrid>
                <a:gridCol w="327000"/>
                <a:gridCol w="3672150"/>
              </a:tblGrid>
              <a:tr h="12700">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p>
                  </a:txBody>
                  <a:tcPr marT="63500" marB="63500" marR="63500" marL="63500"/>
                </a:tc>
                <a:tc>
                  <a:txBody>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addition(</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&amp;num1,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&amp;num2)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sum = num1 +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return</a:t>
                      </a:r>
                      <a:r>
                        <a:rPr b="1" lang="en" sz="1350">
                          <a:solidFill>
                            <a:srgbClr val="000000"/>
                          </a:solidFill>
                          <a:highlight>
                            <a:srgbClr val="FFFFFF"/>
                          </a:highlight>
                          <a:latin typeface="Courier New"/>
                          <a:ea typeface="Courier New"/>
                          <a:cs typeface="Courier New"/>
                          <a:sym typeface="Courier New"/>
                        </a:rPr>
                        <a:t> sum;</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a:solidFill>
                          <a:srgbClr val="AF00DB"/>
                        </a:solidFill>
                        <a:latin typeface="Courier New"/>
                        <a:ea typeface="Courier New"/>
                        <a:cs typeface="Courier New"/>
                        <a:sym typeface="Courier New"/>
                      </a:endParaRPr>
                    </a:p>
                  </a:txBody>
                  <a:tcPr marT="63500" marB="63500" marR="63500" marL="63500"/>
                </a:tc>
              </a:tr>
            </a:tbl>
          </a:graphicData>
        </a:graphic>
      </p:graphicFrame>
      <p:graphicFrame>
        <p:nvGraphicFramePr>
          <p:cNvPr id="336" name="Google Shape;336;p32"/>
          <p:cNvGraphicFramePr/>
          <p:nvPr/>
        </p:nvGraphicFramePr>
        <p:xfrm>
          <a:off x="4188988" y="1883475"/>
          <a:ext cx="3000000" cy="3000000"/>
        </p:xfrm>
        <a:graphic>
          <a:graphicData uri="http://schemas.openxmlformats.org/drawingml/2006/table">
            <a:tbl>
              <a:tblPr>
                <a:noFill/>
                <a:tableStyleId>{0E775C3B-ED88-47DF-BCA5-81FE39E699D0}</a:tableStyleId>
              </a:tblPr>
              <a:tblGrid>
                <a:gridCol w="327000"/>
                <a:gridCol w="4553250"/>
              </a:tblGrid>
              <a:tr h="2786175">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6</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7</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8</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9</a:t>
                      </a:r>
                      <a:endParaRPr b="1">
                        <a:solidFill>
                          <a:srgbClr val="098658"/>
                        </a:solidFill>
                        <a:latin typeface="Courier New"/>
                        <a:ea typeface="Courier New"/>
                        <a:cs typeface="Courier New"/>
                        <a:sym typeface="Courier New"/>
                      </a:endParaRPr>
                    </a:p>
                  </a:txBody>
                  <a:tcPr marT="63500" marB="63500" marR="63500" marL="63500"/>
                </a:tc>
                <a:tc>
                  <a:txBody>
                    <a:bodyPr/>
                    <a:lstStyle/>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main(){</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a:t>
                      </a:r>
                      <a:r>
                        <a:rPr b="1" lang="en">
                          <a:solidFill>
                            <a:srgbClr val="0000FF"/>
                          </a:solidFill>
                          <a:highlight>
                            <a:srgbClr val="FFFFFF"/>
                          </a:highlight>
                          <a:latin typeface="Courier New"/>
                          <a:ea typeface="Courier New"/>
                          <a:cs typeface="Courier New"/>
                          <a:sym typeface="Courier New"/>
                        </a:rPr>
                        <a:t>int</a:t>
                      </a:r>
                      <a:r>
                        <a:rPr b="1" lang="en">
                          <a:solidFill>
                            <a:srgbClr val="000000"/>
                          </a:solidFill>
                          <a:highlight>
                            <a:srgbClr val="FFFFFF"/>
                          </a:highlight>
                          <a:latin typeface="Courier New"/>
                          <a:ea typeface="Courier New"/>
                          <a:cs typeface="Courier New"/>
                          <a:sym typeface="Courier New"/>
                        </a:rPr>
                        <a:t> number1, number2,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First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number1;</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Second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result = addition(number1,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"Sum is: "</a:t>
                      </a:r>
                      <a:r>
                        <a:rPr b="1" lang="en">
                          <a:solidFill>
                            <a:srgbClr val="000000"/>
                          </a:solidFill>
                          <a:highlight>
                            <a:srgbClr val="FFFFFF"/>
                          </a:highlight>
                          <a:latin typeface="Courier New"/>
                          <a:ea typeface="Courier New"/>
                          <a:cs typeface="Courier New"/>
                          <a:sym typeface="Courier New"/>
                        </a:rPr>
                        <a:t> &lt;&lt;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a:t>
                      </a:r>
                      <a:endParaRPr b="1">
                        <a:solidFill>
                          <a:srgbClr val="0000FF"/>
                        </a:solidFill>
                        <a:highlight>
                          <a:srgbClr val="FFFFFF"/>
                        </a:highlight>
                        <a:latin typeface="Courier New"/>
                        <a:ea typeface="Courier New"/>
                        <a:cs typeface="Courier New"/>
                        <a:sym typeface="Courier New"/>
                      </a:endParaRPr>
                    </a:p>
                  </a:txBody>
                  <a:tcPr marT="63500" marB="63500" marR="63500" marL="63500"/>
                </a:tc>
              </a:tr>
            </a:tbl>
          </a:graphicData>
        </a:graphic>
      </p:graphicFrame>
      <p:sp>
        <p:nvSpPr>
          <p:cNvPr id="337" name="Google Shape;337;p32"/>
          <p:cNvSpPr/>
          <p:nvPr/>
        </p:nvSpPr>
        <p:spPr>
          <a:xfrm>
            <a:off x="4754950" y="3642700"/>
            <a:ext cx="4196400" cy="2880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8" name="Google Shape;338;p32"/>
          <p:cNvCxnSpPr>
            <a:stCxn id="337" idx="1"/>
          </p:cNvCxnSpPr>
          <p:nvPr/>
        </p:nvCxnSpPr>
        <p:spPr>
          <a:xfrm rot="10800000">
            <a:off x="1490950" y="3313000"/>
            <a:ext cx="3264000" cy="473700"/>
          </a:xfrm>
          <a:prstGeom prst="straightConnector1">
            <a:avLst/>
          </a:prstGeom>
          <a:noFill/>
          <a:ln cap="flat" cmpd="sng" w="28575">
            <a:solidFill>
              <a:srgbClr val="980000"/>
            </a:solidFill>
            <a:prstDash val="solid"/>
            <a:round/>
            <a:headEnd len="med" w="med" type="none"/>
            <a:tailEnd len="med" w="med" type="triangle"/>
          </a:ln>
        </p:spPr>
      </p:cxnSp>
      <p:sp>
        <p:nvSpPr>
          <p:cNvPr id="339" name="Google Shape;339;p32"/>
          <p:cNvSpPr txBox="1"/>
          <p:nvPr/>
        </p:nvSpPr>
        <p:spPr>
          <a:xfrm>
            <a:off x="2430525" y="4367513"/>
            <a:ext cx="1887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Function Call</a:t>
            </a:r>
            <a:endParaRPr b="1" sz="2000">
              <a:solidFill>
                <a:srgbClr val="404040"/>
              </a:solidFill>
              <a:latin typeface="Comic Sans MS"/>
              <a:ea typeface="Comic Sans MS"/>
              <a:cs typeface="Comic Sans MS"/>
              <a:sym typeface="Comic Sans MS"/>
            </a:endParaRPr>
          </a:p>
        </p:txBody>
      </p:sp>
      <p:cxnSp>
        <p:nvCxnSpPr>
          <p:cNvPr id="340" name="Google Shape;340;p32"/>
          <p:cNvCxnSpPr/>
          <p:nvPr/>
        </p:nvCxnSpPr>
        <p:spPr>
          <a:xfrm>
            <a:off x="8630775" y="2331325"/>
            <a:ext cx="12600" cy="1209600"/>
          </a:xfrm>
          <a:prstGeom prst="straightConnector1">
            <a:avLst/>
          </a:prstGeom>
          <a:noFill/>
          <a:ln cap="flat" cmpd="sng" w="28575">
            <a:solidFill>
              <a:srgbClr val="980000"/>
            </a:solidFill>
            <a:prstDash val="solid"/>
            <a:round/>
            <a:headEnd len="med" w="med" type="none"/>
            <a:tailEnd len="med" w="med" type="triangle"/>
          </a:ln>
        </p:spPr>
      </p:cxnSp>
      <p:sp>
        <p:nvSpPr>
          <p:cNvPr id="341" name="Google Shape;341;p32"/>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2"/>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343" name="Google Shape;343;p32"/>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344" name="Google Shape;344;p32"/>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D15A12"/>
                </a:solidFill>
                <a:latin typeface="Raleway"/>
                <a:ea typeface="Raleway"/>
                <a:cs typeface="Raleway"/>
                <a:sym typeface="Raleway"/>
              </a:rPr>
              <a:t>0xE4A71</a:t>
            </a:r>
            <a:endParaRPr sz="1300">
              <a:solidFill>
                <a:srgbClr val="D15A12"/>
              </a:solidFill>
            </a:endParaRPr>
          </a:p>
        </p:txBody>
      </p:sp>
      <p:sp>
        <p:nvSpPr>
          <p:cNvPr id="345" name="Google Shape;345;p32"/>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346" name="Google Shape;346;p32"/>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347" name="Google Shape;347;p32"/>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348" name="Google Shape;348;p32"/>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349" name="Google Shape;349;p32"/>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350" name="Google Shape;350;p32"/>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D15A12"/>
                </a:solidFill>
                <a:latin typeface="Raleway"/>
                <a:ea typeface="Raleway"/>
                <a:cs typeface="Raleway"/>
                <a:sym typeface="Raleway"/>
              </a:rPr>
              <a:t>0xE4A75</a:t>
            </a:r>
            <a:endParaRPr sz="1300">
              <a:solidFill>
                <a:srgbClr val="D15A12"/>
              </a:solidFill>
            </a:endParaRPr>
          </a:p>
        </p:txBody>
      </p:sp>
      <p:sp>
        <p:nvSpPr>
          <p:cNvPr id="351" name="Google Shape;351;p32"/>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352" name="Google Shape;352;p32"/>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
        <p:nvSpPr>
          <p:cNvPr id="353" name="Google Shape;353;p32"/>
          <p:cNvSpPr txBox="1"/>
          <p:nvPr/>
        </p:nvSpPr>
        <p:spPr>
          <a:xfrm>
            <a:off x="639624" y="1775975"/>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num1</a:t>
            </a:r>
            <a:endParaRPr b="1" sz="1600">
              <a:solidFill>
                <a:srgbClr val="D15A12"/>
              </a:solidFill>
              <a:latin typeface="Raleway"/>
              <a:ea typeface="Raleway"/>
              <a:cs typeface="Raleway"/>
              <a:sym typeface="Raleway"/>
            </a:endParaRPr>
          </a:p>
        </p:txBody>
      </p:sp>
      <p:sp>
        <p:nvSpPr>
          <p:cNvPr id="354" name="Google Shape;354;p32"/>
          <p:cNvSpPr txBox="1"/>
          <p:nvPr/>
        </p:nvSpPr>
        <p:spPr>
          <a:xfrm>
            <a:off x="639624" y="211140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num2</a:t>
            </a:r>
            <a:endParaRPr b="1" sz="1600">
              <a:solidFill>
                <a:srgbClr val="D15A12"/>
              </a:solidFill>
              <a:latin typeface="Raleway"/>
              <a:ea typeface="Raleway"/>
              <a:cs typeface="Raleway"/>
              <a:sym typeface="Ralew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3"/>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61" name="Google Shape;361;p33"/>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362" name="Google Shape;362;p33"/>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363" name="Google Shape;363;p33"/>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75000"/>
              <a:buFont typeface="Libre Franklin Medium"/>
              <a:buNone/>
            </a:pPr>
            <a:r>
              <a:rPr b="1" lang="en" sz="3600">
                <a:solidFill>
                  <a:srgbClr val="D15A12"/>
                </a:solidFill>
                <a:latin typeface="Comic Sans MS"/>
                <a:ea typeface="Comic Sans MS"/>
                <a:cs typeface="Comic Sans MS"/>
                <a:sym typeface="Comic Sans MS"/>
              </a:rPr>
              <a:t>   </a:t>
            </a:r>
            <a:r>
              <a:rPr b="1" lang="en" sz="3488">
                <a:solidFill>
                  <a:srgbClr val="D15A12"/>
                </a:solidFill>
                <a:latin typeface="Comic Sans MS"/>
                <a:ea typeface="Comic Sans MS"/>
                <a:cs typeface="Comic Sans MS"/>
                <a:sym typeface="Comic Sans MS"/>
              </a:rPr>
              <a:t>Variable passing by </a:t>
            </a:r>
            <a:r>
              <a:rPr b="1" lang="en" sz="3488">
                <a:solidFill>
                  <a:srgbClr val="434343"/>
                </a:solidFill>
                <a:latin typeface="Comic Sans MS"/>
                <a:ea typeface="Comic Sans MS"/>
                <a:cs typeface="Comic Sans MS"/>
                <a:sym typeface="Comic Sans MS"/>
              </a:rPr>
              <a:t>Value</a:t>
            </a:r>
            <a:r>
              <a:rPr b="1" lang="en" sz="3488">
                <a:solidFill>
                  <a:srgbClr val="D15A12"/>
                </a:solidFill>
                <a:latin typeface="Comic Sans MS"/>
                <a:ea typeface="Comic Sans MS"/>
                <a:cs typeface="Comic Sans MS"/>
                <a:sym typeface="Comic Sans MS"/>
              </a:rPr>
              <a:t> VS by </a:t>
            </a:r>
            <a:r>
              <a:rPr b="1" lang="en" sz="3488">
                <a:solidFill>
                  <a:srgbClr val="434343"/>
                </a:solidFill>
                <a:latin typeface="Comic Sans MS"/>
                <a:ea typeface="Comic Sans MS"/>
                <a:cs typeface="Comic Sans MS"/>
                <a:sym typeface="Comic Sans MS"/>
              </a:rPr>
              <a:t>Reference</a:t>
            </a:r>
            <a:endParaRPr b="1" sz="3488">
              <a:solidFill>
                <a:srgbClr val="434343"/>
              </a:solidFill>
              <a:latin typeface="Comic Sans MS"/>
              <a:ea typeface="Comic Sans MS"/>
              <a:cs typeface="Comic Sans MS"/>
              <a:sym typeface="Comic Sans MS"/>
            </a:endParaRPr>
          </a:p>
        </p:txBody>
      </p:sp>
      <p:sp>
        <p:nvSpPr>
          <p:cNvPr id="364" name="Google Shape;364;p33"/>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When we use pass by reference and if the </a:t>
            </a:r>
            <a:r>
              <a:rPr b="1" lang="en" sz="2400">
                <a:solidFill>
                  <a:srgbClr val="434343"/>
                </a:solidFill>
                <a:latin typeface="Comic Sans MS"/>
                <a:ea typeface="Comic Sans MS"/>
                <a:cs typeface="Comic Sans MS"/>
                <a:sym typeface="Comic Sans MS"/>
              </a:rPr>
              <a:t>receiving</a:t>
            </a:r>
            <a:r>
              <a:rPr b="1" lang="en" sz="2400">
                <a:solidFill>
                  <a:srgbClr val="434343"/>
                </a:solidFill>
                <a:latin typeface="Comic Sans MS"/>
                <a:ea typeface="Comic Sans MS"/>
                <a:cs typeface="Comic Sans MS"/>
                <a:sym typeface="Comic Sans MS"/>
              </a:rPr>
              <a:t> </a:t>
            </a:r>
            <a:r>
              <a:rPr b="1" lang="en" sz="2400">
                <a:solidFill>
                  <a:srgbClr val="D15A12"/>
                </a:solidFill>
                <a:latin typeface="Comic Sans MS"/>
                <a:ea typeface="Comic Sans MS"/>
                <a:cs typeface="Comic Sans MS"/>
                <a:sym typeface="Comic Sans MS"/>
              </a:rPr>
              <a:t>function make any change</a:t>
            </a:r>
            <a:r>
              <a:rPr b="1" lang="en" sz="2400">
                <a:solidFill>
                  <a:srgbClr val="434343"/>
                </a:solidFill>
                <a:latin typeface="Comic Sans MS"/>
                <a:ea typeface="Comic Sans MS"/>
                <a:cs typeface="Comic Sans MS"/>
                <a:sym typeface="Comic Sans MS"/>
              </a:rPr>
              <a:t> in the variable the change will also </a:t>
            </a:r>
            <a:r>
              <a:rPr b="1" lang="en" sz="2400">
                <a:solidFill>
                  <a:srgbClr val="D15A12"/>
                </a:solidFill>
                <a:latin typeface="Comic Sans MS"/>
                <a:ea typeface="Comic Sans MS"/>
                <a:cs typeface="Comic Sans MS"/>
                <a:sym typeface="Comic Sans MS"/>
              </a:rPr>
              <a:t>visible to the caller.</a:t>
            </a:r>
            <a:r>
              <a:rPr b="1" lang="en" sz="2400">
                <a:solidFill>
                  <a:srgbClr val="434343"/>
                </a:solidFill>
                <a:latin typeface="Comic Sans MS"/>
                <a:ea typeface="Comic Sans MS"/>
                <a:cs typeface="Comic Sans MS"/>
                <a:sym typeface="Comic Sans MS"/>
              </a:rPr>
              <a:t> why</a:t>
            </a:r>
            <a:r>
              <a:rPr b="1" lang="en" sz="2400">
                <a:solidFill>
                  <a:srgbClr val="434343"/>
                </a:solidFill>
                <a:latin typeface="Comic Sans MS"/>
                <a:ea typeface="Comic Sans MS"/>
                <a:cs typeface="Comic Sans MS"/>
                <a:sym typeface="Comic Sans MS"/>
              </a:rPr>
              <a:t>?</a:t>
            </a:r>
            <a:endParaRPr b="1" sz="2400">
              <a:solidFill>
                <a:srgbClr val="434343"/>
              </a:solidFill>
              <a:latin typeface="Comic Sans MS"/>
              <a:ea typeface="Comic Sans MS"/>
              <a:cs typeface="Comic Sans MS"/>
              <a:sym typeface="Comic Sans MS"/>
            </a:endParaRPr>
          </a:p>
        </p:txBody>
      </p:sp>
      <p:graphicFrame>
        <p:nvGraphicFramePr>
          <p:cNvPr id="365" name="Google Shape;365;p33"/>
          <p:cNvGraphicFramePr/>
          <p:nvPr/>
        </p:nvGraphicFramePr>
        <p:xfrm>
          <a:off x="4570288" y="2382825"/>
          <a:ext cx="3000000" cy="3000000"/>
        </p:xfrm>
        <a:graphic>
          <a:graphicData uri="http://schemas.openxmlformats.org/drawingml/2006/table">
            <a:tbl>
              <a:tblPr>
                <a:noFill/>
                <a:tableStyleId>{0E775C3B-ED88-47DF-BCA5-81FE39E699D0}</a:tableStyleId>
              </a:tblPr>
              <a:tblGrid>
                <a:gridCol w="4238225"/>
              </a:tblGrid>
              <a:tr h="12700">
                <a:tc>
                  <a:txBody>
                    <a:bodyPr/>
                    <a:lstStyle/>
                    <a:p>
                      <a:pPr indent="0" lvl="0" marL="0" rtl="0" algn="l">
                        <a:lnSpc>
                          <a:spcPct val="135714"/>
                        </a:lnSpc>
                        <a:spcBef>
                          <a:spcPts val="0"/>
                        </a:spcBef>
                        <a:spcAft>
                          <a:spcPts val="0"/>
                        </a:spcAft>
                        <a:buClr>
                          <a:schemeClr val="dk1"/>
                        </a:buClr>
                        <a:buSzPts val="1100"/>
                        <a:buFont typeface="Arial"/>
                        <a:buNone/>
                      </a:pP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addition(</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&amp;</a:t>
                      </a:r>
                      <a:r>
                        <a:rPr b="1" lang="en" sz="1550">
                          <a:solidFill>
                            <a:schemeClr val="dk1"/>
                          </a:solidFill>
                          <a:highlight>
                            <a:srgbClr val="FFFFFF"/>
                          </a:highlight>
                          <a:latin typeface="Courier New"/>
                          <a:ea typeface="Courier New"/>
                          <a:cs typeface="Courier New"/>
                          <a:sym typeface="Courier New"/>
                        </a:rPr>
                        <a:t>num1,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&amp;</a:t>
                      </a:r>
                      <a:r>
                        <a:rPr b="1" lang="en" sz="1550">
                          <a:solidFill>
                            <a:schemeClr val="dk1"/>
                          </a:solidFill>
                          <a:highlight>
                            <a:srgbClr val="FFFFFF"/>
                          </a:highlight>
                          <a:latin typeface="Courier New"/>
                          <a:ea typeface="Courier New"/>
                          <a:cs typeface="Courier New"/>
                          <a:sym typeface="Courier New"/>
                        </a:rPr>
                        <a:t>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sum = num1 +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return</a:t>
                      </a:r>
                      <a:r>
                        <a:rPr b="1" lang="en" sz="1550">
                          <a:solidFill>
                            <a:schemeClr val="dk1"/>
                          </a:solidFill>
                          <a:highlight>
                            <a:srgbClr val="FFFFFF"/>
                          </a:highlight>
                          <a:latin typeface="Courier New"/>
                          <a:ea typeface="Courier New"/>
                          <a:cs typeface="Courier New"/>
                          <a:sym typeface="Courier New"/>
                        </a:rPr>
                        <a:t> sum;</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550">
                          <a:solidFill>
                            <a:schemeClr val="dk1"/>
                          </a:solidFill>
                          <a:highlight>
                            <a:srgbClr val="FFFFFF"/>
                          </a:highlight>
                          <a:latin typeface="Courier New"/>
                          <a:ea typeface="Courier New"/>
                          <a:cs typeface="Courier New"/>
                          <a:sym typeface="Courier New"/>
                        </a:rPr>
                        <a:t>}</a:t>
                      </a:r>
                      <a:endParaRPr b="1" sz="1600">
                        <a:solidFill>
                          <a:srgbClr val="AF00DB"/>
                        </a:solidFill>
                        <a:latin typeface="Courier New"/>
                        <a:ea typeface="Courier New"/>
                        <a:cs typeface="Courier New"/>
                        <a:sym typeface="Courier New"/>
                      </a:endParaRPr>
                    </a:p>
                  </a:txBody>
                  <a:tcPr marT="63500" marB="63500" marR="63500" marL="63500"/>
                </a:tc>
              </a:tr>
            </a:tbl>
          </a:graphicData>
        </a:graphic>
      </p:graphicFrame>
      <p:graphicFrame>
        <p:nvGraphicFramePr>
          <p:cNvPr id="366" name="Google Shape;366;p33"/>
          <p:cNvGraphicFramePr/>
          <p:nvPr/>
        </p:nvGraphicFramePr>
        <p:xfrm>
          <a:off x="303088" y="2382825"/>
          <a:ext cx="3000000" cy="3000000"/>
        </p:xfrm>
        <a:graphic>
          <a:graphicData uri="http://schemas.openxmlformats.org/drawingml/2006/table">
            <a:tbl>
              <a:tblPr>
                <a:noFill/>
                <a:tableStyleId>{0E775C3B-ED88-47DF-BCA5-81FE39E699D0}</a:tableStyleId>
              </a:tblPr>
              <a:tblGrid>
                <a:gridCol w="4238225"/>
              </a:tblGrid>
              <a:tr h="12700">
                <a:tc>
                  <a:txBody>
                    <a:bodyPr/>
                    <a:lstStyle/>
                    <a:p>
                      <a:pPr indent="0" lvl="0" marL="0" rtl="0" algn="l">
                        <a:lnSpc>
                          <a:spcPct val="135714"/>
                        </a:lnSpc>
                        <a:spcBef>
                          <a:spcPts val="0"/>
                        </a:spcBef>
                        <a:spcAft>
                          <a:spcPts val="0"/>
                        </a:spcAft>
                        <a:buClr>
                          <a:schemeClr val="dk1"/>
                        </a:buClr>
                        <a:buSzPts val="1100"/>
                        <a:buFont typeface="Arial"/>
                        <a:buNone/>
                      </a:pP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addition(</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num1,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sum = num1 +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num1 = 3</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return</a:t>
                      </a:r>
                      <a:r>
                        <a:rPr b="1" lang="en" sz="1550">
                          <a:solidFill>
                            <a:schemeClr val="dk1"/>
                          </a:solidFill>
                          <a:highlight>
                            <a:srgbClr val="FFFFFF"/>
                          </a:highlight>
                          <a:latin typeface="Courier New"/>
                          <a:ea typeface="Courier New"/>
                          <a:cs typeface="Courier New"/>
                          <a:sym typeface="Courier New"/>
                        </a:rPr>
                        <a:t> sum;</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550">
                          <a:solidFill>
                            <a:schemeClr val="dk1"/>
                          </a:solidFill>
                          <a:highlight>
                            <a:srgbClr val="FFFFFF"/>
                          </a:highlight>
                          <a:latin typeface="Courier New"/>
                          <a:ea typeface="Courier New"/>
                          <a:cs typeface="Courier New"/>
                          <a:sym typeface="Courier New"/>
                        </a:rPr>
                        <a:t>}</a:t>
                      </a:r>
                      <a:endParaRPr b="1" sz="1600">
                        <a:solidFill>
                          <a:srgbClr val="AF00DB"/>
                        </a:solidFill>
                        <a:latin typeface="Courier New"/>
                        <a:ea typeface="Courier New"/>
                        <a:cs typeface="Courier New"/>
                        <a:sym typeface="Courier New"/>
                      </a:endParaRPr>
                    </a:p>
                  </a:txBody>
                  <a:tcPr marT="63500" marB="63500" marR="63500" marL="63500"/>
                </a:tc>
              </a:tr>
            </a:tbl>
          </a:graphicData>
        </a:graphic>
      </p:graphicFrame>
      <p:sp>
        <p:nvSpPr>
          <p:cNvPr id="367" name="Google Shape;367;p33"/>
          <p:cNvSpPr txBox="1"/>
          <p:nvPr/>
        </p:nvSpPr>
        <p:spPr>
          <a:xfrm>
            <a:off x="1363725" y="4367513"/>
            <a:ext cx="1887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Pass by Value</a:t>
            </a:r>
            <a:endParaRPr b="1" sz="2000">
              <a:solidFill>
                <a:srgbClr val="404040"/>
              </a:solidFill>
              <a:latin typeface="Comic Sans MS"/>
              <a:ea typeface="Comic Sans MS"/>
              <a:cs typeface="Comic Sans MS"/>
              <a:sym typeface="Comic Sans MS"/>
            </a:endParaRPr>
          </a:p>
        </p:txBody>
      </p:sp>
      <p:sp>
        <p:nvSpPr>
          <p:cNvPr id="368" name="Google Shape;368;p33"/>
          <p:cNvSpPr txBox="1"/>
          <p:nvPr/>
        </p:nvSpPr>
        <p:spPr>
          <a:xfrm>
            <a:off x="5554725" y="4215125"/>
            <a:ext cx="2475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Pass by Reference</a:t>
            </a:r>
            <a:endParaRPr b="1" sz="2000">
              <a:solidFill>
                <a:srgbClr val="404040"/>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1000"/>
                                        <p:tgtEl>
                                          <p:spTgt spid="3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4"/>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75" name="Google Shape;375;p34"/>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376" name="Google Shape;376;p34"/>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377" name="Google Shape;377;p34"/>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75000"/>
              <a:buFont typeface="Libre Franklin Medium"/>
              <a:buNone/>
            </a:pPr>
            <a:r>
              <a:rPr b="1" lang="en" sz="3600">
                <a:solidFill>
                  <a:srgbClr val="D15A12"/>
                </a:solidFill>
                <a:latin typeface="Comic Sans MS"/>
                <a:ea typeface="Comic Sans MS"/>
                <a:cs typeface="Comic Sans MS"/>
                <a:sym typeface="Comic Sans MS"/>
              </a:rPr>
              <a:t>   </a:t>
            </a:r>
            <a:r>
              <a:rPr b="1" lang="en" sz="3488">
                <a:solidFill>
                  <a:srgbClr val="D15A12"/>
                </a:solidFill>
                <a:latin typeface="Comic Sans MS"/>
                <a:ea typeface="Comic Sans MS"/>
                <a:cs typeface="Comic Sans MS"/>
                <a:sym typeface="Comic Sans MS"/>
              </a:rPr>
              <a:t>Variable passing by </a:t>
            </a:r>
            <a:r>
              <a:rPr b="1" lang="en" sz="3488">
                <a:solidFill>
                  <a:srgbClr val="434343"/>
                </a:solidFill>
                <a:latin typeface="Comic Sans MS"/>
                <a:ea typeface="Comic Sans MS"/>
                <a:cs typeface="Comic Sans MS"/>
                <a:sym typeface="Comic Sans MS"/>
              </a:rPr>
              <a:t>Value</a:t>
            </a:r>
            <a:r>
              <a:rPr b="1" lang="en" sz="3488">
                <a:solidFill>
                  <a:srgbClr val="D15A12"/>
                </a:solidFill>
                <a:latin typeface="Comic Sans MS"/>
                <a:ea typeface="Comic Sans MS"/>
                <a:cs typeface="Comic Sans MS"/>
                <a:sym typeface="Comic Sans MS"/>
              </a:rPr>
              <a:t> VS by </a:t>
            </a:r>
            <a:r>
              <a:rPr b="1" lang="en" sz="3488">
                <a:solidFill>
                  <a:srgbClr val="434343"/>
                </a:solidFill>
                <a:latin typeface="Comic Sans MS"/>
                <a:ea typeface="Comic Sans MS"/>
                <a:cs typeface="Comic Sans MS"/>
                <a:sym typeface="Comic Sans MS"/>
              </a:rPr>
              <a:t>Reference</a:t>
            </a:r>
            <a:endParaRPr b="1" sz="3488">
              <a:solidFill>
                <a:srgbClr val="434343"/>
              </a:solidFill>
              <a:latin typeface="Comic Sans MS"/>
              <a:ea typeface="Comic Sans MS"/>
              <a:cs typeface="Comic Sans MS"/>
              <a:sym typeface="Comic Sans MS"/>
            </a:endParaRPr>
          </a:p>
        </p:txBody>
      </p:sp>
      <p:sp>
        <p:nvSpPr>
          <p:cNvPr id="378" name="Google Shape;378;p34"/>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Both functions did the </a:t>
            </a:r>
            <a:r>
              <a:rPr b="1" lang="en" sz="2400">
                <a:solidFill>
                  <a:srgbClr val="D15A12"/>
                </a:solidFill>
                <a:latin typeface="Comic Sans MS"/>
                <a:ea typeface="Comic Sans MS"/>
                <a:cs typeface="Comic Sans MS"/>
                <a:sym typeface="Comic Sans MS"/>
              </a:rPr>
              <a:t>same job</a:t>
            </a:r>
            <a:r>
              <a:rPr b="1" lang="en" sz="2400">
                <a:solidFill>
                  <a:srgbClr val="434343"/>
                </a:solidFill>
                <a:latin typeface="Comic Sans MS"/>
                <a:ea typeface="Comic Sans MS"/>
                <a:cs typeface="Comic Sans MS"/>
                <a:sym typeface="Comic Sans MS"/>
              </a:rPr>
              <a:t>, but what was the </a:t>
            </a:r>
            <a:r>
              <a:rPr b="1" lang="en" sz="2400">
                <a:solidFill>
                  <a:srgbClr val="D15A12"/>
                </a:solidFill>
                <a:latin typeface="Comic Sans MS"/>
                <a:ea typeface="Comic Sans MS"/>
                <a:cs typeface="Comic Sans MS"/>
                <a:sym typeface="Comic Sans MS"/>
              </a:rPr>
              <a:t>benefit</a:t>
            </a:r>
            <a:r>
              <a:rPr b="1" lang="en" sz="2400">
                <a:solidFill>
                  <a:srgbClr val="434343"/>
                </a:solidFill>
                <a:latin typeface="Comic Sans MS"/>
                <a:ea typeface="Comic Sans MS"/>
                <a:cs typeface="Comic Sans MS"/>
                <a:sym typeface="Comic Sans MS"/>
              </a:rPr>
              <a:t> of passing the variable </a:t>
            </a:r>
            <a:r>
              <a:rPr b="1" lang="en" sz="2400">
                <a:solidFill>
                  <a:srgbClr val="D15A12"/>
                </a:solidFill>
                <a:latin typeface="Comic Sans MS"/>
                <a:ea typeface="Comic Sans MS"/>
                <a:cs typeface="Comic Sans MS"/>
                <a:sym typeface="Comic Sans MS"/>
              </a:rPr>
              <a:t>by reference</a:t>
            </a:r>
            <a:r>
              <a:rPr b="1" lang="en" sz="2400">
                <a:solidFill>
                  <a:srgbClr val="434343"/>
                </a:solidFill>
                <a:latin typeface="Comic Sans MS"/>
                <a:ea typeface="Comic Sans MS"/>
                <a:cs typeface="Comic Sans MS"/>
                <a:sym typeface="Comic Sans MS"/>
              </a:rPr>
              <a:t>?</a:t>
            </a:r>
            <a:endParaRPr b="1" sz="2400">
              <a:solidFill>
                <a:srgbClr val="434343"/>
              </a:solidFill>
              <a:latin typeface="Comic Sans MS"/>
              <a:ea typeface="Comic Sans MS"/>
              <a:cs typeface="Comic Sans MS"/>
              <a:sym typeface="Comic Sans MS"/>
            </a:endParaRPr>
          </a:p>
        </p:txBody>
      </p:sp>
      <p:graphicFrame>
        <p:nvGraphicFramePr>
          <p:cNvPr id="379" name="Google Shape;379;p34"/>
          <p:cNvGraphicFramePr/>
          <p:nvPr/>
        </p:nvGraphicFramePr>
        <p:xfrm>
          <a:off x="4570288" y="2382825"/>
          <a:ext cx="3000000" cy="3000000"/>
        </p:xfrm>
        <a:graphic>
          <a:graphicData uri="http://schemas.openxmlformats.org/drawingml/2006/table">
            <a:tbl>
              <a:tblPr>
                <a:noFill/>
                <a:tableStyleId>{0E775C3B-ED88-47DF-BCA5-81FE39E699D0}</a:tableStyleId>
              </a:tblPr>
              <a:tblGrid>
                <a:gridCol w="4238225"/>
              </a:tblGrid>
              <a:tr h="12700">
                <a:tc>
                  <a:txBody>
                    <a:bodyPr/>
                    <a:lstStyle/>
                    <a:p>
                      <a:pPr indent="0" lvl="0" marL="0" rtl="0" algn="l">
                        <a:lnSpc>
                          <a:spcPct val="135714"/>
                        </a:lnSpc>
                        <a:spcBef>
                          <a:spcPts val="0"/>
                        </a:spcBef>
                        <a:spcAft>
                          <a:spcPts val="0"/>
                        </a:spcAft>
                        <a:buClr>
                          <a:schemeClr val="dk1"/>
                        </a:buClr>
                        <a:buSzPts val="1100"/>
                        <a:buFont typeface="Arial"/>
                        <a:buNone/>
                      </a:pP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addition(</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&amp;</a:t>
                      </a:r>
                      <a:r>
                        <a:rPr b="1" lang="en" sz="1550">
                          <a:solidFill>
                            <a:schemeClr val="dk1"/>
                          </a:solidFill>
                          <a:highlight>
                            <a:srgbClr val="FFFFFF"/>
                          </a:highlight>
                          <a:latin typeface="Courier New"/>
                          <a:ea typeface="Courier New"/>
                          <a:cs typeface="Courier New"/>
                          <a:sym typeface="Courier New"/>
                        </a:rPr>
                        <a:t>num1,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&amp;</a:t>
                      </a:r>
                      <a:r>
                        <a:rPr b="1" lang="en" sz="1550">
                          <a:solidFill>
                            <a:schemeClr val="dk1"/>
                          </a:solidFill>
                          <a:highlight>
                            <a:srgbClr val="FFFFFF"/>
                          </a:highlight>
                          <a:latin typeface="Courier New"/>
                          <a:ea typeface="Courier New"/>
                          <a:cs typeface="Courier New"/>
                          <a:sym typeface="Courier New"/>
                        </a:rPr>
                        <a:t>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sum = num1 +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return</a:t>
                      </a:r>
                      <a:r>
                        <a:rPr b="1" lang="en" sz="1550">
                          <a:solidFill>
                            <a:schemeClr val="dk1"/>
                          </a:solidFill>
                          <a:highlight>
                            <a:srgbClr val="FFFFFF"/>
                          </a:highlight>
                          <a:latin typeface="Courier New"/>
                          <a:ea typeface="Courier New"/>
                          <a:cs typeface="Courier New"/>
                          <a:sym typeface="Courier New"/>
                        </a:rPr>
                        <a:t> sum;</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550">
                          <a:solidFill>
                            <a:schemeClr val="dk1"/>
                          </a:solidFill>
                          <a:highlight>
                            <a:srgbClr val="FFFFFF"/>
                          </a:highlight>
                          <a:latin typeface="Courier New"/>
                          <a:ea typeface="Courier New"/>
                          <a:cs typeface="Courier New"/>
                          <a:sym typeface="Courier New"/>
                        </a:rPr>
                        <a:t>}</a:t>
                      </a:r>
                      <a:endParaRPr b="1" sz="1600">
                        <a:solidFill>
                          <a:srgbClr val="AF00DB"/>
                        </a:solidFill>
                        <a:latin typeface="Courier New"/>
                        <a:ea typeface="Courier New"/>
                        <a:cs typeface="Courier New"/>
                        <a:sym typeface="Courier New"/>
                      </a:endParaRPr>
                    </a:p>
                  </a:txBody>
                  <a:tcPr marT="63500" marB="63500" marR="63500" marL="63500"/>
                </a:tc>
              </a:tr>
            </a:tbl>
          </a:graphicData>
        </a:graphic>
      </p:graphicFrame>
      <p:graphicFrame>
        <p:nvGraphicFramePr>
          <p:cNvPr id="380" name="Google Shape;380;p34"/>
          <p:cNvGraphicFramePr/>
          <p:nvPr/>
        </p:nvGraphicFramePr>
        <p:xfrm>
          <a:off x="303088" y="2382825"/>
          <a:ext cx="3000000" cy="3000000"/>
        </p:xfrm>
        <a:graphic>
          <a:graphicData uri="http://schemas.openxmlformats.org/drawingml/2006/table">
            <a:tbl>
              <a:tblPr>
                <a:noFill/>
                <a:tableStyleId>{0E775C3B-ED88-47DF-BCA5-81FE39E699D0}</a:tableStyleId>
              </a:tblPr>
              <a:tblGrid>
                <a:gridCol w="4238225"/>
              </a:tblGrid>
              <a:tr h="12700">
                <a:tc>
                  <a:txBody>
                    <a:bodyPr/>
                    <a:lstStyle/>
                    <a:p>
                      <a:pPr indent="0" lvl="0" marL="0" rtl="0" algn="l">
                        <a:lnSpc>
                          <a:spcPct val="135714"/>
                        </a:lnSpc>
                        <a:spcBef>
                          <a:spcPts val="0"/>
                        </a:spcBef>
                        <a:spcAft>
                          <a:spcPts val="0"/>
                        </a:spcAft>
                        <a:buClr>
                          <a:schemeClr val="dk1"/>
                        </a:buClr>
                        <a:buSzPts val="1100"/>
                        <a:buFont typeface="Arial"/>
                        <a:buNone/>
                      </a:pP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addition(</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num1,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sum = num1 +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return</a:t>
                      </a:r>
                      <a:r>
                        <a:rPr b="1" lang="en" sz="1550">
                          <a:solidFill>
                            <a:schemeClr val="dk1"/>
                          </a:solidFill>
                          <a:highlight>
                            <a:srgbClr val="FFFFFF"/>
                          </a:highlight>
                          <a:latin typeface="Courier New"/>
                          <a:ea typeface="Courier New"/>
                          <a:cs typeface="Courier New"/>
                          <a:sym typeface="Courier New"/>
                        </a:rPr>
                        <a:t> sum;</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550">
                          <a:solidFill>
                            <a:schemeClr val="dk1"/>
                          </a:solidFill>
                          <a:highlight>
                            <a:srgbClr val="FFFFFF"/>
                          </a:highlight>
                          <a:latin typeface="Courier New"/>
                          <a:ea typeface="Courier New"/>
                          <a:cs typeface="Courier New"/>
                          <a:sym typeface="Courier New"/>
                        </a:rPr>
                        <a:t>}</a:t>
                      </a:r>
                      <a:endParaRPr b="1" sz="1600">
                        <a:solidFill>
                          <a:srgbClr val="AF00DB"/>
                        </a:solidFill>
                        <a:latin typeface="Courier New"/>
                        <a:ea typeface="Courier New"/>
                        <a:cs typeface="Courier New"/>
                        <a:sym typeface="Courier New"/>
                      </a:endParaRPr>
                    </a:p>
                  </a:txBody>
                  <a:tcPr marT="63500" marB="63500" marR="63500" marL="63500"/>
                </a:tc>
              </a:tr>
            </a:tbl>
          </a:graphicData>
        </a:graphic>
      </p:graphicFrame>
      <p:sp>
        <p:nvSpPr>
          <p:cNvPr id="381" name="Google Shape;381;p34"/>
          <p:cNvSpPr txBox="1"/>
          <p:nvPr/>
        </p:nvSpPr>
        <p:spPr>
          <a:xfrm>
            <a:off x="1363725" y="4215113"/>
            <a:ext cx="1887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Pass by Value</a:t>
            </a:r>
            <a:endParaRPr b="1" sz="2000">
              <a:solidFill>
                <a:srgbClr val="404040"/>
              </a:solidFill>
              <a:latin typeface="Comic Sans MS"/>
              <a:ea typeface="Comic Sans MS"/>
              <a:cs typeface="Comic Sans MS"/>
              <a:sym typeface="Comic Sans MS"/>
            </a:endParaRPr>
          </a:p>
        </p:txBody>
      </p:sp>
      <p:sp>
        <p:nvSpPr>
          <p:cNvPr id="382" name="Google Shape;382;p34"/>
          <p:cNvSpPr txBox="1"/>
          <p:nvPr/>
        </p:nvSpPr>
        <p:spPr>
          <a:xfrm>
            <a:off x="5554725" y="4215125"/>
            <a:ext cx="2475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Pass by Reference</a:t>
            </a:r>
            <a:endParaRPr b="1" sz="2000">
              <a:solidFill>
                <a:srgbClr val="404040"/>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1000"/>
                                        <p:tgtEl>
                                          <p:spTgt spid="3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5"/>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89" name="Google Shape;389;p35"/>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390" name="Google Shape;390;p35"/>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391" name="Google Shape;391;p35"/>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t>
            </a:r>
            <a:r>
              <a:rPr b="1" lang="en" sz="3488">
                <a:solidFill>
                  <a:srgbClr val="D15A12"/>
                </a:solidFill>
                <a:latin typeface="Comic Sans MS"/>
                <a:ea typeface="Comic Sans MS"/>
                <a:cs typeface="Comic Sans MS"/>
                <a:sym typeface="Comic Sans MS"/>
              </a:rPr>
              <a:t>Variable passing by </a:t>
            </a:r>
            <a:r>
              <a:rPr b="1" lang="en" sz="3488">
                <a:solidFill>
                  <a:srgbClr val="434343"/>
                </a:solidFill>
                <a:latin typeface="Comic Sans MS"/>
                <a:ea typeface="Comic Sans MS"/>
                <a:cs typeface="Comic Sans MS"/>
                <a:sym typeface="Comic Sans MS"/>
              </a:rPr>
              <a:t>Reference</a:t>
            </a:r>
            <a:endParaRPr b="1" sz="3488">
              <a:solidFill>
                <a:srgbClr val="434343"/>
              </a:solidFill>
              <a:latin typeface="Comic Sans MS"/>
              <a:ea typeface="Comic Sans MS"/>
              <a:cs typeface="Comic Sans MS"/>
              <a:sym typeface="Comic Sans MS"/>
            </a:endParaRPr>
          </a:p>
        </p:txBody>
      </p:sp>
      <p:sp>
        <p:nvSpPr>
          <p:cNvPr id="392" name="Google Shape;392;p35"/>
          <p:cNvSpPr txBox="1"/>
          <p:nvPr/>
        </p:nvSpPr>
        <p:spPr>
          <a:xfrm>
            <a:off x="375500" y="945450"/>
            <a:ext cx="8342700" cy="12150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If we want to </a:t>
            </a:r>
            <a:r>
              <a:rPr b="1" lang="en" sz="2400">
                <a:solidFill>
                  <a:srgbClr val="D15A12"/>
                </a:solidFill>
                <a:latin typeface="Comic Sans MS"/>
                <a:ea typeface="Comic Sans MS"/>
                <a:cs typeface="Comic Sans MS"/>
                <a:sym typeface="Comic Sans MS"/>
              </a:rPr>
              <a:t>return multiple values</a:t>
            </a:r>
            <a:r>
              <a:rPr b="1" lang="en" sz="2400">
                <a:solidFill>
                  <a:srgbClr val="434343"/>
                </a:solidFill>
                <a:latin typeface="Comic Sans MS"/>
                <a:ea typeface="Comic Sans MS"/>
                <a:cs typeface="Comic Sans MS"/>
                <a:sym typeface="Comic Sans MS"/>
              </a:rPr>
              <a:t> from the function then we must pass the parameters </a:t>
            </a:r>
            <a:r>
              <a:rPr b="1" lang="en" sz="2400">
                <a:solidFill>
                  <a:srgbClr val="D15A12"/>
                </a:solidFill>
                <a:latin typeface="Comic Sans MS"/>
                <a:ea typeface="Comic Sans MS"/>
                <a:cs typeface="Comic Sans MS"/>
                <a:sym typeface="Comic Sans MS"/>
              </a:rPr>
              <a:t>by reference</a:t>
            </a:r>
            <a:r>
              <a:rPr b="1" lang="en" sz="2400">
                <a:solidFill>
                  <a:srgbClr val="434343"/>
                </a:solidFill>
                <a:latin typeface="Comic Sans MS"/>
                <a:ea typeface="Comic Sans MS"/>
                <a:cs typeface="Comic Sans MS"/>
                <a:sym typeface="Comic Sans MS"/>
              </a:rPr>
              <a:t>.</a:t>
            </a:r>
            <a:endParaRPr b="1" sz="2400">
              <a:solidFill>
                <a:srgbClr val="434343"/>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1000"/>
                                        <p:tgtEl>
                                          <p:spTgt spid="3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6"/>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99" name="Google Shape;399;p36"/>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400" name="Google Shape;400;p36"/>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401" name="Google Shape;401;p36"/>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t>
            </a:r>
            <a:r>
              <a:rPr b="1" lang="en" sz="3488">
                <a:solidFill>
                  <a:srgbClr val="D15A12"/>
                </a:solidFill>
                <a:latin typeface="Comic Sans MS"/>
                <a:ea typeface="Comic Sans MS"/>
                <a:cs typeface="Comic Sans MS"/>
                <a:sym typeface="Comic Sans MS"/>
              </a:rPr>
              <a:t>Variable passing by </a:t>
            </a:r>
            <a:r>
              <a:rPr b="1" lang="en" sz="3488">
                <a:solidFill>
                  <a:srgbClr val="434343"/>
                </a:solidFill>
                <a:latin typeface="Comic Sans MS"/>
                <a:ea typeface="Comic Sans MS"/>
                <a:cs typeface="Comic Sans MS"/>
                <a:sym typeface="Comic Sans MS"/>
              </a:rPr>
              <a:t>Reference</a:t>
            </a:r>
            <a:endParaRPr b="1" sz="3488">
              <a:solidFill>
                <a:srgbClr val="434343"/>
              </a:solidFill>
              <a:latin typeface="Comic Sans MS"/>
              <a:ea typeface="Comic Sans MS"/>
              <a:cs typeface="Comic Sans MS"/>
              <a:sym typeface="Comic Sans MS"/>
            </a:endParaRPr>
          </a:p>
        </p:txBody>
      </p:sp>
      <p:sp>
        <p:nvSpPr>
          <p:cNvPr id="402" name="Google Shape;402;p36"/>
          <p:cNvSpPr txBox="1"/>
          <p:nvPr/>
        </p:nvSpPr>
        <p:spPr>
          <a:xfrm>
            <a:off x="375500" y="945450"/>
            <a:ext cx="8342700" cy="12150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Let’s make our own </a:t>
            </a:r>
            <a:r>
              <a:rPr b="1" lang="en" sz="2400">
                <a:solidFill>
                  <a:srgbClr val="D15A12"/>
                </a:solidFill>
                <a:latin typeface="Comic Sans MS"/>
                <a:ea typeface="Comic Sans MS"/>
                <a:cs typeface="Comic Sans MS"/>
                <a:sym typeface="Comic Sans MS"/>
              </a:rPr>
              <a:t>Swap</a:t>
            </a:r>
            <a:r>
              <a:rPr b="1" lang="en" sz="2400">
                <a:solidFill>
                  <a:srgbClr val="434343"/>
                </a:solidFill>
                <a:latin typeface="Comic Sans MS"/>
                <a:ea typeface="Comic Sans MS"/>
                <a:cs typeface="Comic Sans MS"/>
                <a:sym typeface="Comic Sans MS"/>
              </a:rPr>
              <a:t> function by passing the parameters by reference.</a:t>
            </a:r>
            <a:endParaRPr b="1" sz="2400">
              <a:solidFill>
                <a:srgbClr val="434343"/>
              </a:solidFill>
              <a:latin typeface="Comic Sans MS"/>
              <a:ea typeface="Comic Sans MS"/>
              <a:cs typeface="Comic Sans MS"/>
              <a:sym typeface="Comic Sans MS"/>
            </a:endParaRPr>
          </a:p>
        </p:txBody>
      </p:sp>
      <p:sp>
        <p:nvSpPr>
          <p:cNvPr id="403" name="Google Shape;403;p36"/>
          <p:cNvSpPr txBox="1"/>
          <p:nvPr/>
        </p:nvSpPr>
        <p:spPr>
          <a:xfrm>
            <a:off x="2691000" y="2332500"/>
            <a:ext cx="4087200" cy="1802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void</a:t>
            </a:r>
            <a:r>
              <a:rPr b="1" lang="en" sz="1350">
                <a:solidFill>
                  <a:schemeClr val="dk1"/>
                </a:solidFill>
                <a:highlight>
                  <a:srgbClr val="FFFFFF"/>
                </a:highlight>
                <a:latin typeface="Courier New"/>
                <a:ea typeface="Courier New"/>
                <a:cs typeface="Courier New"/>
                <a:sym typeface="Courier New"/>
              </a:rPr>
              <a:t> swapped(</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num1,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temp = num1;</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num1 = 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num2 = temp;</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1000"/>
                                        <p:tgtEl>
                                          <p:spTgt spid="4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7"/>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10" name="Google Shape;410;p37"/>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411" name="Google Shape;411;p37"/>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412" name="Google Shape;412;p37"/>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t>
            </a:r>
            <a:r>
              <a:rPr b="1" lang="en" sz="3488">
                <a:solidFill>
                  <a:srgbClr val="D15A12"/>
                </a:solidFill>
                <a:latin typeface="Comic Sans MS"/>
                <a:ea typeface="Comic Sans MS"/>
                <a:cs typeface="Comic Sans MS"/>
                <a:sym typeface="Comic Sans MS"/>
              </a:rPr>
              <a:t>Variable passing by </a:t>
            </a:r>
            <a:r>
              <a:rPr b="1" lang="en" sz="3488">
                <a:solidFill>
                  <a:srgbClr val="434343"/>
                </a:solidFill>
                <a:latin typeface="Comic Sans MS"/>
                <a:ea typeface="Comic Sans MS"/>
                <a:cs typeface="Comic Sans MS"/>
                <a:sym typeface="Comic Sans MS"/>
              </a:rPr>
              <a:t>Reference</a:t>
            </a:r>
            <a:endParaRPr b="1" sz="3488">
              <a:solidFill>
                <a:srgbClr val="434343"/>
              </a:solidFill>
              <a:latin typeface="Comic Sans MS"/>
              <a:ea typeface="Comic Sans MS"/>
              <a:cs typeface="Comic Sans MS"/>
              <a:sym typeface="Comic Sans MS"/>
            </a:endParaRPr>
          </a:p>
        </p:txBody>
      </p:sp>
      <p:sp>
        <p:nvSpPr>
          <p:cNvPr id="413" name="Google Shape;413;p37"/>
          <p:cNvSpPr txBox="1"/>
          <p:nvPr/>
        </p:nvSpPr>
        <p:spPr>
          <a:xfrm>
            <a:off x="0" y="3062550"/>
            <a:ext cx="4087200" cy="1802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void</a:t>
            </a:r>
            <a:r>
              <a:rPr b="1" lang="en" sz="1350">
                <a:solidFill>
                  <a:schemeClr val="dk1"/>
                </a:solidFill>
                <a:highlight>
                  <a:srgbClr val="FFFFFF"/>
                </a:highlight>
                <a:latin typeface="Courier New"/>
                <a:ea typeface="Courier New"/>
                <a:cs typeface="Courier New"/>
                <a:sym typeface="Courier New"/>
              </a:rPr>
              <a:t> swapped(</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num1,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temp = num1;</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num1 = 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num2 = temp;</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
        <p:nvSpPr>
          <p:cNvPr id="414" name="Google Shape;414;p37"/>
          <p:cNvSpPr txBox="1"/>
          <p:nvPr/>
        </p:nvSpPr>
        <p:spPr>
          <a:xfrm>
            <a:off x="4210975" y="2801100"/>
            <a:ext cx="4932900" cy="2084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main()</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number1 = </a:t>
            </a:r>
            <a:r>
              <a:rPr b="1" lang="en" sz="1350">
                <a:solidFill>
                  <a:srgbClr val="098658"/>
                </a:solidFill>
                <a:highlight>
                  <a:srgbClr val="FFFFFF"/>
                </a:highlight>
                <a:latin typeface="Courier New"/>
                <a:ea typeface="Courier New"/>
                <a:cs typeface="Courier New"/>
                <a:sym typeface="Courier New"/>
              </a:rPr>
              <a:t>6</a:t>
            </a:r>
            <a:r>
              <a:rPr b="1" lang="en" sz="1350">
                <a:solidFill>
                  <a:schemeClr val="dk1"/>
                </a:solidFill>
                <a:highlight>
                  <a:srgbClr val="FFFFFF"/>
                </a:highlight>
                <a:latin typeface="Courier New"/>
                <a:ea typeface="Courier New"/>
                <a:cs typeface="Courier New"/>
                <a:sym typeface="Courier New"/>
              </a:rPr>
              <a:t>, number2 = </a:t>
            </a:r>
            <a:r>
              <a:rPr b="1" lang="en" sz="1350">
                <a:solidFill>
                  <a:srgbClr val="098658"/>
                </a:solidFill>
                <a:highlight>
                  <a:srgbClr val="FFFFFF"/>
                </a:highlight>
                <a:latin typeface="Courier New"/>
                <a:ea typeface="Courier New"/>
                <a:cs typeface="Courier New"/>
                <a:sym typeface="Courier New"/>
              </a:rPr>
              <a:t>7</a:t>
            </a: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cout &lt;&lt; number1 &lt;&lt; </a:t>
            </a:r>
            <a:r>
              <a:rPr b="1" lang="en" sz="1350">
                <a:solidFill>
                  <a:srgbClr val="A31515"/>
                </a:solidFill>
                <a:highlight>
                  <a:srgbClr val="FFFFFF"/>
                </a:highlight>
                <a:latin typeface="Courier New"/>
                <a:ea typeface="Courier New"/>
                <a:cs typeface="Courier New"/>
                <a:sym typeface="Courier New"/>
              </a:rPr>
              <a:t>" "</a:t>
            </a:r>
            <a:r>
              <a:rPr b="1" lang="en" sz="1350">
                <a:solidFill>
                  <a:schemeClr val="dk1"/>
                </a:solidFill>
                <a:highlight>
                  <a:srgbClr val="FFFFFF"/>
                </a:highlight>
                <a:latin typeface="Courier New"/>
                <a:ea typeface="Courier New"/>
                <a:cs typeface="Courier New"/>
                <a:sym typeface="Courier New"/>
              </a:rPr>
              <a:t> &lt;&lt; number2 &lt;&lt; endl;</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swapped(number1, number2);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cout &lt;&lt; number1 &lt;&lt; </a:t>
            </a:r>
            <a:r>
              <a:rPr b="1" lang="en" sz="1350">
                <a:solidFill>
                  <a:srgbClr val="A31515"/>
                </a:solidFill>
                <a:highlight>
                  <a:srgbClr val="FFFFFF"/>
                </a:highlight>
                <a:latin typeface="Courier New"/>
                <a:ea typeface="Courier New"/>
                <a:cs typeface="Courier New"/>
                <a:sym typeface="Courier New"/>
              </a:rPr>
              <a:t>" "</a:t>
            </a:r>
            <a:r>
              <a:rPr b="1" lang="en" sz="1350">
                <a:solidFill>
                  <a:schemeClr val="dk1"/>
                </a:solidFill>
                <a:highlight>
                  <a:srgbClr val="FFFFFF"/>
                </a:highlight>
                <a:latin typeface="Courier New"/>
                <a:ea typeface="Courier New"/>
                <a:cs typeface="Courier New"/>
                <a:sym typeface="Courier New"/>
              </a:rPr>
              <a:t> &lt;&lt; number2;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
        <p:nvSpPr>
          <p:cNvPr id="415" name="Google Shape;415;p37"/>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7"/>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6</a:t>
            </a:r>
            <a:endParaRPr b="1" sz="1700">
              <a:solidFill>
                <a:srgbClr val="D15A12"/>
              </a:solidFill>
              <a:latin typeface="Comic Sans MS"/>
              <a:ea typeface="Comic Sans MS"/>
              <a:cs typeface="Comic Sans MS"/>
              <a:sym typeface="Comic Sans MS"/>
            </a:endParaRPr>
          </a:p>
        </p:txBody>
      </p:sp>
      <p:sp>
        <p:nvSpPr>
          <p:cNvPr id="417" name="Google Shape;417;p37"/>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418" name="Google Shape;418;p37"/>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9" name="Google Shape;419;p37"/>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420" name="Google Shape;420;p37"/>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421" name="Google Shape;421;p37"/>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422" name="Google Shape;422;p37"/>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423" name="Google Shape;423;p37"/>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424" name="Google Shape;424;p37"/>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5" name="Google Shape;425;p37"/>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426" name="Google Shape;426;p37"/>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
        <p:nvSpPr>
          <p:cNvPr id="427" name="Google Shape;427;p37"/>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solidFill>
                <a:srgbClr val="D15A12"/>
              </a:solidFill>
            </a:endParaRPr>
          </a:p>
        </p:txBody>
      </p:sp>
      <p:sp>
        <p:nvSpPr>
          <p:cNvPr id="428" name="Google Shape;428;p37"/>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solidFill>
                <a:srgbClr val="D15A12"/>
              </a:solidFill>
            </a:endParaRPr>
          </a:p>
        </p:txBody>
      </p:sp>
      <p:sp>
        <p:nvSpPr>
          <p:cNvPr id="429" name="Google Shape;429;p37"/>
          <p:cNvSpPr/>
          <p:nvPr/>
        </p:nvSpPr>
        <p:spPr>
          <a:xfrm>
            <a:off x="4157550" y="3409575"/>
            <a:ext cx="480900" cy="280800"/>
          </a:xfrm>
          <a:prstGeom prst="rightArrow">
            <a:avLst>
              <a:gd fmla="val 50000" name="adj1"/>
              <a:gd fmla="val 50000" name="adj2"/>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8"/>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36" name="Google Shape;436;p38"/>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437" name="Google Shape;437;p38"/>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438" name="Google Shape;438;p38"/>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t>
            </a:r>
            <a:r>
              <a:rPr b="1" lang="en" sz="3488">
                <a:solidFill>
                  <a:srgbClr val="D15A12"/>
                </a:solidFill>
                <a:latin typeface="Comic Sans MS"/>
                <a:ea typeface="Comic Sans MS"/>
                <a:cs typeface="Comic Sans MS"/>
                <a:sym typeface="Comic Sans MS"/>
              </a:rPr>
              <a:t>Variable passing by </a:t>
            </a:r>
            <a:r>
              <a:rPr b="1" lang="en" sz="3488">
                <a:solidFill>
                  <a:srgbClr val="434343"/>
                </a:solidFill>
                <a:latin typeface="Comic Sans MS"/>
                <a:ea typeface="Comic Sans MS"/>
                <a:cs typeface="Comic Sans MS"/>
                <a:sym typeface="Comic Sans MS"/>
              </a:rPr>
              <a:t>Reference</a:t>
            </a:r>
            <a:endParaRPr b="1" sz="3488">
              <a:solidFill>
                <a:srgbClr val="434343"/>
              </a:solidFill>
              <a:latin typeface="Comic Sans MS"/>
              <a:ea typeface="Comic Sans MS"/>
              <a:cs typeface="Comic Sans MS"/>
              <a:sym typeface="Comic Sans MS"/>
            </a:endParaRPr>
          </a:p>
        </p:txBody>
      </p:sp>
      <p:sp>
        <p:nvSpPr>
          <p:cNvPr id="439" name="Google Shape;439;p38"/>
          <p:cNvSpPr txBox="1"/>
          <p:nvPr/>
        </p:nvSpPr>
        <p:spPr>
          <a:xfrm>
            <a:off x="0" y="3062550"/>
            <a:ext cx="4087200" cy="1802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void</a:t>
            </a:r>
            <a:r>
              <a:rPr b="1" lang="en" sz="1350">
                <a:solidFill>
                  <a:schemeClr val="dk1"/>
                </a:solidFill>
                <a:highlight>
                  <a:srgbClr val="FFFFFF"/>
                </a:highlight>
                <a:latin typeface="Courier New"/>
                <a:ea typeface="Courier New"/>
                <a:cs typeface="Courier New"/>
                <a:sym typeface="Courier New"/>
              </a:rPr>
              <a:t> swapped(</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num1,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temp = num1;</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num1 = 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num2 = temp;</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
        <p:nvSpPr>
          <p:cNvPr id="440" name="Google Shape;440;p38"/>
          <p:cNvSpPr txBox="1"/>
          <p:nvPr/>
        </p:nvSpPr>
        <p:spPr>
          <a:xfrm>
            <a:off x="4210975" y="2801100"/>
            <a:ext cx="4932900" cy="2084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main()</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number1 = </a:t>
            </a:r>
            <a:r>
              <a:rPr b="1" lang="en" sz="1350">
                <a:solidFill>
                  <a:srgbClr val="098658"/>
                </a:solidFill>
                <a:highlight>
                  <a:srgbClr val="FFFFFF"/>
                </a:highlight>
                <a:latin typeface="Courier New"/>
                <a:ea typeface="Courier New"/>
                <a:cs typeface="Courier New"/>
                <a:sym typeface="Courier New"/>
              </a:rPr>
              <a:t>6</a:t>
            </a:r>
            <a:r>
              <a:rPr b="1" lang="en" sz="1350">
                <a:solidFill>
                  <a:schemeClr val="dk1"/>
                </a:solidFill>
                <a:highlight>
                  <a:srgbClr val="FFFFFF"/>
                </a:highlight>
                <a:latin typeface="Courier New"/>
                <a:ea typeface="Courier New"/>
                <a:cs typeface="Courier New"/>
                <a:sym typeface="Courier New"/>
              </a:rPr>
              <a:t>, number2 = </a:t>
            </a:r>
            <a:r>
              <a:rPr b="1" lang="en" sz="1350">
                <a:solidFill>
                  <a:srgbClr val="098658"/>
                </a:solidFill>
                <a:highlight>
                  <a:srgbClr val="FFFFFF"/>
                </a:highlight>
                <a:latin typeface="Courier New"/>
                <a:ea typeface="Courier New"/>
                <a:cs typeface="Courier New"/>
                <a:sym typeface="Courier New"/>
              </a:rPr>
              <a:t>7</a:t>
            </a: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cout &lt;&lt; number1 &lt;&lt; </a:t>
            </a:r>
            <a:r>
              <a:rPr b="1" lang="en" sz="1350">
                <a:solidFill>
                  <a:srgbClr val="A31515"/>
                </a:solidFill>
                <a:highlight>
                  <a:srgbClr val="FFFFFF"/>
                </a:highlight>
                <a:latin typeface="Courier New"/>
                <a:ea typeface="Courier New"/>
                <a:cs typeface="Courier New"/>
                <a:sym typeface="Courier New"/>
              </a:rPr>
              <a:t>" "</a:t>
            </a:r>
            <a:r>
              <a:rPr b="1" lang="en" sz="1350">
                <a:solidFill>
                  <a:schemeClr val="dk1"/>
                </a:solidFill>
                <a:highlight>
                  <a:srgbClr val="FFFFFF"/>
                </a:highlight>
                <a:latin typeface="Courier New"/>
                <a:ea typeface="Courier New"/>
                <a:cs typeface="Courier New"/>
                <a:sym typeface="Courier New"/>
              </a:rPr>
              <a:t> &lt;&lt; number2 &lt;&lt; endl;</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swapped(number1, number2);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cout &lt;&lt; number1 &lt;&lt; </a:t>
            </a:r>
            <a:r>
              <a:rPr b="1" lang="en" sz="1350">
                <a:solidFill>
                  <a:srgbClr val="A31515"/>
                </a:solidFill>
                <a:highlight>
                  <a:srgbClr val="FFFFFF"/>
                </a:highlight>
                <a:latin typeface="Courier New"/>
                <a:ea typeface="Courier New"/>
                <a:cs typeface="Courier New"/>
                <a:sym typeface="Courier New"/>
              </a:rPr>
              <a:t>" "</a:t>
            </a:r>
            <a:r>
              <a:rPr b="1" lang="en" sz="1350">
                <a:solidFill>
                  <a:schemeClr val="dk1"/>
                </a:solidFill>
                <a:highlight>
                  <a:srgbClr val="FFFFFF"/>
                </a:highlight>
                <a:latin typeface="Courier New"/>
                <a:ea typeface="Courier New"/>
                <a:cs typeface="Courier New"/>
                <a:sym typeface="Courier New"/>
              </a:rPr>
              <a:t> &lt;&lt; number2;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
        <p:nvSpPr>
          <p:cNvPr id="441" name="Google Shape;441;p38"/>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8"/>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6</a:t>
            </a:r>
            <a:endParaRPr b="1" sz="1700">
              <a:solidFill>
                <a:srgbClr val="D15A12"/>
              </a:solidFill>
              <a:latin typeface="Comic Sans MS"/>
              <a:ea typeface="Comic Sans MS"/>
              <a:cs typeface="Comic Sans MS"/>
              <a:sym typeface="Comic Sans MS"/>
            </a:endParaRPr>
          </a:p>
        </p:txBody>
      </p:sp>
      <p:sp>
        <p:nvSpPr>
          <p:cNvPr id="443" name="Google Shape;443;p38"/>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444" name="Google Shape;444;p38"/>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38"/>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446" name="Google Shape;446;p38"/>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447" name="Google Shape;447;p38"/>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448" name="Google Shape;448;p38"/>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449" name="Google Shape;449;p38"/>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450" name="Google Shape;450;p38"/>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1" name="Google Shape;451;p38"/>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452" name="Google Shape;452;p38"/>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
        <p:nvSpPr>
          <p:cNvPr id="453" name="Google Shape;453;p38"/>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solidFill>
                <a:srgbClr val="D15A12"/>
              </a:solidFill>
            </a:endParaRPr>
          </a:p>
        </p:txBody>
      </p:sp>
      <p:sp>
        <p:nvSpPr>
          <p:cNvPr id="454" name="Google Shape;454;p38"/>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solidFill>
                <a:srgbClr val="D15A12"/>
              </a:solidFill>
            </a:endParaRPr>
          </a:p>
        </p:txBody>
      </p:sp>
      <p:sp>
        <p:nvSpPr>
          <p:cNvPr id="455" name="Google Shape;455;p38"/>
          <p:cNvSpPr txBox="1"/>
          <p:nvPr/>
        </p:nvSpPr>
        <p:spPr>
          <a:xfrm>
            <a:off x="639624" y="1775975"/>
            <a:ext cx="10908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solidFill>
                <a:srgbClr val="D15A12"/>
              </a:solidFill>
              <a:latin typeface="Raleway"/>
              <a:ea typeface="Raleway"/>
              <a:cs typeface="Raleway"/>
              <a:sym typeface="Raleway"/>
            </a:endParaRPr>
          </a:p>
        </p:txBody>
      </p:sp>
      <p:sp>
        <p:nvSpPr>
          <p:cNvPr id="456" name="Google Shape;456;p38"/>
          <p:cNvSpPr txBox="1"/>
          <p:nvPr/>
        </p:nvSpPr>
        <p:spPr>
          <a:xfrm>
            <a:off x="639624" y="2111400"/>
            <a:ext cx="10908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solidFill>
                <a:srgbClr val="D15A12"/>
              </a:solidFill>
              <a:latin typeface="Raleway"/>
              <a:ea typeface="Raleway"/>
              <a:cs typeface="Raleway"/>
              <a:sym typeface="Raleway"/>
            </a:endParaRPr>
          </a:p>
        </p:txBody>
      </p:sp>
      <p:sp>
        <p:nvSpPr>
          <p:cNvPr id="457" name="Google Shape;457;p38"/>
          <p:cNvSpPr/>
          <p:nvPr/>
        </p:nvSpPr>
        <p:spPr>
          <a:xfrm>
            <a:off x="4157550" y="3638175"/>
            <a:ext cx="480900" cy="280800"/>
          </a:xfrm>
          <a:prstGeom prst="rightArrow">
            <a:avLst>
              <a:gd fmla="val 50000" name="adj1"/>
              <a:gd fmla="val 50000" name="adj2"/>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8" name="Google Shape;458;p38"/>
          <p:cNvPicPr preferRelativeResize="0"/>
          <p:nvPr/>
        </p:nvPicPr>
        <p:blipFill rotWithShape="1">
          <a:blip r:embed="rId3">
            <a:alphaModFix/>
          </a:blip>
          <a:srcRect b="37659" l="0" r="0" t="0"/>
          <a:stretch/>
        </p:blipFill>
        <p:spPr>
          <a:xfrm>
            <a:off x="4892650" y="955500"/>
            <a:ext cx="3543300" cy="967850"/>
          </a:xfrm>
          <a:prstGeom prst="rect">
            <a:avLst/>
          </a:prstGeom>
          <a:noFill/>
          <a:ln cap="flat" cmpd="sng" w="9525">
            <a:solidFill>
              <a:srgbClr val="434343"/>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39"/>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65" name="Google Shape;465;p39"/>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466" name="Google Shape;466;p39"/>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467" name="Google Shape;467;p39"/>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t>
            </a:r>
            <a:r>
              <a:rPr b="1" lang="en" sz="3488">
                <a:solidFill>
                  <a:srgbClr val="D15A12"/>
                </a:solidFill>
                <a:latin typeface="Comic Sans MS"/>
                <a:ea typeface="Comic Sans MS"/>
                <a:cs typeface="Comic Sans MS"/>
                <a:sym typeface="Comic Sans MS"/>
              </a:rPr>
              <a:t>Variable passing by </a:t>
            </a:r>
            <a:r>
              <a:rPr b="1" lang="en" sz="3488">
                <a:solidFill>
                  <a:srgbClr val="434343"/>
                </a:solidFill>
                <a:latin typeface="Comic Sans MS"/>
                <a:ea typeface="Comic Sans MS"/>
                <a:cs typeface="Comic Sans MS"/>
                <a:sym typeface="Comic Sans MS"/>
              </a:rPr>
              <a:t>Reference</a:t>
            </a:r>
            <a:endParaRPr b="1" sz="3488">
              <a:solidFill>
                <a:srgbClr val="434343"/>
              </a:solidFill>
              <a:latin typeface="Comic Sans MS"/>
              <a:ea typeface="Comic Sans MS"/>
              <a:cs typeface="Comic Sans MS"/>
              <a:sym typeface="Comic Sans MS"/>
            </a:endParaRPr>
          </a:p>
        </p:txBody>
      </p:sp>
      <p:sp>
        <p:nvSpPr>
          <p:cNvPr id="468" name="Google Shape;468;p39"/>
          <p:cNvSpPr txBox="1"/>
          <p:nvPr/>
        </p:nvSpPr>
        <p:spPr>
          <a:xfrm>
            <a:off x="0" y="3062550"/>
            <a:ext cx="4087200" cy="1802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void</a:t>
            </a:r>
            <a:r>
              <a:rPr b="1" lang="en" sz="1350">
                <a:solidFill>
                  <a:schemeClr val="dk1"/>
                </a:solidFill>
                <a:highlight>
                  <a:srgbClr val="FFFFFF"/>
                </a:highlight>
                <a:latin typeface="Courier New"/>
                <a:ea typeface="Courier New"/>
                <a:cs typeface="Courier New"/>
                <a:sym typeface="Courier New"/>
              </a:rPr>
              <a:t> swapped(</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num1,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temp = num1;</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num1 = 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num2 = temp;</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
        <p:nvSpPr>
          <p:cNvPr id="469" name="Google Shape;469;p39"/>
          <p:cNvSpPr txBox="1"/>
          <p:nvPr/>
        </p:nvSpPr>
        <p:spPr>
          <a:xfrm>
            <a:off x="4210975" y="2801100"/>
            <a:ext cx="4932900" cy="2084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main()</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number1 = </a:t>
            </a:r>
            <a:r>
              <a:rPr b="1" lang="en" sz="1350">
                <a:solidFill>
                  <a:srgbClr val="098658"/>
                </a:solidFill>
                <a:highlight>
                  <a:srgbClr val="FFFFFF"/>
                </a:highlight>
                <a:latin typeface="Courier New"/>
                <a:ea typeface="Courier New"/>
                <a:cs typeface="Courier New"/>
                <a:sym typeface="Courier New"/>
              </a:rPr>
              <a:t>6</a:t>
            </a:r>
            <a:r>
              <a:rPr b="1" lang="en" sz="1350">
                <a:solidFill>
                  <a:schemeClr val="dk1"/>
                </a:solidFill>
                <a:highlight>
                  <a:srgbClr val="FFFFFF"/>
                </a:highlight>
                <a:latin typeface="Courier New"/>
                <a:ea typeface="Courier New"/>
                <a:cs typeface="Courier New"/>
                <a:sym typeface="Courier New"/>
              </a:rPr>
              <a:t>, number2 = </a:t>
            </a:r>
            <a:r>
              <a:rPr b="1" lang="en" sz="1350">
                <a:solidFill>
                  <a:srgbClr val="098658"/>
                </a:solidFill>
                <a:highlight>
                  <a:srgbClr val="FFFFFF"/>
                </a:highlight>
                <a:latin typeface="Courier New"/>
                <a:ea typeface="Courier New"/>
                <a:cs typeface="Courier New"/>
                <a:sym typeface="Courier New"/>
              </a:rPr>
              <a:t>7</a:t>
            </a: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cout &lt;&lt; number1 &lt;&lt; </a:t>
            </a:r>
            <a:r>
              <a:rPr b="1" lang="en" sz="1350">
                <a:solidFill>
                  <a:srgbClr val="A31515"/>
                </a:solidFill>
                <a:highlight>
                  <a:srgbClr val="FFFFFF"/>
                </a:highlight>
                <a:latin typeface="Courier New"/>
                <a:ea typeface="Courier New"/>
                <a:cs typeface="Courier New"/>
                <a:sym typeface="Courier New"/>
              </a:rPr>
              <a:t>" "</a:t>
            </a:r>
            <a:r>
              <a:rPr b="1" lang="en" sz="1350">
                <a:solidFill>
                  <a:schemeClr val="dk1"/>
                </a:solidFill>
                <a:highlight>
                  <a:srgbClr val="FFFFFF"/>
                </a:highlight>
                <a:latin typeface="Courier New"/>
                <a:ea typeface="Courier New"/>
                <a:cs typeface="Courier New"/>
                <a:sym typeface="Courier New"/>
              </a:rPr>
              <a:t> &lt;&lt; number2 &lt;&lt; endl;</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swapped(number1, number2);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cout &lt;&lt; number1 &lt;&lt; </a:t>
            </a:r>
            <a:r>
              <a:rPr b="1" lang="en" sz="1350">
                <a:solidFill>
                  <a:srgbClr val="A31515"/>
                </a:solidFill>
                <a:highlight>
                  <a:srgbClr val="FFFFFF"/>
                </a:highlight>
                <a:latin typeface="Courier New"/>
                <a:ea typeface="Courier New"/>
                <a:cs typeface="Courier New"/>
                <a:sym typeface="Courier New"/>
              </a:rPr>
              <a:t>" "</a:t>
            </a:r>
            <a:r>
              <a:rPr b="1" lang="en" sz="1350">
                <a:solidFill>
                  <a:schemeClr val="dk1"/>
                </a:solidFill>
                <a:highlight>
                  <a:srgbClr val="FFFFFF"/>
                </a:highlight>
                <a:latin typeface="Courier New"/>
                <a:ea typeface="Courier New"/>
                <a:cs typeface="Courier New"/>
                <a:sym typeface="Courier New"/>
              </a:rPr>
              <a:t> &lt;&lt; number2;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
        <p:nvSpPr>
          <p:cNvPr id="470" name="Google Shape;470;p39"/>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9"/>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6</a:t>
            </a:r>
            <a:endParaRPr b="1" sz="1700">
              <a:solidFill>
                <a:srgbClr val="D15A12"/>
              </a:solidFill>
              <a:latin typeface="Comic Sans MS"/>
              <a:ea typeface="Comic Sans MS"/>
              <a:cs typeface="Comic Sans MS"/>
              <a:sym typeface="Comic Sans MS"/>
            </a:endParaRPr>
          </a:p>
        </p:txBody>
      </p:sp>
      <p:sp>
        <p:nvSpPr>
          <p:cNvPr id="472" name="Google Shape;472;p39"/>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473" name="Google Shape;473;p39"/>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 name="Google Shape;474;p39"/>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475" name="Google Shape;475;p39"/>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476" name="Google Shape;476;p39"/>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477" name="Google Shape;477;p39"/>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478" name="Google Shape;478;p39"/>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479" name="Google Shape;479;p39"/>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 name="Google Shape;480;p39"/>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481" name="Google Shape;481;p39"/>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
        <p:nvSpPr>
          <p:cNvPr id="482" name="Google Shape;482;p39"/>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rgbClr val="D15A12"/>
                </a:solidFill>
                <a:latin typeface="Raleway"/>
                <a:ea typeface="Raleway"/>
                <a:cs typeface="Raleway"/>
                <a:sym typeface="Raleway"/>
              </a:rPr>
              <a:t>0xE4A71</a:t>
            </a:r>
            <a:endParaRPr sz="1300">
              <a:solidFill>
                <a:srgbClr val="D15A12"/>
              </a:solidFill>
            </a:endParaRPr>
          </a:p>
        </p:txBody>
      </p:sp>
      <p:sp>
        <p:nvSpPr>
          <p:cNvPr id="483" name="Google Shape;483;p39"/>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rgbClr val="D15A12"/>
                </a:solidFill>
                <a:latin typeface="Raleway"/>
                <a:ea typeface="Raleway"/>
                <a:cs typeface="Raleway"/>
                <a:sym typeface="Raleway"/>
              </a:rPr>
              <a:t>0xE4A75</a:t>
            </a:r>
            <a:endParaRPr sz="1300">
              <a:solidFill>
                <a:srgbClr val="D15A12"/>
              </a:solidFill>
            </a:endParaRPr>
          </a:p>
        </p:txBody>
      </p:sp>
      <p:sp>
        <p:nvSpPr>
          <p:cNvPr id="484" name="Google Shape;484;p39"/>
          <p:cNvSpPr txBox="1"/>
          <p:nvPr/>
        </p:nvSpPr>
        <p:spPr>
          <a:xfrm>
            <a:off x="639624" y="1775975"/>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num1</a:t>
            </a:r>
            <a:endParaRPr b="1" sz="1600">
              <a:solidFill>
                <a:srgbClr val="D15A12"/>
              </a:solidFill>
              <a:latin typeface="Raleway"/>
              <a:ea typeface="Raleway"/>
              <a:cs typeface="Raleway"/>
              <a:sym typeface="Raleway"/>
            </a:endParaRPr>
          </a:p>
        </p:txBody>
      </p:sp>
      <p:sp>
        <p:nvSpPr>
          <p:cNvPr id="485" name="Google Shape;485;p39"/>
          <p:cNvSpPr txBox="1"/>
          <p:nvPr/>
        </p:nvSpPr>
        <p:spPr>
          <a:xfrm>
            <a:off x="639624" y="211140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num2</a:t>
            </a:r>
            <a:endParaRPr b="1" sz="1600">
              <a:solidFill>
                <a:srgbClr val="D15A12"/>
              </a:solidFill>
              <a:latin typeface="Raleway"/>
              <a:ea typeface="Raleway"/>
              <a:cs typeface="Raleway"/>
              <a:sym typeface="Raleway"/>
            </a:endParaRPr>
          </a:p>
        </p:txBody>
      </p:sp>
      <p:sp>
        <p:nvSpPr>
          <p:cNvPr id="486" name="Google Shape;486;p39"/>
          <p:cNvSpPr/>
          <p:nvPr/>
        </p:nvSpPr>
        <p:spPr>
          <a:xfrm>
            <a:off x="4157550" y="4019175"/>
            <a:ext cx="480900" cy="280800"/>
          </a:xfrm>
          <a:prstGeom prst="rightArrow">
            <a:avLst>
              <a:gd fmla="val 50000" name="adj1"/>
              <a:gd fmla="val 50000" name="adj2"/>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7" name="Google Shape;487;p39"/>
          <p:cNvPicPr preferRelativeResize="0"/>
          <p:nvPr/>
        </p:nvPicPr>
        <p:blipFill rotWithShape="1">
          <a:blip r:embed="rId3">
            <a:alphaModFix/>
          </a:blip>
          <a:srcRect b="37659" l="0" r="0" t="0"/>
          <a:stretch/>
        </p:blipFill>
        <p:spPr>
          <a:xfrm>
            <a:off x="4892650" y="955500"/>
            <a:ext cx="3543300" cy="967850"/>
          </a:xfrm>
          <a:prstGeom prst="rect">
            <a:avLst/>
          </a:prstGeom>
          <a:noFill/>
          <a:ln cap="flat" cmpd="sng" w="9525">
            <a:solidFill>
              <a:srgbClr val="434343"/>
            </a:solidFill>
            <a:prstDash val="solid"/>
            <a:round/>
            <a:headEnd len="sm" w="sm" type="none"/>
            <a:tailEnd len="sm" w="sm" type="none"/>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0"/>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94" name="Google Shape;494;p40"/>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495" name="Google Shape;495;p40"/>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496" name="Google Shape;496;p40"/>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t>
            </a:r>
            <a:r>
              <a:rPr b="1" lang="en" sz="3488">
                <a:solidFill>
                  <a:srgbClr val="D15A12"/>
                </a:solidFill>
                <a:latin typeface="Comic Sans MS"/>
                <a:ea typeface="Comic Sans MS"/>
                <a:cs typeface="Comic Sans MS"/>
                <a:sym typeface="Comic Sans MS"/>
              </a:rPr>
              <a:t>Variable passing by </a:t>
            </a:r>
            <a:r>
              <a:rPr b="1" lang="en" sz="3488">
                <a:solidFill>
                  <a:srgbClr val="434343"/>
                </a:solidFill>
                <a:latin typeface="Comic Sans MS"/>
                <a:ea typeface="Comic Sans MS"/>
                <a:cs typeface="Comic Sans MS"/>
                <a:sym typeface="Comic Sans MS"/>
              </a:rPr>
              <a:t>Reference</a:t>
            </a:r>
            <a:endParaRPr b="1" sz="3488">
              <a:solidFill>
                <a:srgbClr val="434343"/>
              </a:solidFill>
              <a:latin typeface="Comic Sans MS"/>
              <a:ea typeface="Comic Sans MS"/>
              <a:cs typeface="Comic Sans MS"/>
              <a:sym typeface="Comic Sans MS"/>
            </a:endParaRPr>
          </a:p>
        </p:txBody>
      </p:sp>
      <p:sp>
        <p:nvSpPr>
          <p:cNvPr id="497" name="Google Shape;497;p40"/>
          <p:cNvSpPr txBox="1"/>
          <p:nvPr/>
        </p:nvSpPr>
        <p:spPr>
          <a:xfrm>
            <a:off x="0" y="3062550"/>
            <a:ext cx="4087200" cy="1802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void</a:t>
            </a:r>
            <a:r>
              <a:rPr b="1" lang="en" sz="1350">
                <a:solidFill>
                  <a:schemeClr val="dk1"/>
                </a:solidFill>
                <a:highlight>
                  <a:srgbClr val="FFFFFF"/>
                </a:highlight>
                <a:latin typeface="Courier New"/>
                <a:ea typeface="Courier New"/>
                <a:cs typeface="Courier New"/>
                <a:sym typeface="Courier New"/>
              </a:rPr>
              <a:t> swapped(</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num1,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temp = num1;</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num1 = 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num2 = temp;</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
        <p:nvSpPr>
          <p:cNvPr id="498" name="Google Shape;498;p40"/>
          <p:cNvSpPr txBox="1"/>
          <p:nvPr/>
        </p:nvSpPr>
        <p:spPr>
          <a:xfrm>
            <a:off x="4210975" y="2801100"/>
            <a:ext cx="4932900" cy="2084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main()</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number1 = </a:t>
            </a:r>
            <a:r>
              <a:rPr b="1" lang="en" sz="1350">
                <a:solidFill>
                  <a:srgbClr val="098658"/>
                </a:solidFill>
                <a:highlight>
                  <a:srgbClr val="FFFFFF"/>
                </a:highlight>
                <a:latin typeface="Courier New"/>
                <a:ea typeface="Courier New"/>
                <a:cs typeface="Courier New"/>
                <a:sym typeface="Courier New"/>
              </a:rPr>
              <a:t>6</a:t>
            </a:r>
            <a:r>
              <a:rPr b="1" lang="en" sz="1350">
                <a:solidFill>
                  <a:schemeClr val="dk1"/>
                </a:solidFill>
                <a:highlight>
                  <a:srgbClr val="FFFFFF"/>
                </a:highlight>
                <a:latin typeface="Courier New"/>
                <a:ea typeface="Courier New"/>
                <a:cs typeface="Courier New"/>
                <a:sym typeface="Courier New"/>
              </a:rPr>
              <a:t>, number2 = </a:t>
            </a:r>
            <a:r>
              <a:rPr b="1" lang="en" sz="1350">
                <a:solidFill>
                  <a:srgbClr val="098658"/>
                </a:solidFill>
                <a:highlight>
                  <a:srgbClr val="FFFFFF"/>
                </a:highlight>
                <a:latin typeface="Courier New"/>
                <a:ea typeface="Courier New"/>
                <a:cs typeface="Courier New"/>
                <a:sym typeface="Courier New"/>
              </a:rPr>
              <a:t>7</a:t>
            </a: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cout &lt;&lt; number1 &lt;&lt; </a:t>
            </a:r>
            <a:r>
              <a:rPr b="1" lang="en" sz="1350">
                <a:solidFill>
                  <a:srgbClr val="A31515"/>
                </a:solidFill>
                <a:highlight>
                  <a:srgbClr val="FFFFFF"/>
                </a:highlight>
                <a:latin typeface="Courier New"/>
                <a:ea typeface="Courier New"/>
                <a:cs typeface="Courier New"/>
                <a:sym typeface="Courier New"/>
              </a:rPr>
              <a:t>" "</a:t>
            </a:r>
            <a:r>
              <a:rPr b="1" lang="en" sz="1350">
                <a:solidFill>
                  <a:schemeClr val="dk1"/>
                </a:solidFill>
                <a:highlight>
                  <a:srgbClr val="FFFFFF"/>
                </a:highlight>
                <a:latin typeface="Courier New"/>
                <a:ea typeface="Courier New"/>
                <a:cs typeface="Courier New"/>
                <a:sym typeface="Courier New"/>
              </a:rPr>
              <a:t> &lt;&lt; number2 &lt;&lt; endl;</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swapped(number1, number2);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cout &lt;&lt; number1 &lt;&lt; </a:t>
            </a:r>
            <a:r>
              <a:rPr b="1" lang="en" sz="1350">
                <a:solidFill>
                  <a:srgbClr val="A31515"/>
                </a:solidFill>
                <a:highlight>
                  <a:srgbClr val="FFFFFF"/>
                </a:highlight>
                <a:latin typeface="Courier New"/>
                <a:ea typeface="Courier New"/>
                <a:cs typeface="Courier New"/>
                <a:sym typeface="Courier New"/>
              </a:rPr>
              <a:t>" "</a:t>
            </a:r>
            <a:r>
              <a:rPr b="1" lang="en" sz="1350">
                <a:solidFill>
                  <a:schemeClr val="dk1"/>
                </a:solidFill>
                <a:highlight>
                  <a:srgbClr val="FFFFFF"/>
                </a:highlight>
                <a:latin typeface="Courier New"/>
                <a:ea typeface="Courier New"/>
                <a:cs typeface="Courier New"/>
                <a:sym typeface="Courier New"/>
              </a:rPr>
              <a:t> &lt;&lt; number2;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
        <p:nvSpPr>
          <p:cNvPr id="499" name="Google Shape;499;p40"/>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0"/>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501" name="Google Shape;501;p40"/>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6</a:t>
            </a:r>
            <a:endParaRPr b="1" sz="1700">
              <a:solidFill>
                <a:srgbClr val="D15A12"/>
              </a:solidFill>
              <a:latin typeface="Comic Sans MS"/>
              <a:ea typeface="Comic Sans MS"/>
              <a:cs typeface="Comic Sans MS"/>
              <a:sym typeface="Comic Sans MS"/>
            </a:endParaRPr>
          </a:p>
        </p:txBody>
      </p:sp>
      <p:sp>
        <p:nvSpPr>
          <p:cNvPr id="502" name="Google Shape;502;p40"/>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3" name="Google Shape;503;p40"/>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504" name="Google Shape;504;p40"/>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505" name="Google Shape;505;p40"/>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506" name="Google Shape;506;p40"/>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507" name="Google Shape;507;p40"/>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508" name="Google Shape;508;p40"/>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9" name="Google Shape;509;p40"/>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510" name="Google Shape;510;p40"/>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
        <p:nvSpPr>
          <p:cNvPr id="511" name="Google Shape;511;p40"/>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solidFill>
                <a:srgbClr val="D15A12"/>
              </a:solidFill>
            </a:endParaRPr>
          </a:p>
        </p:txBody>
      </p:sp>
      <p:sp>
        <p:nvSpPr>
          <p:cNvPr id="512" name="Google Shape;512;p40"/>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solidFill>
                <a:srgbClr val="D15A12"/>
              </a:solidFill>
            </a:endParaRPr>
          </a:p>
        </p:txBody>
      </p:sp>
      <p:sp>
        <p:nvSpPr>
          <p:cNvPr id="513" name="Google Shape;513;p40"/>
          <p:cNvSpPr/>
          <p:nvPr/>
        </p:nvSpPr>
        <p:spPr>
          <a:xfrm>
            <a:off x="4157550" y="4247775"/>
            <a:ext cx="480900" cy="280800"/>
          </a:xfrm>
          <a:prstGeom prst="rightArrow">
            <a:avLst>
              <a:gd fmla="val 50000" name="adj1"/>
              <a:gd fmla="val 50000" name="adj2"/>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4" name="Google Shape;514;p40"/>
          <p:cNvPicPr preferRelativeResize="0"/>
          <p:nvPr/>
        </p:nvPicPr>
        <p:blipFill rotWithShape="1">
          <a:blip r:embed="rId3">
            <a:alphaModFix/>
          </a:blip>
          <a:srcRect b="0" l="0" r="0" t="0"/>
          <a:stretch/>
        </p:blipFill>
        <p:spPr>
          <a:xfrm>
            <a:off x="4892650" y="955500"/>
            <a:ext cx="3543300" cy="1552525"/>
          </a:xfrm>
          <a:prstGeom prst="rect">
            <a:avLst/>
          </a:prstGeom>
          <a:noFill/>
          <a:ln cap="flat" cmpd="sng" w="9525">
            <a:solidFill>
              <a:srgbClr val="434343"/>
            </a:solidFill>
            <a:prstDash val="solid"/>
            <a:round/>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41"/>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21" name="Google Shape;521;p41"/>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522" name="Google Shape;522;p41"/>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523" name="Google Shape;523;p41"/>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Real life Scenario 03</a:t>
            </a:r>
            <a:endParaRPr b="1" sz="3600">
              <a:solidFill>
                <a:srgbClr val="434343"/>
              </a:solidFill>
              <a:latin typeface="Comic Sans MS"/>
              <a:ea typeface="Comic Sans MS"/>
              <a:cs typeface="Comic Sans MS"/>
              <a:sym typeface="Comic Sans MS"/>
            </a:endParaRPr>
          </a:p>
        </p:txBody>
      </p:sp>
      <p:sp>
        <p:nvSpPr>
          <p:cNvPr id="524" name="Google Shape;524;p41"/>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Now, suppose your room </a:t>
            </a:r>
            <a:r>
              <a:rPr b="1" lang="en" sz="2400">
                <a:solidFill>
                  <a:srgbClr val="D15A12"/>
                </a:solidFill>
                <a:latin typeface="Comic Sans MS"/>
                <a:ea typeface="Comic Sans MS"/>
                <a:cs typeface="Comic Sans MS"/>
                <a:sym typeface="Comic Sans MS"/>
              </a:rPr>
              <a:t>AC</a:t>
            </a:r>
            <a:r>
              <a:rPr b="1" lang="en" sz="2400">
                <a:solidFill>
                  <a:srgbClr val="434343"/>
                </a:solidFill>
                <a:latin typeface="Comic Sans MS"/>
                <a:ea typeface="Comic Sans MS"/>
                <a:cs typeface="Comic Sans MS"/>
                <a:sym typeface="Comic Sans MS"/>
              </a:rPr>
              <a:t> breaks down and it is not working.</a:t>
            </a:r>
            <a:endParaRPr b="1" sz="2400">
              <a:solidFill>
                <a:srgbClr val="434343"/>
              </a:solidFill>
              <a:latin typeface="Comic Sans MS"/>
              <a:ea typeface="Comic Sans MS"/>
              <a:cs typeface="Comic Sans MS"/>
              <a:sym typeface="Comic Sans MS"/>
            </a:endParaRPr>
          </a:p>
        </p:txBody>
      </p:sp>
      <p:pic>
        <p:nvPicPr>
          <p:cNvPr id="525" name="Google Shape;525;p41"/>
          <p:cNvPicPr preferRelativeResize="0"/>
          <p:nvPr/>
        </p:nvPicPr>
        <p:blipFill>
          <a:blip r:embed="rId3">
            <a:alphaModFix/>
          </a:blip>
          <a:stretch>
            <a:fillRect/>
          </a:stretch>
        </p:blipFill>
        <p:spPr>
          <a:xfrm>
            <a:off x="3020013" y="2181300"/>
            <a:ext cx="3103962" cy="2683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1000"/>
                                        <p:tgtEl>
                                          <p:spTgt spid="5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2"/>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32" name="Google Shape;532;p42"/>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533" name="Google Shape;533;p42"/>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534" name="Google Shape;534;p42"/>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Real life Scenario 03</a:t>
            </a:r>
            <a:endParaRPr b="1" sz="3600">
              <a:solidFill>
                <a:srgbClr val="434343"/>
              </a:solidFill>
              <a:latin typeface="Comic Sans MS"/>
              <a:ea typeface="Comic Sans MS"/>
              <a:cs typeface="Comic Sans MS"/>
              <a:sym typeface="Comic Sans MS"/>
            </a:endParaRPr>
          </a:p>
        </p:txBody>
      </p:sp>
      <p:sp>
        <p:nvSpPr>
          <p:cNvPr id="535" name="Google Shape;535;p42"/>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Since it is a bigger item, therefore you do not take your </a:t>
            </a:r>
            <a:r>
              <a:rPr b="1" lang="en" sz="2400">
                <a:solidFill>
                  <a:srgbClr val="D15A12"/>
                </a:solidFill>
                <a:latin typeface="Comic Sans MS"/>
                <a:ea typeface="Comic Sans MS"/>
                <a:cs typeface="Comic Sans MS"/>
                <a:sym typeface="Comic Sans MS"/>
              </a:rPr>
              <a:t>AC</a:t>
            </a:r>
            <a:r>
              <a:rPr b="1" lang="en" sz="2400">
                <a:solidFill>
                  <a:srgbClr val="434343"/>
                </a:solidFill>
                <a:latin typeface="Comic Sans MS"/>
                <a:ea typeface="Comic Sans MS"/>
                <a:cs typeface="Comic Sans MS"/>
                <a:sym typeface="Comic Sans MS"/>
              </a:rPr>
              <a:t> to the Electrician.</a:t>
            </a:r>
            <a:endParaRPr b="1" sz="2400">
              <a:solidFill>
                <a:srgbClr val="434343"/>
              </a:solidFill>
              <a:latin typeface="Comic Sans MS"/>
              <a:ea typeface="Comic Sans MS"/>
              <a:cs typeface="Comic Sans MS"/>
              <a:sym typeface="Comic Sans MS"/>
            </a:endParaRPr>
          </a:p>
        </p:txBody>
      </p:sp>
      <p:pic>
        <p:nvPicPr>
          <p:cNvPr id="536" name="Google Shape;536;p42"/>
          <p:cNvPicPr preferRelativeResize="0"/>
          <p:nvPr/>
        </p:nvPicPr>
        <p:blipFill>
          <a:blip r:embed="rId3">
            <a:alphaModFix/>
          </a:blip>
          <a:stretch>
            <a:fillRect/>
          </a:stretch>
        </p:blipFill>
        <p:spPr>
          <a:xfrm>
            <a:off x="3020013" y="2181300"/>
            <a:ext cx="3103962" cy="2683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1000"/>
                                        <p:tgtEl>
                                          <p:spTgt spid="5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43"/>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43" name="Google Shape;543;p43"/>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544" name="Google Shape;544;p43"/>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545" name="Google Shape;545;p43"/>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Real life Scenario 03</a:t>
            </a:r>
            <a:endParaRPr b="1" sz="3600">
              <a:solidFill>
                <a:srgbClr val="434343"/>
              </a:solidFill>
              <a:latin typeface="Comic Sans MS"/>
              <a:ea typeface="Comic Sans MS"/>
              <a:cs typeface="Comic Sans MS"/>
              <a:sym typeface="Comic Sans MS"/>
            </a:endParaRPr>
          </a:p>
        </p:txBody>
      </p:sp>
      <p:sp>
        <p:nvSpPr>
          <p:cNvPr id="546" name="Google Shape;546;p43"/>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You call the electrician and tell him the </a:t>
            </a:r>
            <a:r>
              <a:rPr b="1" lang="en" sz="2400">
                <a:solidFill>
                  <a:srgbClr val="D15A12"/>
                </a:solidFill>
                <a:latin typeface="Comic Sans MS"/>
                <a:ea typeface="Comic Sans MS"/>
                <a:cs typeface="Comic Sans MS"/>
                <a:sym typeface="Comic Sans MS"/>
              </a:rPr>
              <a:t>address of your house</a:t>
            </a:r>
            <a:r>
              <a:rPr b="1" lang="en" sz="2400">
                <a:solidFill>
                  <a:srgbClr val="434343"/>
                </a:solidFill>
                <a:latin typeface="Comic Sans MS"/>
                <a:ea typeface="Comic Sans MS"/>
                <a:cs typeface="Comic Sans MS"/>
                <a:sym typeface="Comic Sans MS"/>
              </a:rPr>
              <a:t> so he can come and repair your AC. </a:t>
            </a:r>
            <a:endParaRPr b="1" sz="2400">
              <a:solidFill>
                <a:srgbClr val="434343"/>
              </a:solidFill>
              <a:latin typeface="Comic Sans MS"/>
              <a:ea typeface="Comic Sans MS"/>
              <a:cs typeface="Comic Sans MS"/>
              <a:sym typeface="Comic Sans MS"/>
            </a:endParaRPr>
          </a:p>
        </p:txBody>
      </p:sp>
      <p:pic>
        <p:nvPicPr>
          <p:cNvPr id="547" name="Google Shape;547;p43"/>
          <p:cNvPicPr preferRelativeResize="0"/>
          <p:nvPr/>
        </p:nvPicPr>
        <p:blipFill>
          <a:blip r:embed="rId3">
            <a:alphaModFix/>
          </a:blip>
          <a:stretch>
            <a:fillRect/>
          </a:stretch>
        </p:blipFill>
        <p:spPr>
          <a:xfrm>
            <a:off x="3020013" y="2181300"/>
            <a:ext cx="3103962" cy="2683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1000"/>
                                        <p:tgtEl>
                                          <p:spTgt spid="5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4"/>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54" name="Google Shape;554;p44"/>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555" name="Google Shape;555;p44"/>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556" name="Google Shape;556;p44"/>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In C++</a:t>
            </a:r>
            <a:endParaRPr b="1" sz="3600">
              <a:solidFill>
                <a:srgbClr val="434343"/>
              </a:solidFill>
              <a:latin typeface="Comic Sans MS"/>
              <a:ea typeface="Comic Sans MS"/>
              <a:cs typeface="Comic Sans MS"/>
              <a:sym typeface="Comic Sans MS"/>
            </a:endParaRPr>
          </a:p>
        </p:txBody>
      </p:sp>
      <p:sp>
        <p:nvSpPr>
          <p:cNvPr id="557" name="Google Shape;557;p44"/>
          <p:cNvSpPr txBox="1"/>
          <p:nvPr/>
        </p:nvSpPr>
        <p:spPr>
          <a:xfrm>
            <a:off x="375500" y="945450"/>
            <a:ext cx="8342700" cy="18231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Since, in C++, </a:t>
            </a:r>
            <a:r>
              <a:rPr b="1" lang="en" sz="2400">
                <a:solidFill>
                  <a:srgbClr val="D15A12"/>
                </a:solidFill>
                <a:latin typeface="Comic Sans MS"/>
                <a:ea typeface="Comic Sans MS"/>
                <a:cs typeface="Comic Sans MS"/>
                <a:sym typeface="Comic Sans MS"/>
              </a:rPr>
              <a:t>arrays</a:t>
            </a:r>
            <a:r>
              <a:rPr b="1" lang="en" sz="2400">
                <a:solidFill>
                  <a:srgbClr val="434343"/>
                </a:solidFill>
                <a:latin typeface="Comic Sans MS"/>
                <a:ea typeface="Comic Sans MS"/>
                <a:cs typeface="Comic Sans MS"/>
                <a:sym typeface="Comic Sans MS"/>
              </a:rPr>
              <a:t> take large memory space and they are difficult to pass to the functions therefore we only pass their address i.e. we pass them </a:t>
            </a:r>
            <a:r>
              <a:rPr b="1" lang="en" sz="2400">
                <a:solidFill>
                  <a:srgbClr val="D15A12"/>
                </a:solidFill>
                <a:latin typeface="Comic Sans MS"/>
                <a:ea typeface="Comic Sans MS"/>
                <a:cs typeface="Comic Sans MS"/>
                <a:sym typeface="Comic Sans MS"/>
              </a:rPr>
              <a:t>by Reference</a:t>
            </a:r>
            <a:r>
              <a:rPr b="1" lang="en" sz="2400">
                <a:solidFill>
                  <a:srgbClr val="434343"/>
                </a:solidFill>
                <a:latin typeface="Comic Sans MS"/>
                <a:ea typeface="Comic Sans MS"/>
                <a:cs typeface="Comic Sans MS"/>
                <a:sym typeface="Comic Sans MS"/>
              </a:rPr>
              <a:t>. </a:t>
            </a:r>
            <a:endParaRPr b="1" sz="2400">
              <a:solidFill>
                <a:srgbClr val="434343"/>
              </a:solidFill>
              <a:latin typeface="Comic Sans MS"/>
              <a:ea typeface="Comic Sans MS"/>
              <a:cs typeface="Comic Sans MS"/>
              <a:sym typeface="Comic Sans MS"/>
            </a:endParaRPr>
          </a:p>
        </p:txBody>
      </p:sp>
      <p:graphicFrame>
        <p:nvGraphicFramePr>
          <p:cNvPr id="558" name="Google Shape;558;p44"/>
          <p:cNvGraphicFramePr/>
          <p:nvPr/>
        </p:nvGraphicFramePr>
        <p:xfrm>
          <a:off x="1181100" y="4133850"/>
          <a:ext cx="3000000" cy="3000000"/>
        </p:xfrm>
        <a:graphic>
          <a:graphicData uri="http://schemas.openxmlformats.org/drawingml/2006/table">
            <a:tbl>
              <a:tblPr>
                <a:noFill/>
                <a:tableStyleId>{B4529115-C356-4AFF-A7AC-48432B7B1547}</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559" name="Google Shape;559;p44"/>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560" name="Google Shape;560;p44"/>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561" name="Google Shape;561;p44"/>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562" name="Google Shape;562;p44"/>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563" name="Google Shape;563;p44"/>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564" name="Google Shape;564;p44"/>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1000"/>
                                        <p:tgtEl>
                                          <p:spTgt spid="5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45"/>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71" name="Google Shape;571;p45"/>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572" name="Google Shape;572;p45"/>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573" name="Google Shape;573;p45"/>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574" name="Google Shape;574;p45"/>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Let’s see first what happens if we just </a:t>
            </a:r>
            <a:r>
              <a:rPr b="1" lang="en" sz="2400">
                <a:solidFill>
                  <a:srgbClr val="D15A12"/>
                </a:solidFill>
                <a:latin typeface="Comic Sans MS"/>
                <a:ea typeface="Comic Sans MS"/>
                <a:cs typeface="Comic Sans MS"/>
                <a:sym typeface="Comic Sans MS"/>
              </a:rPr>
              <a:t>cout</a:t>
            </a:r>
            <a:r>
              <a:rPr b="1" lang="en" sz="2400">
                <a:solidFill>
                  <a:srgbClr val="434343"/>
                </a:solidFill>
                <a:latin typeface="Comic Sans MS"/>
                <a:ea typeface="Comic Sans MS"/>
                <a:cs typeface="Comic Sans MS"/>
                <a:sym typeface="Comic Sans MS"/>
              </a:rPr>
              <a:t> the name of the array.</a:t>
            </a:r>
            <a:endParaRPr b="1" sz="2400">
              <a:solidFill>
                <a:srgbClr val="434343"/>
              </a:solidFill>
              <a:latin typeface="Comic Sans MS"/>
              <a:ea typeface="Comic Sans MS"/>
              <a:cs typeface="Comic Sans MS"/>
              <a:sym typeface="Comic Sans MS"/>
            </a:endParaRPr>
          </a:p>
        </p:txBody>
      </p:sp>
      <p:sp>
        <p:nvSpPr>
          <p:cNvPr id="575" name="Google Shape;575;p45"/>
          <p:cNvSpPr txBox="1"/>
          <p:nvPr/>
        </p:nvSpPr>
        <p:spPr>
          <a:xfrm>
            <a:off x="457200" y="1981200"/>
            <a:ext cx="39243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6</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num;</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graphicFrame>
        <p:nvGraphicFramePr>
          <p:cNvPr id="576" name="Google Shape;576;p45"/>
          <p:cNvGraphicFramePr/>
          <p:nvPr/>
        </p:nvGraphicFramePr>
        <p:xfrm>
          <a:off x="1181100" y="4133850"/>
          <a:ext cx="3000000" cy="3000000"/>
        </p:xfrm>
        <a:graphic>
          <a:graphicData uri="http://schemas.openxmlformats.org/drawingml/2006/table">
            <a:tbl>
              <a:tblPr>
                <a:noFill/>
                <a:tableStyleId>{B4529115-C356-4AFF-A7AC-48432B7B1547}</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577" name="Google Shape;577;p45"/>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578" name="Google Shape;578;p45"/>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579" name="Google Shape;579;p45"/>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580" name="Google Shape;580;p45"/>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581" name="Google Shape;581;p45"/>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582" name="Google Shape;582;p45"/>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1000"/>
                                        <p:tgtEl>
                                          <p:spTgt spid="5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46"/>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89" name="Google Shape;589;p46"/>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590" name="Google Shape;590;p46"/>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591" name="Google Shape;591;p46"/>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592" name="Google Shape;592;p46"/>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Let’s see first what happens if we just </a:t>
            </a:r>
            <a:r>
              <a:rPr b="1" lang="en" sz="2400">
                <a:solidFill>
                  <a:srgbClr val="D15A12"/>
                </a:solidFill>
                <a:latin typeface="Comic Sans MS"/>
                <a:ea typeface="Comic Sans MS"/>
                <a:cs typeface="Comic Sans MS"/>
                <a:sym typeface="Comic Sans MS"/>
              </a:rPr>
              <a:t>cout</a:t>
            </a:r>
            <a:r>
              <a:rPr b="1" lang="en" sz="2400">
                <a:solidFill>
                  <a:srgbClr val="434343"/>
                </a:solidFill>
                <a:latin typeface="Comic Sans MS"/>
                <a:ea typeface="Comic Sans MS"/>
                <a:cs typeface="Comic Sans MS"/>
                <a:sym typeface="Comic Sans MS"/>
              </a:rPr>
              <a:t> the name of the array.</a:t>
            </a:r>
            <a:endParaRPr b="1" sz="2400">
              <a:solidFill>
                <a:srgbClr val="434343"/>
              </a:solidFill>
              <a:latin typeface="Comic Sans MS"/>
              <a:ea typeface="Comic Sans MS"/>
              <a:cs typeface="Comic Sans MS"/>
              <a:sym typeface="Comic Sans MS"/>
            </a:endParaRPr>
          </a:p>
        </p:txBody>
      </p:sp>
      <p:sp>
        <p:nvSpPr>
          <p:cNvPr id="593" name="Google Shape;593;p46"/>
          <p:cNvSpPr txBox="1"/>
          <p:nvPr/>
        </p:nvSpPr>
        <p:spPr>
          <a:xfrm>
            <a:off x="457200" y="1981200"/>
            <a:ext cx="39243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6</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num;</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graphicFrame>
        <p:nvGraphicFramePr>
          <p:cNvPr id="594" name="Google Shape;594;p46"/>
          <p:cNvGraphicFramePr/>
          <p:nvPr/>
        </p:nvGraphicFramePr>
        <p:xfrm>
          <a:off x="1181100" y="4133850"/>
          <a:ext cx="3000000" cy="3000000"/>
        </p:xfrm>
        <a:graphic>
          <a:graphicData uri="http://schemas.openxmlformats.org/drawingml/2006/table">
            <a:tbl>
              <a:tblPr>
                <a:noFill/>
                <a:tableStyleId>{B4529115-C356-4AFF-A7AC-48432B7B1547}</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595" name="Google Shape;595;p46"/>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596" name="Google Shape;596;p46"/>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597" name="Google Shape;597;p46"/>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598" name="Google Shape;598;p46"/>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599" name="Google Shape;599;p46"/>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600" name="Google Shape;600;p46"/>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pic>
        <p:nvPicPr>
          <p:cNvPr id="601" name="Google Shape;601;p46"/>
          <p:cNvPicPr preferRelativeResize="0"/>
          <p:nvPr/>
        </p:nvPicPr>
        <p:blipFill>
          <a:blip r:embed="rId3">
            <a:alphaModFix/>
          </a:blip>
          <a:stretch>
            <a:fillRect/>
          </a:stretch>
        </p:blipFill>
        <p:spPr>
          <a:xfrm>
            <a:off x="5067300" y="2038950"/>
            <a:ext cx="3810000" cy="1352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
                                        </p:tgtEl>
                                        <p:attrNameLst>
                                          <p:attrName>style.visibility</p:attrName>
                                        </p:attrNameLst>
                                      </p:cBhvr>
                                      <p:to>
                                        <p:strVal val="visible"/>
                                      </p:to>
                                    </p:set>
                                    <p:animEffect filter="fade" transition="in">
                                      <p:cBhvr>
                                        <p:cTn dur="1000"/>
                                        <p:tgtEl>
                                          <p:spTgt spid="5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47"/>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08" name="Google Shape;608;p47"/>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609" name="Google Shape;609;p47"/>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610" name="Google Shape;610;p47"/>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611" name="Google Shape;611;p47"/>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It means if we just write the </a:t>
            </a:r>
            <a:r>
              <a:rPr b="1" lang="en" sz="2400">
                <a:solidFill>
                  <a:srgbClr val="D15A12"/>
                </a:solidFill>
                <a:latin typeface="Comic Sans MS"/>
                <a:ea typeface="Comic Sans MS"/>
                <a:cs typeface="Comic Sans MS"/>
                <a:sym typeface="Comic Sans MS"/>
              </a:rPr>
              <a:t>name of the array</a:t>
            </a:r>
            <a:r>
              <a:rPr b="1" lang="en" sz="2400">
                <a:solidFill>
                  <a:srgbClr val="434343"/>
                </a:solidFill>
                <a:latin typeface="Comic Sans MS"/>
                <a:ea typeface="Comic Sans MS"/>
                <a:cs typeface="Comic Sans MS"/>
                <a:sym typeface="Comic Sans MS"/>
              </a:rPr>
              <a:t> then we get the </a:t>
            </a:r>
            <a:r>
              <a:rPr b="1" lang="en" sz="2400">
                <a:solidFill>
                  <a:srgbClr val="D15A12"/>
                </a:solidFill>
                <a:latin typeface="Comic Sans MS"/>
                <a:ea typeface="Comic Sans MS"/>
                <a:cs typeface="Comic Sans MS"/>
                <a:sym typeface="Comic Sans MS"/>
              </a:rPr>
              <a:t>starting address</a:t>
            </a:r>
            <a:r>
              <a:rPr b="1" lang="en" sz="2400">
                <a:solidFill>
                  <a:srgbClr val="434343"/>
                </a:solidFill>
                <a:latin typeface="Comic Sans MS"/>
                <a:ea typeface="Comic Sans MS"/>
                <a:cs typeface="Comic Sans MS"/>
                <a:sym typeface="Comic Sans MS"/>
              </a:rPr>
              <a:t> of the array.</a:t>
            </a:r>
            <a:endParaRPr b="1" sz="2400">
              <a:solidFill>
                <a:srgbClr val="434343"/>
              </a:solidFill>
              <a:latin typeface="Comic Sans MS"/>
              <a:ea typeface="Comic Sans MS"/>
              <a:cs typeface="Comic Sans MS"/>
              <a:sym typeface="Comic Sans MS"/>
            </a:endParaRPr>
          </a:p>
        </p:txBody>
      </p:sp>
      <p:sp>
        <p:nvSpPr>
          <p:cNvPr id="612" name="Google Shape;612;p47"/>
          <p:cNvSpPr txBox="1"/>
          <p:nvPr/>
        </p:nvSpPr>
        <p:spPr>
          <a:xfrm>
            <a:off x="457200" y="1981200"/>
            <a:ext cx="39243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6</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num;</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graphicFrame>
        <p:nvGraphicFramePr>
          <p:cNvPr id="613" name="Google Shape;613;p47"/>
          <p:cNvGraphicFramePr/>
          <p:nvPr/>
        </p:nvGraphicFramePr>
        <p:xfrm>
          <a:off x="1181100" y="4133850"/>
          <a:ext cx="3000000" cy="3000000"/>
        </p:xfrm>
        <a:graphic>
          <a:graphicData uri="http://schemas.openxmlformats.org/drawingml/2006/table">
            <a:tbl>
              <a:tblPr>
                <a:noFill/>
                <a:tableStyleId>{B4529115-C356-4AFF-A7AC-48432B7B1547}</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614" name="Google Shape;614;p47"/>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615" name="Google Shape;615;p47"/>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616" name="Google Shape;616;p47"/>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617" name="Google Shape;617;p47"/>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618" name="Google Shape;618;p47"/>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619" name="Google Shape;619;p47"/>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pic>
        <p:nvPicPr>
          <p:cNvPr id="620" name="Google Shape;620;p47"/>
          <p:cNvPicPr preferRelativeResize="0"/>
          <p:nvPr/>
        </p:nvPicPr>
        <p:blipFill>
          <a:blip r:embed="rId3">
            <a:alphaModFix/>
          </a:blip>
          <a:stretch>
            <a:fillRect/>
          </a:stretch>
        </p:blipFill>
        <p:spPr>
          <a:xfrm>
            <a:off x="5067300" y="2038950"/>
            <a:ext cx="3810000" cy="1352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1000"/>
                                        <p:tgtEl>
                                          <p:spTgt spid="6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48"/>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27" name="Google Shape;627;p48"/>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628" name="Google Shape;628;p48"/>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629" name="Google Shape;629;p48"/>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630" name="Google Shape;630;p48"/>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Now, lets print this array after passing to </a:t>
            </a:r>
            <a:r>
              <a:rPr b="1" lang="en" sz="2400">
                <a:solidFill>
                  <a:srgbClr val="D15A12"/>
                </a:solidFill>
                <a:latin typeface="Comic Sans MS"/>
                <a:ea typeface="Comic Sans MS"/>
                <a:cs typeface="Comic Sans MS"/>
                <a:sym typeface="Comic Sans MS"/>
              </a:rPr>
              <a:t>printArray</a:t>
            </a:r>
            <a:r>
              <a:rPr b="1" lang="en" sz="2400">
                <a:solidFill>
                  <a:srgbClr val="434343"/>
                </a:solidFill>
                <a:latin typeface="Comic Sans MS"/>
                <a:ea typeface="Comic Sans MS"/>
                <a:cs typeface="Comic Sans MS"/>
                <a:sym typeface="Comic Sans MS"/>
              </a:rPr>
              <a:t>(int arr[], int size) function.</a:t>
            </a:r>
            <a:endParaRPr b="1" sz="2400">
              <a:solidFill>
                <a:srgbClr val="434343"/>
              </a:solidFill>
              <a:latin typeface="Comic Sans MS"/>
              <a:ea typeface="Comic Sans MS"/>
              <a:cs typeface="Comic Sans MS"/>
              <a:sym typeface="Comic Sans MS"/>
            </a:endParaRPr>
          </a:p>
        </p:txBody>
      </p:sp>
      <p:sp>
        <p:nvSpPr>
          <p:cNvPr id="631" name="Google Shape;631;p48"/>
          <p:cNvSpPr txBox="1"/>
          <p:nvPr/>
        </p:nvSpPr>
        <p:spPr>
          <a:xfrm>
            <a:off x="457200" y="1981200"/>
            <a:ext cx="39243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6</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printArray(num, 5);</a:t>
            </a:r>
            <a:endParaRPr b="1" sz="14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graphicFrame>
        <p:nvGraphicFramePr>
          <p:cNvPr id="632" name="Google Shape;632;p48"/>
          <p:cNvGraphicFramePr/>
          <p:nvPr/>
        </p:nvGraphicFramePr>
        <p:xfrm>
          <a:off x="1181100" y="4133850"/>
          <a:ext cx="3000000" cy="3000000"/>
        </p:xfrm>
        <a:graphic>
          <a:graphicData uri="http://schemas.openxmlformats.org/drawingml/2006/table">
            <a:tbl>
              <a:tblPr>
                <a:noFill/>
                <a:tableStyleId>{B4529115-C356-4AFF-A7AC-48432B7B1547}</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633" name="Google Shape;633;p48"/>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634" name="Google Shape;634;p48"/>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635" name="Google Shape;635;p48"/>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636" name="Google Shape;636;p48"/>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637" name="Google Shape;637;p48"/>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638" name="Google Shape;638;p48"/>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
        <p:nvSpPr>
          <p:cNvPr id="639" name="Google Shape;639;p48"/>
          <p:cNvSpPr txBox="1"/>
          <p:nvPr/>
        </p:nvSpPr>
        <p:spPr>
          <a:xfrm>
            <a:off x="4724400" y="1828800"/>
            <a:ext cx="3924300" cy="17046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void</a:t>
            </a:r>
            <a:r>
              <a:rPr b="1" lang="en" sz="1250">
                <a:solidFill>
                  <a:schemeClr val="dk1"/>
                </a:solidFill>
                <a:highlight>
                  <a:srgbClr val="FFFFFF"/>
                </a:highlight>
                <a:latin typeface="Courier New"/>
                <a:ea typeface="Courier New"/>
                <a:cs typeface="Courier New"/>
                <a:sym typeface="Courier New"/>
              </a:rPr>
              <a:t> printArray(</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arr[], int size)</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for</a:t>
            </a:r>
            <a:r>
              <a:rPr b="1" lang="en" sz="1250">
                <a:solidFill>
                  <a:schemeClr val="dk1"/>
                </a:solidFill>
                <a:highlight>
                  <a:srgbClr val="FFFFFF"/>
                </a:highlight>
                <a:latin typeface="Courier New"/>
                <a:ea typeface="Courier New"/>
                <a:cs typeface="Courier New"/>
                <a:sym typeface="Courier New"/>
              </a:rPr>
              <a:t>(</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x = </a:t>
            </a:r>
            <a:r>
              <a:rPr b="1" lang="en" sz="1250">
                <a:solidFill>
                  <a:srgbClr val="098658"/>
                </a:solidFill>
                <a:highlight>
                  <a:srgbClr val="FFFFFF"/>
                </a:highlight>
                <a:latin typeface="Courier New"/>
                <a:ea typeface="Courier New"/>
                <a:cs typeface="Courier New"/>
                <a:sym typeface="Courier New"/>
              </a:rPr>
              <a:t>0</a:t>
            </a:r>
            <a:r>
              <a:rPr b="1" lang="en" sz="1250">
                <a:solidFill>
                  <a:schemeClr val="dk1"/>
                </a:solidFill>
                <a:highlight>
                  <a:srgbClr val="FFFFFF"/>
                </a:highlight>
                <a:latin typeface="Courier New"/>
                <a:ea typeface="Courier New"/>
                <a:cs typeface="Courier New"/>
                <a:sym typeface="Courier New"/>
              </a:rPr>
              <a:t>; x &lt; </a:t>
            </a:r>
            <a:r>
              <a:rPr b="1" lang="en" sz="1250">
                <a:solidFill>
                  <a:srgbClr val="098658"/>
                </a:solidFill>
                <a:highlight>
                  <a:srgbClr val="FFFFFF"/>
                </a:highlight>
                <a:latin typeface="Courier New"/>
                <a:ea typeface="Courier New"/>
                <a:cs typeface="Courier New"/>
                <a:sym typeface="Courier New"/>
              </a:rPr>
              <a:t>size</a:t>
            </a:r>
            <a:r>
              <a:rPr b="1" lang="en" sz="1250">
                <a:solidFill>
                  <a:schemeClr val="dk1"/>
                </a:solidFill>
                <a:highlight>
                  <a:srgbClr val="FFFFFF"/>
                </a:highlight>
                <a:latin typeface="Courier New"/>
                <a:ea typeface="Courier New"/>
                <a:cs typeface="Courier New"/>
                <a:sym typeface="Courier New"/>
              </a:rPr>
              <a:t>; x++)</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arr[x] &lt;&lt; </a:t>
            </a:r>
            <a:r>
              <a:rPr b="1" lang="en" sz="1250">
                <a:solidFill>
                  <a:srgbClr val="A31515"/>
                </a:solidFill>
                <a:highlight>
                  <a:srgbClr val="FFFFFF"/>
                </a:highlight>
                <a:latin typeface="Courier New"/>
                <a:ea typeface="Courier New"/>
                <a:cs typeface="Courier New"/>
                <a:sym typeface="Courier New"/>
              </a:rPr>
              <a:t>" "</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rgbClr val="0000FF"/>
              </a:solidFill>
              <a:highlight>
                <a:srgbClr val="FFFFFF"/>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1000"/>
                                        <p:tgtEl>
                                          <p:spTgt spid="6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49"/>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46" name="Google Shape;646;p49"/>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647" name="Google Shape;647;p49"/>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648" name="Google Shape;648;p49"/>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649" name="Google Shape;649;p49"/>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We just passed the </a:t>
            </a:r>
            <a:r>
              <a:rPr b="1" lang="en" sz="2400">
                <a:solidFill>
                  <a:srgbClr val="D15A12"/>
                </a:solidFill>
                <a:latin typeface="Comic Sans MS"/>
                <a:ea typeface="Comic Sans MS"/>
                <a:cs typeface="Comic Sans MS"/>
                <a:sym typeface="Comic Sans MS"/>
              </a:rPr>
              <a:t>starting address</a:t>
            </a:r>
            <a:r>
              <a:rPr b="1" lang="en" sz="2400">
                <a:solidFill>
                  <a:srgbClr val="434343"/>
                </a:solidFill>
                <a:latin typeface="Comic Sans MS"/>
                <a:ea typeface="Comic Sans MS"/>
                <a:cs typeface="Comic Sans MS"/>
                <a:sym typeface="Comic Sans MS"/>
              </a:rPr>
              <a:t> of the array to the function instead of passing the complete array.</a:t>
            </a:r>
            <a:endParaRPr b="1" sz="2400">
              <a:solidFill>
                <a:srgbClr val="434343"/>
              </a:solidFill>
              <a:latin typeface="Comic Sans MS"/>
              <a:ea typeface="Comic Sans MS"/>
              <a:cs typeface="Comic Sans MS"/>
              <a:sym typeface="Comic Sans MS"/>
            </a:endParaRPr>
          </a:p>
        </p:txBody>
      </p:sp>
      <p:sp>
        <p:nvSpPr>
          <p:cNvPr id="650" name="Google Shape;650;p49"/>
          <p:cNvSpPr txBox="1"/>
          <p:nvPr/>
        </p:nvSpPr>
        <p:spPr>
          <a:xfrm>
            <a:off x="457200" y="1981200"/>
            <a:ext cx="39243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6</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printArray(num, 5);</a:t>
            </a:r>
            <a:endParaRPr b="1" sz="14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graphicFrame>
        <p:nvGraphicFramePr>
          <p:cNvPr id="651" name="Google Shape;651;p49"/>
          <p:cNvGraphicFramePr/>
          <p:nvPr/>
        </p:nvGraphicFramePr>
        <p:xfrm>
          <a:off x="1181100" y="4133850"/>
          <a:ext cx="3000000" cy="3000000"/>
        </p:xfrm>
        <a:graphic>
          <a:graphicData uri="http://schemas.openxmlformats.org/drawingml/2006/table">
            <a:tbl>
              <a:tblPr>
                <a:noFill/>
                <a:tableStyleId>{B4529115-C356-4AFF-A7AC-48432B7B1547}</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652" name="Google Shape;652;p49"/>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653" name="Google Shape;653;p49"/>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654" name="Google Shape;654;p49"/>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655" name="Google Shape;655;p49"/>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656" name="Google Shape;656;p49"/>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657" name="Google Shape;657;p49"/>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
        <p:nvSpPr>
          <p:cNvPr id="658" name="Google Shape;658;p49"/>
          <p:cNvSpPr txBox="1"/>
          <p:nvPr/>
        </p:nvSpPr>
        <p:spPr>
          <a:xfrm>
            <a:off x="4724400" y="1828800"/>
            <a:ext cx="3924300" cy="17046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void</a:t>
            </a:r>
            <a:r>
              <a:rPr b="1" lang="en" sz="1250">
                <a:solidFill>
                  <a:schemeClr val="dk1"/>
                </a:solidFill>
                <a:highlight>
                  <a:srgbClr val="FFFFFF"/>
                </a:highlight>
                <a:latin typeface="Courier New"/>
                <a:ea typeface="Courier New"/>
                <a:cs typeface="Courier New"/>
                <a:sym typeface="Courier New"/>
              </a:rPr>
              <a:t> printArray(</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arr[], int size)</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for</a:t>
            </a:r>
            <a:r>
              <a:rPr b="1" lang="en" sz="1250">
                <a:solidFill>
                  <a:schemeClr val="dk1"/>
                </a:solidFill>
                <a:highlight>
                  <a:srgbClr val="FFFFFF"/>
                </a:highlight>
                <a:latin typeface="Courier New"/>
                <a:ea typeface="Courier New"/>
                <a:cs typeface="Courier New"/>
                <a:sym typeface="Courier New"/>
              </a:rPr>
              <a:t>(</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x = </a:t>
            </a:r>
            <a:r>
              <a:rPr b="1" lang="en" sz="1250">
                <a:solidFill>
                  <a:srgbClr val="098658"/>
                </a:solidFill>
                <a:highlight>
                  <a:srgbClr val="FFFFFF"/>
                </a:highlight>
                <a:latin typeface="Courier New"/>
                <a:ea typeface="Courier New"/>
                <a:cs typeface="Courier New"/>
                <a:sym typeface="Courier New"/>
              </a:rPr>
              <a:t>0</a:t>
            </a:r>
            <a:r>
              <a:rPr b="1" lang="en" sz="1250">
                <a:solidFill>
                  <a:schemeClr val="dk1"/>
                </a:solidFill>
                <a:highlight>
                  <a:srgbClr val="FFFFFF"/>
                </a:highlight>
                <a:latin typeface="Courier New"/>
                <a:ea typeface="Courier New"/>
                <a:cs typeface="Courier New"/>
                <a:sym typeface="Courier New"/>
              </a:rPr>
              <a:t>; x &lt; </a:t>
            </a:r>
            <a:r>
              <a:rPr b="1" lang="en" sz="1250">
                <a:solidFill>
                  <a:srgbClr val="098658"/>
                </a:solidFill>
                <a:highlight>
                  <a:srgbClr val="FFFFFF"/>
                </a:highlight>
                <a:latin typeface="Courier New"/>
                <a:ea typeface="Courier New"/>
                <a:cs typeface="Courier New"/>
                <a:sym typeface="Courier New"/>
              </a:rPr>
              <a:t>size</a:t>
            </a:r>
            <a:r>
              <a:rPr b="1" lang="en" sz="1250">
                <a:solidFill>
                  <a:schemeClr val="dk1"/>
                </a:solidFill>
                <a:highlight>
                  <a:srgbClr val="FFFFFF"/>
                </a:highlight>
                <a:latin typeface="Courier New"/>
                <a:ea typeface="Courier New"/>
                <a:cs typeface="Courier New"/>
                <a:sym typeface="Courier New"/>
              </a:rPr>
              <a:t>; x++)</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arr[x] &lt;&lt; </a:t>
            </a:r>
            <a:r>
              <a:rPr b="1" lang="en" sz="1250">
                <a:solidFill>
                  <a:srgbClr val="A31515"/>
                </a:solidFill>
                <a:highlight>
                  <a:srgbClr val="FFFFFF"/>
                </a:highlight>
                <a:latin typeface="Courier New"/>
                <a:ea typeface="Courier New"/>
                <a:cs typeface="Courier New"/>
                <a:sym typeface="Courier New"/>
              </a:rPr>
              <a:t>" "</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rgbClr val="0000FF"/>
              </a:solidFill>
              <a:highlight>
                <a:srgbClr val="FFFFFF"/>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1000"/>
                                        <p:tgtEl>
                                          <p:spTgt spid="6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50"/>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65" name="Google Shape;665;p50"/>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666" name="Google Shape;666;p50"/>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667" name="Google Shape;667;p50"/>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668" name="Google Shape;668;p50"/>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We have passed the size of the array to the function in a separate variable so that we know how much memory we have can access</a:t>
            </a:r>
            <a:endParaRPr b="1" sz="2400">
              <a:solidFill>
                <a:srgbClr val="434343"/>
              </a:solidFill>
              <a:latin typeface="Comic Sans MS"/>
              <a:ea typeface="Comic Sans MS"/>
              <a:cs typeface="Comic Sans MS"/>
              <a:sym typeface="Comic Sans MS"/>
            </a:endParaRPr>
          </a:p>
        </p:txBody>
      </p:sp>
      <p:sp>
        <p:nvSpPr>
          <p:cNvPr id="669" name="Google Shape;669;p50"/>
          <p:cNvSpPr txBox="1"/>
          <p:nvPr/>
        </p:nvSpPr>
        <p:spPr>
          <a:xfrm>
            <a:off x="457200" y="1981200"/>
            <a:ext cx="39243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6</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printArray(num, 5);</a:t>
            </a:r>
            <a:endParaRPr b="1" sz="14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graphicFrame>
        <p:nvGraphicFramePr>
          <p:cNvPr id="670" name="Google Shape;670;p50"/>
          <p:cNvGraphicFramePr/>
          <p:nvPr/>
        </p:nvGraphicFramePr>
        <p:xfrm>
          <a:off x="1181100" y="4133850"/>
          <a:ext cx="3000000" cy="3000000"/>
        </p:xfrm>
        <a:graphic>
          <a:graphicData uri="http://schemas.openxmlformats.org/drawingml/2006/table">
            <a:tbl>
              <a:tblPr>
                <a:noFill/>
                <a:tableStyleId>{B4529115-C356-4AFF-A7AC-48432B7B1547}</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671" name="Google Shape;671;p50"/>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672" name="Google Shape;672;p50"/>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673" name="Google Shape;673;p50"/>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674" name="Google Shape;674;p50"/>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675" name="Google Shape;675;p50"/>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676" name="Google Shape;676;p50"/>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
        <p:nvSpPr>
          <p:cNvPr id="677" name="Google Shape;677;p50"/>
          <p:cNvSpPr txBox="1"/>
          <p:nvPr/>
        </p:nvSpPr>
        <p:spPr>
          <a:xfrm>
            <a:off x="4724400" y="1828800"/>
            <a:ext cx="3924300" cy="17046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void</a:t>
            </a:r>
            <a:r>
              <a:rPr b="1" lang="en" sz="1250">
                <a:solidFill>
                  <a:schemeClr val="dk1"/>
                </a:solidFill>
                <a:highlight>
                  <a:srgbClr val="FFFFFF"/>
                </a:highlight>
                <a:latin typeface="Courier New"/>
                <a:ea typeface="Courier New"/>
                <a:cs typeface="Courier New"/>
                <a:sym typeface="Courier New"/>
              </a:rPr>
              <a:t> printArray(</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arr[], int size)</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for</a:t>
            </a:r>
            <a:r>
              <a:rPr b="1" lang="en" sz="1250">
                <a:solidFill>
                  <a:schemeClr val="dk1"/>
                </a:solidFill>
                <a:highlight>
                  <a:srgbClr val="FFFFFF"/>
                </a:highlight>
                <a:latin typeface="Courier New"/>
                <a:ea typeface="Courier New"/>
                <a:cs typeface="Courier New"/>
                <a:sym typeface="Courier New"/>
              </a:rPr>
              <a:t>(</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x = </a:t>
            </a:r>
            <a:r>
              <a:rPr b="1" lang="en" sz="1250">
                <a:solidFill>
                  <a:srgbClr val="098658"/>
                </a:solidFill>
                <a:highlight>
                  <a:srgbClr val="FFFFFF"/>
                </a:highlight>
                <a:latin typeface="Courier New"/>
                <a:ea typeface="Courier New"/>
                <a:cs typeface="Courier New"/>
                <a:sym typeface="Courier New"/>
              </a:rPr>
              <a:t>0</a:t>
            </a:r>
            <a:r>
              <a:rPr b="1" lang="en" sz="1250">
                <a:solidFill>
                  <a:schemeClr val="dk1"/>
                </a:solidFill>
                <a:highlight>
                  <a:srgbClr val="FFFFFF"/>
                </a:highlight>
                <a:latin typeface="Courier New"/>
                <a:ea typeface="Courier New"/>
                <a:cs typeface="Courier New"/>
                <a:sym typeface="Courier New"/>
              </a:rPr>
              <a:t>; x &lt; </a:t>
            </a:r>
            <a:r>
              <a:rPr b="1" lang="en" sz="1250">
                <a:solidFill>
                  <a:srgbClr val="098658"/>
                </a:solidFill>
                <a:highlight>
                  <a:srgbClr val="FFFFFF"/>
                </a:highlight>
                <a:latin typeface="Courier New"/>
                <a:ea typeface="Courier New"/>
                <a:cs typeface="Courier New"/>
                <a:sym typeface="Courier New"/>
              </a:rPr>
              <a:t>size</a:t>
            </a:r>
            <a:r>
              <a:rPr b="1" lang="en" sz="1250">
                <a:solidFill>
                  <a:schemeClr val="dk1"/>
                </a:solidFill>
                <a:highlight>
                  <a:srgbClr val="FFFFFF"/>
                </a:highlight>
                <a:latin typeface="Courier New"/>
                <a:ea typeface="Courier New"/>
                <a:cs typeface="Courier New"/>
                <a:sym typeface="Courier New"/>
              </a:rPr>
              <a:t>; x++)</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arr[x] &lt;&lt; </a:t>
            </a:r>
            <a:r>
              <a:rPr b="1" lang="en" sz="1250">
                <a:solidFill>
                  <a:srgbClr val="A31515"/>
                </a:solidFill>
                <a:highlight>
                  <a:srgbClr val="FFFFFF"/>
                </a:highlight>
                <a:latin typeface="Courier New"/>
                <a:ea typeface="Courier New"/>
                <a:cs typeface="Courier New"/>
                <a:sym typeface="Courier New"/>
              </a:rPr>
              <a:t>" "</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rgbClr val="0000FF"/>
              </a:solidFill>
              <a:highlight>
                <a:srgbClr val="FFFFFF"/>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8"/>
                                        </p:tgtEl>
                                        <p:attrNameLst>
                                          <p:attrName>style.visibility</p:attrName>
                                        </p:attrNameLst>
                                      </p:cBhvr>
                                      <p:to>
                                        <p:strVal val="visible"/>
                                      </p:to>
                                    </p:set>
                                    <p:animEffect filter="fade" transition="in">
                                      <p:cBhvr>
                                        <p:cTn dur="1000"/>
                                        <p:tgtEl>
                                          <p:spTgt spid="6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51"/>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84" name="Google Shape;684;p51"/>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685" name="Google Shape;685;p51"/>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686" name="Google Shape;686;p51"/>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687" name="Google Shape;687;p51"/>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If we change something in the array (in the function), its gets changed in the </a:t>
            </a:r>
            <a:r>
              <a:rPr b="1" lang="en" sz="2400">
                <a:solidFill>
                  <a:srgbClr val="D15A12"/>
                </a:solidFill>
                <a:latin typeface="Comic Sans MS"/>
                <a:ea typeface="Comic Sans MS"/>
                <a:cs typeface="Comic Sans MS"/>
                <a:sym typeface="Comic Sans MS"/>
              </a:rPr>
              <a:t>main</a:t>
            </a:r>
            <a:r>
              <a:rPr b="1" lang="en" sz="2400">
                <a:solidFill>
                  <a:srgbClr val="434343"/>
                </a:solidFill>
                <a:latin typeface="Comic Sans MS"/>
                <a:ea typeface="Comic Sans MS"/>
                <a:cs typeface="Comic Sans MS"/>
                <a:sym typeface="Comic Sans MS"/>
              </a:rPr>
              <a:t> function as well.</a:t>
            </a:r>
            <a:endParaRPr b="1" sz="2400">
              <a:solidFill>
                <a:srgbClr val="434343"/>
              </a:solidFill>
              <a:latin typeface="Comic Sans MS"/>
              <a:ea typeface="Comic Sans MS"/>
              <a:cs typeface="Comic Sans MS"/>
              <a:sym typeface="Comic Sans MS"/>
            </a:endParaRPr>
          </a:p>
        </p:txBody>
      </p:sp>
      <p:graphicFrame>
        <p:nvGraphicFramePr>
          <p:cNvPr id="688" name="Google Shape;688;p51"/>
          <p:cNvGraphicFramePr/>
          <p:nvPr/>
        </p:nvGraphicFramePr>
        <p:xfrm>
          <a:off x="1181100" y="4133850"/>
          <a:ext cx="3000000" cy="3000000"/>
        </p:xfrm>
        <a:graphic>
          <a:graphicData uri="http://schemas.openxmlformats.org/drawingml/2006/table">
            <a:tbl>
              <a:tblPr>
                <a:noFill/>
                <a:tableStyleId>{B4529115-C356-4AFF-A7AC-48432B7B1547}</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689" name="Google Shape;689;p51"/>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690" name="Google Shape;690;p51"/>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691" name="Google Shape;691;p51"/>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692" name="Google Shape;692;p51"/>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693" name="Google Shape;693;p51"/>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694" name="Google Shape;694;p51"/>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1000"/>
                                        <p:tgtEl>
                                          <p:spTgt spid="6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52"/>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701" name="Google Shape;701;p52"/>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702" name="Google Shape;702;p52"/>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703" name="Google Shape;703;p52"/>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704" name="Google Shape;704;p52"/>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If we change something in the array (in the function), its gets changed in the </a:t>
            </a:r>
            <a:r>
              <a:rPr b="1" lang="en" sz="2400">
                <a:solidFill>
                  <a:srgbClr val="D15A12"/>
                </a:solidFill>
                <a:latin typeface="Comic Sans MS"/>
                <a:ea typeface="Comic Sans MS"/>
                <a:cs typeface="Comic Sans MS"/>
                <a:sym typeface="Comic Sans MS"/>
              </a:rPr>
              <a:t>main</a:t>
            </a:r>
            <a:r>
              <a:rPr b="1" lang="en" sz="2400">
                <a:solidFill>
                  <a:srgbClr val="434343"/>
                </a:solidFill>
                <a:latin typeface="Comic Sans MS"/>
                <a:ea typeface="Comic Sans MS"/>
                <a:cs typeface="Comic Sans MS"/>
                <a:sym typeface="Comic Sans MS"/>
              </a:rPr>
              <a:t> function as well.</a:t>
            </a:r>
            <a:endParaRPr b="1" sz="2400">
              <a:solidFill>
                <a:srgbClr val="434343"/>
              </a:solidFill>
              <a:latin typeface="Comic Sans MS"/>
              <a:ea typeface="Comic Sans MS"/>
              <a:cs typeface="Comic Sans MS"/>
              <a:sym typeface="Comic Sans MS"/>
            </a:endParaRPr>
          </a:p>
        </p:txBody>
      </p:sp>
      <p:sp>
        <p:nvSpPr>
          <p:cNvPr id="705" name="Google Shape;705;p52"/>
          <p:cNvSpPr txBox="1"/>
          <p:nvPr/>
        </p:nvSpPr>
        <p:spPr>
          <a:xfrm>
            <a:off x="457200" y="1981200"/>
            <a:ext cx="39243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6</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changeArray(num, 5);</a:t>
            </a:r>
            <a:endParaRPr b="1" sz="14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graphicFrame>
        <p:nvGraphicFramePr>
          <p:cNvPr id="706" name="Google Shape;706;p52"/>
          <p:cNvGraphicFramePr/>
          <p:nvPr/>
        </p:nvGraphicFramePr>
        <p:xfrm>
          <a:off x="1181100" y="4133850"/>
          <a:ext cx="3000000" cy="3000000"/>
        </p:xfrm>
        <a:graphic>
          <a:graphicData uri="http://schemas.openxmlformats.org/drawingml/2006/table">
            <a:tbl>
              <a:tblPr>
                <a:noFill/>
                <a:tableStyleId>{B4529115-C356-4AFF-A7AC-48432B7B1547}</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707" name="Google Shape;707;p52"/>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708" name="Google Shape;708;p52"/>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709" name="Google Shape;709;p52"/>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710" name="Google Shape;710;p52"/>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711" name="Google Shape;711;p52"/>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712" name="Google Shape;712;p52"/>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
        <p:nvSpPr>
          <p:cNvPr id="713" name="Google Shape;713;p52"/>
          <p:cNvSpPr txBox="1"/>
          <p:nvPr/>
        </p:nvSpPr>
        <p:spPr>
          <a:xfrm>
            <a:off x="4724400" y="1828800"/>
            <a:ext cx="3924300" cy="17046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void</a:t>
            </a:r>
            <a:r>
              <a:rPr b="1" lang="en" sz="1250">
                <a:solidFill>
                  <a:schemeClr val="dk1"/>
                </a:solidFill>
                <a:highlight>
                  <a:srgbClr val="FFFFFF"/>
                </a:highlight>
                <a:latin typeface="Courier New"/>
                <a:ea typeface="Courier New"/>
                <a:cs typeface="Courier New"/>
                <a:sym typeface="Courier New"/>
              </a:rPr>
              <a:t> printArray(</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arr[], int size)</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for</a:t>
            </a:r>
            <a:r>
              <a:rPr b="1" lang="en" sz="1250">
                <a:solidFill>
                  <a:schemeClr val="dk1"/>
                </a:solidFill>
                <a:highlight>
                  <a:srgbClr val="FFFFFF"/>
                </a:highlight>
                <a:latin typeface="Courier New"/>
                <a:ea typeface="Courier New"/>
                <a:cs typeface="Courier New"/>
                <a:sym typeface="Courier New"/>
              </a:rPr>
              <a:t>(</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x = </a:t>
            </a:r>
            <a:r>
              <a:rPr b="1" lang="en" sz="1250">
                <a:solidFill>
                  <a:srgbClr val="098658"/>
                </a:solidFill>
                <a:highlight>
                  <a:srgbClr val="FFFFFF"/>
                </a:highlight>
                <a:latin typeface="Courier New"/>
                <a:ea typeface="Courier New"/>
                <a:cs typeface="Courier New"/>
                <a:sym typeface="Courier New"/>
              </a:rPr>
              <a:t>0</a:t>
            </a:r>
            <a:r>
              <a:rPr b="1" lang="en" sz="1250">
                <a:solidFill>
                  <a:schemeClr val="dk1"/>
                </a:solidFill>
                <a:highlight>
                  <a:srgbClr val="FFFFFF"/>
                </a:highlight>
                <a:latin typeface="Courier New"/>
                <a:ea typeface="Courier New"/>
                <a:cs typeface="Courier New"/>
                <a:sym typeface="Courier New"/>
              </a:rPr>
              <a:t>; x &lt; </a:t>
            </a:r>
            <a:r>
              <a:rPr b="1" lang="en" sz="1250">
                <a:solidFill>
                  <a:srgbClr val="098658"/>
                </a:solidFill>
                <a:highlight>
                  <a:srgbClr val="FFFFFF"/>
                </a:highlight>
                <a:latin typeface="Courier New"/>
                <a:ea typeface="Courier New"/>
                <a:cs typeface="Courier New"/>
                <a:sym typeface="Courier New"/>
              </a:rPr>
              <a:t>size</a:t>
            </a:r>
            <a:r>
              <a:rPr b="1" lang="en" sz="1250">
                <a:solidFill>
                  <a:schemeClr val="dk1"/>
                </a:solidFill>
                <a:highlight>
                  <a:srgbClr val="FFFFFF"/>
                </a:highlight>
                <a:latin typeface="Courier New"/>
                <a:ea typeface="Courier New"/>
                <a:cs typeface="Courier New"/>
                <a:sym typeface="Courier New"/>
              </a:rPr>
              <a:t>; x++)</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chemeClr val="dk1"/>
                </a:solidFill>
                <a:highlight>
                  <a:srgbClr val="FFFFFF"/>
                </a:highlight>
                <a:latin typeface="Courier New"/>
                <a:ea typeface="Courier New"/>
                <a:cs typeface="Courier New"/>
                <a:sym typeface="Courier New"/>
              </a:rPr>
              <a:t>arr[x] = </a:t>
            </a:r>
            <a:r>
              <a:rPr b="1" lang="en" sz="1250">
                <a:solidFill>
                  <a:srgbClr val="A31515"/>
                </a:solidFill>
                <a:highlight>
                  <a:srgbClr val="FFFFFF"/>
                </a:highlight>
                <a:latin typeface="Courier New"/>
                <a:ea typeface="Courier New"/>
                <a:cs typeface="Courier New"/>
                <a:sym typeface="Courier New"/>
              </a:rPr>
              <a:t>x</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rgbClr val="0000FF"/>
              </a:solidFill>
              <a:highlight>
                <a:srgbClr val="FFFFFF"/>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1000"/>
                                        <p:tgtEl>
                                          <p:spTgt spid="7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53"/>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720" name="Google Shape;720;p53"/>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721" name="Google Shape;721;p53"/>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722" name="Google Shape;722;p53"/>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723" name="Google Shape;723;p53"/>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If we change something in the array (in the function), its gets changed in the </a:t>
            </a:r>
            <a:r>
              <a:rPr b="1" lang="en" sz="2400">
                <a:solidFill>
                  <a:srgbClr val="D15A12"/>
                </a:solidFill>
                <a:latin typeface="Comic Sans MS"/>
                <a:ea typeface="Comic Sans MS"/>
                <a:cs typeface="Comic Sans MS"/>
                <a:sym typeface="Comic Sans MS"/>
              </a:rPr>
              <a:t>main</a:t>
            </a:r>
            <a:r>
              <a:rPr b="1" lang="en" sz="2400">
                <a:solidFill>
                  <a:srgbClr val="434343"/>
                </a:solidFill>
                <a:latin typeface="Comic Sans MS"/>
                <a:ea typeface="Comic Sans MS"/>
                <a:cs typeface="Comic Sans MS"/>
                <a:sym typeface="Comic Sans MS"/>
              </a:rPr>
              <a:t> function as well.</a:t>
            </a:r>
            <a:endParaRPr b="1" sz="2400">
              <a:solidFill>
                <a:srgbClr val="434343"/>
              </a:solidFill>
              <a:latin typeface="Comic Sans MS"/>
              <a:ea typeface="Comic Sans MS"/>
              <a:cs typeface="Comic Sans MS"/>
              <a:sym typeface="Comic Sans MS"/>
            </a:endParaRPr>
          </a:p>
        </p:txBody>
      </p:sp>
      <p:sp>
        <p:nvSpPr>
          <p:cNvPr id="724" name="Google Shape;724;p53"/>
          <p:cNvSpPr txBox="1"/>
          <p:nvPr/>
        </p:nvSpPr>
        <p:spPr>
          <a:xfrm>
            <a:off x="457200" y="1981200"/>
            <a:ext cx="39243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6</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changeArray(num, 5);</a:t>
            </a:r>
            <a:endParaRPr b="1" sz="14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graphicFrame>
        <p:nvGraphicFramePr>
          <p:cNvPr id="725" name="Google Shape;725;p53"/>
          <p:cNvGraphicFramePr/>
          <p:nvPr/>
        </p:nvGraphicFramePr>
        <p:xfrm>
          <a:off x="1181100" y="4133850"/>
          <a:ext cx="3000000" cy="3000000"/>
        </p:xfrm>
        <a:graphic>
          <a:graphicData uri="http://schemas.openxmlformats.org/drawingml/2006/table">
            <a:tbl>
              <a:tblPr>
                <a:noFill/>
                <a:tableStyleId>{B4529115-C356-4AFF-A7AC-48432B7B1547}</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0</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2</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3</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726" name="Google Shape;726;p53"/>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727" name="Google Shape;727;p53"/>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728" name="Google Shape;728;p53"/>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729" name="Google Shape;729;p53"/>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730" name="Google Shape;730;p53"/>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731" name="Google Shape;731;p53"/>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
        <p:nvSpPr>
          <p:cNvPr id="732" name="Google Shape;732;p53"/>
          <p:cNvSpPr txBox="1"/>
          <p:nvPr/>
        </p:nvSpPr>
        <p:spPr>
          <a:xfrm>
            <a:off x="4724400" y="1828800"/>
            <a:ext cx="3924300" cy="17046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void</a:t>
            </a:r>
            <a:r>
              <a:rPr b="1" lang="en" sz="1250">
                <a:solidFill>
                  <a:schemeClr val="dk1"/>
                </a:solidFill>
                <a:highlight>
                  <a:srgbClr val="FFFFFF"/>
                </a:highlight>
                <a:latin typeface="Courier New"/>
                <a:ea typeface="Courier New"/>
                <a:cs typeface="Courier New"/>
                <a:sym typeface="Courier New"/>
              </a:rPr>
              <a:t> printArray(</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arr[], int size)</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for</a:t>
            </a:r>
            <a:r>
              <a:rPr b="1" lang="en" sz="1250">
                <a:solidFill>
                  <a:schemeClr val="dk1"/>
                </a:solidFill>
                <a:highlight>
                  <a:srgbClr val="FFFFFF"/>
                </a:highlight>
                <a:latin typeface="Courier New"/>
                <a:ea typeface="Courier New"/>
                <a:cs typeface="Courier New"/>
                <a:sym typeface="Courier New"/>
              </a:rPr>
              <a:t>(</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x = </a:t>
            </a:r>
            <a:r>
              <a:rPr b="1" lang="en" sz="1250">
                <a:solidFill>
                  <a:srgbClr val="098658"/>
                </a:solidFill>
                <a:highlight>
                  <a:srgbClr val="FFFFFF"/>
                </a:highlight>
                <a:latin typeface="Courier New"/>
                <a:ea typeface="Courier New"/>
                <a:cs typeface="Courier New"/>
                <a:sym typeface="Courier New"/>
              </a:rPr>
              <a:t>0</a:t>
            </a:r>
            <a:r>
              <a:rPr b="1" lang="en" sz="1250">
                <a:solidFill>
                  <a:schemeClr val="dk1"/>
                </a:solidFill>
                <a:highlight>
                  <a:srgbClr val="FFFFFF"/>
                </a:highlight>
                <a:latin typeface="Courier New"/>
                <a:ea typeface="Courier New"/>
                <a:cs typeface="Courier New"/>
                <a:sym typeface="Courier New"/>
              </a:rPr>
              <a:t>; x &lt; </a:t>
            </a:r>
            <a:r>
              <a:rPr b="1" lang="en" sz="1250">
                <a:solidFill>
                  <a:srgbClr val="098658"/>
                </a:solidFill>
                <a:highlight>
                  <a:srgbClr val="FFFFFF"/>
                </a:highlight>
                <a:latin typeface="Courier New"/>
                <a:ea typeface="Courier New"/>
                <a:cs typeface="Courier New"/>
                <a:sym typeface="Courier New"/>
              </a:rPr>
              <a:t>size</a:t>
            </a:r>
            <a:r>
              <a:rPr b="1" lang="en" sz="1250">
                <a:solidFill>
                  <a:schemeClr val="dk1"/>
                </a:solidFill>
                <a:highlight>
                  <a:srgbClr val="FFFFFF"/>
                </a:highlight>
                <a:latin typeface="Courier New"/>
                <a:ea typeface="Courier New"/>
                <a:cs typeface="Courier New"/>
                <a:sym typeface="Courier New"/>
              </a:rPr>
              <a:t>; x++)</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chemeClr val="dk1"/>
                </a:solidFill>
                <a:highlight>
                  <a:schemeClr val="lt1"/>
                </a:highlight>
                <a:latin typeface="Courier New"/>
                <a:ea typeface="Courier New"/>
                <a:cs typeface="Courier New"/>
                <a:sym typeface="Courier New"/>
              </a:rPr>
              <a:t>arr[x] = </a:t>
            </a:r>
            <a:r>
              <a:rPr b="1" lang="en" sz="1250">
                <a:solidFill>
                  <a:srgbClr val="A31515"/>
                </a:solidFill>
                <a:highlight>
                  <a:schemeClr val="lt1"/>
                </a:highlight>
                <a:latin typeface="Courier New"/>
                <a:ea typeface="Courier New"/>
                <a:cs typeface="Courier New"/>
                <a:sym typeface="Courier New"/>
              </a:rPr>
              <a:t>x</a:t>
            </a:r>
            <a:r>
              <a:rPr b="1" lang="en" sz="1250">
                <a:solidFill>
                  <a:schemeClr val="dk1"/>
                </a:solidFill>
                <a:highlight>
                  <a:schemeClr val="lt1"/>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rgbClr val="0000FF"/>
              </a:solidFill>
              <a:highlight>
                <a:srgbClr val="FFFFFF"/>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
                                        </p:tgtEl>
                                        <p:attrNameLst>
                                          <p:attrName>style.visibility</p:attrName>
                                        </p:attrNameLst>
                                      </p:cBhvr>
                                      <p:to>
                                        <p:strVal val="visible"/>
                                      </p:to>
                                    </p:set>
                                    <p:animEffect filter="fade" transition="in">
                                      <p:cBhvr>
                                        <p:cTn dur="1000"/>
                                        <p:tgtEl>
                                          <p:spTgt spid="7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54"/>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404040"/>
                </a:solidFill>
                <a:latin typeface="Comic Sans MS"/>
                <a:ea typeface="Comic Sans MS"/>
                <a:cs typeface="Comic Sans MS"/>
                <a:sym typeface="Comic Sans MS"/>
              </a:rPr>
              <a:t>   Learning Objective</a:t>
            </a:r>
            <a:endParaRPr b="1" sz="3600">
              <a:solidFill>
                <a:srgbClr val="404040"/>
              </a:solidFill>
              <a:latin typeface="Comic Sans MS"/>
              <a:ea typeface="Comic Sans MS"/>
              <a:cs typeface="Comic Sans MS"/>
              <a:sym typeface="Comic Sans MS"/>
            </a:endParaRPr>
          </a:p>
        </p:txBody>
      </p:sp>
      <p:sp>
        <p:nvSpPr>
          <p:cNvPr id="738" name="Google Shape;738;p54"/>
          <p:cNvSpPr txBox="1"/>
          <p:nvPr>
            <p:ph idx="1" type="subTitle"/>
          </p:nvPr>
        </p:nvSpPr>
        <p:spPr>
          <a:xfrm>
            <a:off x="701875" y="1756725"/>
            <a:ext cx="6388800" cy="214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3000">
                <a:solidFill>
                  <a:srgbClr val="404040"/>
                </a:solidFill>
                <a:latin typeface="Comic Sans MS"/>
                <a:ea typeface="Comic Sans MS"/>
                <a:cs typeface="Comic Sans MS"/>
                <a:sym typeface="Comic Sans MS"/>
              </a:rPr>
              <a:t>Differentiate between passing the parameters </a:t>
            </a:r>
            <a:r>
              <a:rPr b="1" lang="en" sz="3000">
                <a:solidFill>
                  <a:srgbClr val="D15A12"/>
                </a:solidFill>
                <a:latin typeface="Comic Sans MS"/>
                <a:ea typeface="Comic Sans MS"/>
                <a:cs typeface="Comic Sans MS"/>
                <a:sym typeface="Comic Sans MS"/>
              </a:rPr>
              <a:t>by value</a:t>
            </a:r>
            <a:r>
              <a:rPr b="1" lang="en" sz="3000">
                <a:solidFill>
                  <a:srgbClr val="404040"/>
                </a:solidFill>
                <a:latin typeface="Comic Sans MS"/>
                <a:ea typeface="Comic Sans MS"/>
                <a:cs typeface="Comic Sans MS"/>
                <a:sym typeface="Comic Sans MS"/>
              </a:rPr>
              <a:t> and </a:t>
            </a:r>
            <a:r>
              <a:rPr b="1" lang="en" sz="3000">
                <a:solidFill>
                  <a:srgbClr val="D15A12"/>
                </a:solidFill>
                <a:latin typeface="Comic Sans MS"/>
                <a:ea typeface="Comic Sans MS"/>
                <a:cs typeface="Comic Sans MS"/>
                <a:sym typeface="Comic Sans MS"/>
              </a:rPr>
              <a:t>by reference</a:t>
            </a:r>
            <a:r>
              <a:rPr b="1" lang="en" sz="3000">
                <a:solidFill>
                  <a:srgbClr val="404040"/>
                </a:solidFill>
                <a:latin typeface="Comic Sans MS"/>
                <a:ea typeface="Comic Sans MS"/>
                <a:cs typeface="Comic Sans MS"/>
                <a:sym typeface="Comic Sans MS"/>
              </a:rPr>
              <a:t>.</a:t>
            </a:r>
            <a:endParaRPr b="1" sz="3000">
              <a:solidFill>
                <a:srgbClr val="404040"/>
              </a:solidFill>
              <a:latin typeface="Comic Sans MS"/>
              <a:ea typeface="Comic Sans MS"/>
              <a:cs typeface="Comic Sans MS"/>
              <a:sym typeface="Comic Sans MS"/>
            </a:endParaRPr>
          </a:p>
        </p:txBody>
      </p:sp>
      <p:pic>
        <p:nvPicPr>
          <p:cNvPr id="739" name="Google Shape;739;p54"/>
          <p:cNvPicPr preferRelativeResize="0"/>
          <p:nvPr/>
        </p:nvPicPr>
        <p:blipFill>
          <a:blip r:embed="rId3">
            <a:alphaModFix/>
          </a:blip>
          <a:stretch>
            <a:fillRect/>
          </a:stretch>
        </p:blipFill>
        <p:spPr>
          <a:xfrm>
            <a:off x="7261975" y="718825"/>
            <a:ext cx="1792300" cy="3885750"/>
          </a:xfrm>
          <a:prstGeom prst="rect">
            <a:avLst/>
          </a:prstGeom>
          <a:noFill/>
          <a:ln>
            <a:noFill/>
          </a:ln>
        </p:spPr>
      </p:pic>
      <p:cxnSp>
        <p:nvCxnSpPr>
          <p:cNvPr id="740" name="Google Shape;740;p54"/>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741" name="Google Shape;741;p54"/>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742" name="Google Shape;742;p54"/>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cxnSp>
        <p:nvCxnSpPr>
          <p:cNvPr id="747" name="Google Shape;747;p55"/>
          <p:cNvCxnSpPr/>
          <p:nvPr/>
        </p:nvCxnSpPr>
        <p:spPr>
          <a:xfrm>
            <a:off x="375500" y="123950"/>
            <a:ext cx="0" cy="570000"/>
          </a:xfrm>
          <a:prstGeom prst="straightConnector1">
            <a:avLst/>
          </a:prstGeom>
          <a:noFill/>
          <a:ln cap="flat" cmpd="sng" w="38100">
            <a:solidFill>
              <a:srgbClr val="D15A12"/>
            </a:solidFill>
            <a:prstDash val="solid"/>
            <a:round/>
            <a:headEnd len="sm" w="sm" type="none"/>
            <a:tailEnd len="sm" w="sm" type="none"/>
          </a:ln>
        </p:spPr>
      </p:cxnSp>
      <p:cxnSp>
        <p:nvCxnSpPr>
          <p:cNvPr id="748" name="Google Shape;748;p55"/>
          <p:cNvCxnSpPr/>
          <p:nvPr/>
        </p:nvCxnSpPr>
        <p:spPr>
          <a:xfrm>
            <a:off x="299300" y="47750"/>
            <a:ext cx="0" cy="570000"/>
          </a:xfrm>
          <a:prstGeom prst="straightConnector1">
            <a:avLst/>
          </a:prstGeom>
          <a:noFill/>
          <a:ln cap="flat" cmpd="sng" w="38100">
            <a:solidFill>
              <a:schemeClr val="dk2"/>
            </a:solidFill>
            <a:prstDash val="solid"/>
            <a:round/>
            <a:headEnd len="sm" w="sm" type="none"/>
            <a:tailEnd len="sm" w="sm" type="none"/>
          </a:ln>
        </p:spPr>
      </p:cxnSp>
      <p:sp>
        <p:nvSpPr>
          <p:cNvPr id="749" name="Google Shape;749;p55"/>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50" name="Google Shape;750;p55"/>
          <p:cNvSpPr txBox="1"/>
          <p:nvPr>
            <p:ph type="ctrTitle"/>
          </p:nvPr>
        </p:nvSpPr>
        <p:spPr>
          <a:xfrm>
            <a:off x="0" y="0"/>
            <a:ext cx="8295000" cy="8280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5200"/>
              <a:buNone/>
            </a:pPr>
            <a:r>
              <a:rPr b="1" lang="en" sz="3600">
                <a:solidFill>
                  <a:srgbClr val="404040"/>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Conclusion</a:t>
            </a:r>
            <a:endParaRPr b="1" sz="3600">
              <a:solidFill>
                <a:srgbClr val="434343"/>
              </a:solidFill>
              <a:latin typeface="Comic Sans MS"/>
              <a:ea typeface="Comic Sans MS"/>
              <a:cs typeface="Comic Sans MS"/>
              <a:sym typeface="Comic Sans MS"/>
            </a:endParaRPr>
          </a:p>
        </p:txBody>
      </p:sp>
      <p:graphicFrame>
        <p:nvGraphicFramePr>
          <p:cNvPr id="751" name="Google Shape;751;p55"/>
          <p:cNvGraphicFramePr/>
          <p:nvPr/>
        </p:nvGraphicFramePr>
        <p:xfrm>
          <a:off x="375500" y="828000"/>
          <a:ext cx="3000000" cy="3000000"/>
        </p:xfrm>
        <a:graphic>
          <a:graphicData uri="http://schemas.openxmlformats.org/drawingml/2006/table">
            <a:tbl>
              <a:tblPr>
                <a:noFill/>
                <a:tableStyleId>{B4529115-C356-4AFF-A7AC-48432B7B1547}</a:tableStyleId>
              </a:tblPr>
              <a:tblGrid>
                <a:gridCol w="4291350"/>
                <a:gridCol w="4291350"/>
              </a:tblGrid>
              <a:tr h="381000">
                <a:tc>
                  <a:txBody>
                    <a:bodyPr/>
                    <a:lstStyle/>
                    <a:p>
                      <a:pPr indent="0" lvl="0" marL="0" rtl="0" algn="ctr">
                        <a:spcBef>
                          <a:spcPts val="0"/>
                        </a:spcBef>
                        <a:spcAft>
                          <a:spcPts val="0"/>
                        </a:spcAft>
                        <a:buNone/>
                      </a:pPr>
                      <a:r>
                        <a:rPr b="1" lang="en" sz="1500">
                          <a:solidFill>
                            <a:schemeClr val="lt1"/>
                          </a:solidFill>
                          <a:latin typeface="Comic Sans MS"/>
                          <a:ea typeface="Comic Sans MS"/>
                          <a:cs typeface="Comic Sans MS"/>
                          <a:sym typeface="Comic Sans MS"/>
                        </a:rPr>
                        <a:t>Pass by Value</a:t>
                      </a:r>
                      <a:endParaRPr b="1" sz="1500">
                        <a:solidFill>
                          <a:schemeClr val="lt1"/>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500">
                          <a:solidFill>
                            <a:schemeClr val="lt1"/>
                          </a:solidFill>
                          <a:latin typeface="Comic Sans MS"/>
                          <a:ea typeface="Comic Sans MS"/>
                          <a:cs typeface="Comic Sans MS"/>
                          <a:sym typeface="Comic Sans MS"/>
                        </a:rPr>
                        <a:t>Pass by Reference</a:t>
                      </a:r>
                      <a:endParaRPr b="1" sz="1500">
                        <a:solidFill>
                          <a:schemeClr val="lt1"/>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solidFill>
                      <a:srgbClr val="D15A12"/>
                    </a:solidFill>
                  </a:tcPr>
                </a:tc>
              </a:tr>
              <a:tr h="381000">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Mechanism of copying function parameter value to another variable</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Mechanism of passing the actual parameters to the function</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Changes made inside the function are not reflected in the original value</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Changes made inside the function are reflected in the original value</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Makes a copy of the actual parameter</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Address of the actual parameter passes to the function</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Function gets a copy of the actual content</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Function accesses the original variable’s content</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Requires more memory</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Requires less memory</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Requires more time as it involves copying values</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Requires a less amount of time as there is no copying</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56"/>
          <p:cNvSpPr txBox="1"/>
          <p:nvPr>
            <p:ph type="ctrTitle"/>
          </p:nvPr>
        </p:nvSpPr>
        <p:spPr>
          <a:xfrm>
            <a:off x="0" y="0"/>
            <a:ext cx="8229600" cy="8280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5200"/>
              <a:buNone/>
            </a:pPr>
            <a:r>
              <a:rPr b="1" lang="en" sz="3600">
                <a:solidFill>
                  <a:srgbClr val="404040"/>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Self </a:t>
            </a:r>
            <a:r>
              <a:rPr b="1" lang="en" sz="3600">
                <a:solidFill>
                  <a:srgbClr val="D15A12"/>
                </a:solidFill>
                <a:latin typeface="Comic Sans MS"/>
                <a:ea typeface="Comic Sans MS"/>
                <a:cs typeface="Comic Sans MS"/>
                <a:sym typeface="Comic Sans MS"/>
              </a:rPr>
              <a:t>Assessment:</a:t>
            </a:r>
            <a:endParaRPr b="1" sz="2933">
              <a:solidFill>
                <a:srgbClr val="D15A12"/>
              </a:solidFill>
              <a:latin typeface="Comic Sans MS"/>
              <a:ea typeface="Comic Sans MS"/>
              <a:cs typeface="Comic Sans MS"/>
              <a:sym typeface="Comic Sans MS"/>
            </a:endParaRPr>
          </a:p>
        </p:txBody>
      </p:sp>
      <p:cxnSp>
        <p:nvCxnSpPr>
          <p:cNvPr id="757" name="Google Shape;757;p56"/>
          <p:cNvCxnSpPr/>
          <p:nvPr/>
        </p:nvCxnSpPr>
        <p:spPr>
          <a:xfrm>
            <a:off x="375500" y="123950"/>
            <a:ext cx="0" cy="570000"/>
          </a:xfrm>
          <a:prstGeom prst="straightConnector1">
            <a:avLst/>
          </a:prstGeom>
          <a:noFill/>
          <a:ln cap="flat" cmpd="sng" w="38100">
            <a:solidFill>
              <a:srgbClr val="D15A12"/>
            </a:solidFill>
            <a:prstDash val="solid"/>
            <a:round/>
            <a:headEnd len="sm" w="sm" type="none"/>
            <a:tailEnd len="sm" w="sm" type="none"/>
          </a:ln>
        </p:spPr>
      </p:cxnSp>
      <p:cxnSp>
        <p:nvCxnSpPr>
          <p:cNvPr id="758" name="Google Shape;758;p56"/>
          <p:cNvCxnSpPr/>
          <p:nvPr/>
        </p:nvCxnSpPr>
        <p:spPr>
          <a:xfrm>
            <a:off x="299300" y="47750"/>
            <a:ext cx="0" cy="570000"/>
          </a:xfrm>
          <a:prstGeom prst="straightConnector1">
            <a:avLst/>
          </a:prstGeom>
          <a:noFill/>
          <a:ln cap="flat" cmpd="sng" w="38100">
            <a:solidFill>
              <a:schemeClr val="dk2"/>
            </a:solidFill>
            <a:prstDash val="solid"/>
            <a:round/>
            <a:headEnd len="sm" w="sm" type="none"/>
            <a:tailEnd len="sm" w="sm" type="none"/>
          </a:ln>
        </p:spPr>
      </p:cxnSp>
      <p:sp>
        <p:nvSpPr>
          <p:cNvPr id="759" name="Google Shape;759;p56"/>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0" name="Google Shape;760;p56"/>
          <p:cNvSpPr txBox="1"/>
          <p:nvPr/>
        </p:nvSpPr>
        <p:spPr>
          <a:xfrm>
            <a:off x="622675" y="1025050"/>
            <a:ext cx="6453300" cy="3840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1900">
                <a:solidFill>
                  <a:srgbClr val="404040"/>
                </a:solidFill>
                <a:latin typeface="Calibri"/>
                <a:ea typeface="Calibri"/>
                <a:cs typeface="Calibri"/>
                <a:sym typeface="Calibri"/>
              </a:rPr>
              <a:t>1.	 What is the </a:t>
            </a:r>
            <a:r>
              <a:rPr b="1" lang="en" sz="1900">
                <a:solidFill>
                  <a:srgbClr val="D15A12"/>
                </a:solidFill>
                <a:latin typeface="Calibri"/>
                <a:ea typeface="Calibri"/>
                <a:cs typeface="Calibri"/>
                <a:sym typeface="Calibri"/>
              </a:rPr>
              <a:t>output</a:t>
            </a:r>
            <a:r>
              <a:rPr b="1" lang="en" sz="1900">
                <a:solidFill>
                  <a:srgbClr val="404040"/>
                </a:solidFill>
                <a:latin typeface="Calibri"/>
                <a:ea typeface="Calibri"/>
                <a:cs typeface="Calibri"/>
                <a:sym typeface="Calibri"/>
              </a:rPr>
              <a:t> of the following code?</a:t>
            </a:r>
            <a:endParaRPr sz="10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550">
              <a:solidFill>
                <a:srgbClr val="0000FF"/>
              </a:solidFill>
              <a:highlight>
                <a:srgbClr val="FFFFFF"/>
              </a:highlight>
              <a:latin typeface="Courier New"/>
              <a:ea typeface="Courier New"/>
              <a:cs typeface="Courier New"/>
              <a:sym typeface="Courier New"/>
            </a:endParaRPr>
          </a:p>
          <a:p>
            <a:pPr indent="0" lvl="0" marL="457200" marR="0" rtl="0" algn="l">
              <a:lnSpc>
                <a:spcPct val="115000"/>
              </a:lnSpc>
              <a:spcBef>
                <a:spcPts val="0"/>
              </a:spcBef>
              <a:spcAft>
                <a:spcPts val="0"/>
              </a:spcAft>
              <a:buNone/>
            </a:pPr>
            <a:r>
              <a:t/>
            </a:r>
            <a:endParaRPr b="1" sz="1900">
              <a:solidFill>
                <a:srgbClr val="404040"/>
              </a:solidFill>
              <a:latin typeface="Calibri"/>
              <a:ea typeface="Calibri"/>
              <a:cs typeface="Calibri"/>
              <a:sym typeface="Calibri"/>
            </a:endParaRPr>
          </a:p>
        </p:txBody>
      </p:sp>
      <p:sp>
        <p:nvSpPr>
          <p:cNvPr id="761" name="Google Shape;761;p56"/>
          <p:cNvSpPr txBox="1"/>
          <p:nvPr/>
        </p:nvSpPr>
        <p:spPr>
          <a:xfrm>
            <a:off x="204650" y="1982050"/>
            <a:ext cx="3603900" cy="19260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i = </a:t>
            </a:r>
            <a:r>
              <a:rPr b="1" lang="en" sz="1250">
                <a:solidFill>
                  <a:srgbClr val="098658"/>
                </a:solidFill>
                <a:highlight>
                  <a:srgbClr val="FFFFFF"/>
                </a:highlight>
                <a:latin typeface="Courier New"/>
                <a:ea typeface="Courier New"/>
                <a:cs typeface="Courier New"/>
                <a:sym typeface="Courier New"/>
              </a:rPr>
              <a:t>10</a:t>
            </a:r>
            <a:r>
              <a:rPr b="1" lang="en" sz="1250">
                <a:solidFill>
                  <a:schemeClr val="dk1"/>
                </a:solidFill>
                <a:highlight>
                  <a:srgbClr val="FFFFFF"/>
                </a:highlight>
                <a:latin typeface="Courier New"/>
                <a:ea typeface="Courier New"/>
                <a:cs typeface="Courier New"/>
                <a:sym typeface="Courier New"/>
              </a:rPr>
              <a:t>, j = </a:t>
            </a:r>
            <a:r>
              <a:rPr b="1" lang="en" sz="1250">
                <a:solidFill>
                  <a:srgbClr val="098658"/>
                </a:solidFill>
                <a:highlight>
                  <a:srgbClr val="FFFFFF"/>
                </a:highlight>
                <a:latin typeface="Courier New"/>
                <a:ea typeface="Courier New"/>
                <a:cs typeface="Courier New"/>
                <a:sym typeface="Courier New"/>
              </a:rPr>
              <a:t>20</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swapThemByVal(i, j);</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i &lt;&lt; </a:t>
            </a:r>
            <a:r>
              <a:rPr b="1" lang="en" sz="1250">
                <a:solidFill>
                  <a:srgbClr val="A31515"/>
                </a:solidFill>
                <a:highlight>
                  <a:srgbClr val="FFFFFF"/>
                </a:highlight>
                <a:latin typeface="Courier New"/>
                <a:ea typeface="Courier New"/>
                <a:cs typeface="Courier New"/>
                <a:sym typeface="Courier New"/>
              </a:rPr>
              <a:t>"  "</a:t>
            </a:r>
            <a:r>
              <a:rPr b="1" lang="en" sz="1250">
                <a:solidFill>
                  <a:schemeClr val="dk1"/>
                </a:solidFill>
                <a:highlight>
                  <a:srgbClr val="FFFFFF"/>
                </a:highlight>
                <a:latin typeface="Courier New"/>
                <a:ea typeface="Courier New"/>
                <a:cs typeface="Courier New"/>
                <a:sym typeface="Courier New"/>
              </a:rPr>
              <a:t> &lt;&lt; j &lt;&lt; endl;</a:t>
            </a:r>
            <a:endParaRPr b="1" sz="1250">
              <a:solidFill>
                <a:srgbClr val="008000"/>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swapThemByRef(i, j);</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i &lt;&lt; </a:t>
            </a:r>
            <a:r>
              <a:rPr b="1" lang="en" sz="1250">
                <a:solidFill>
                  <a:srgbClr val="A31515"/>
                </a:solidFill>
                <a:highlight>
                  <a:srgbClr val="FFFFFF"/>
                </a:highlight>
                <a:latin typeface="Courier New"/>
                <a:ea typeface="Courier New"/>
                <a:cs typeface="Courier New"/>
                <a:sym typeface="Courier New"/>
              </a:rPr>
              <a:t>"  "</a:t>
            </a:r>
            <a:r>
              <a:rPr b="1" lang="en" sz="1250">
                <a:solidFill>
                  <a:schemeClr val="dk1"/>
                </a:solidFill>
                <a:highlight>
                  <a:srgbClr val="FFFFFF"/>
                </a:highlight>
                <a:latin typeface="Courier New"/>
                <a:ea typeface="Courier New"/>
                <a:cs typeface="Courier New"/>
                <a:sym typeface="Courier New"/>
              </a:rPr>
              <a:t> &lt;&lt; j &lt;&lt; endl;</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600"/>
          </a:p>
        </p:txBody>
      </p:sp>
      <p:sp>
        <p:nvSpPr>
          <p:cNvPr id="762" name="Google Shape;762;p56"/>
          <p:cNvSpPr txBox="1"/>
          <p:nvPr/>
        </p:nvSpPr>
        <p:spPr>
          <a:xfrm>
            <a:off x="4343400" y="1524000"/>
            <a:ext cx="43032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void</a:t>
            </a:r>
            <a:r>
              <a:rPr b="1" lang="en" sz="1250">
                <a:solidFill>
                  <a:schemeClr val="dk1"/>
                </a:solidFill>
                <a:highlight>
                  <a:srgbClr val="FFFFFF"/>
                </a:highlight>
                <a:latin typeface="Courier New"/>
                <a:ea typeface="Courier New"/>
                <a:cs typeface="Courier New"/>
                <a:sym typeface="Courier New"/>
              </a:rPr>
              <a:t> swapThemByVal(</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num1,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num2)</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temp = num1;</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num1 = num2;</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num2 = temp;</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600"/>
          </a:p>
        </p:txBody>
      </p:sp>
      <p:sp>
        <p:nvSpPr>
          <p:cNvPr id="763" name="Google Shape;763;p56"/>
          <p:cNvSpPr txBox="1"/>
          <p:nvPr/>
        </p:nvSpPr>
        <p:spPr>
          <a:xfrm>
            <a:off x="4343400" y="3200400"/>
            <a:ext cx="43032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void</a:t>
            </a:r>
            <a:r>
              <a:rPr b="1" lang="en" sz="1250">
                <a:solidFill>
                  <a:schemeClr val="dk1"/>
                </a:solidFill>
                <a:highlight>
                  <a:srgbClr val="FFFFFF"/>
                </a:highlight>
                <a:latin typeface="Courier New"/>
                <a:ea typeface="Courier New"/>
                <a:cs typeface="Courier New"/>
                <a:sym typeface="Courier New"/>
              </a:rPr>
              <a:t> swapThemByRef(</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&amp;</a:t>
            </a:r>
            <a:r>
              <a:rPr b="1" lang="en" sz="1250">
                <a:solidFill>
                  <a:schemeClr val="dk1"/>
                </a:solidFill>
                <a:highlight>
                  <a:srgbClr val="FFFFFF"/>
                </a:highlight>
                <a:latin typeface="Courier New"/>
                <a:ea typeface="Courier New"/>
                <a:cs typeface="Courier New"/>
                <a:sym typeface="Courier New"/>
              </a:rPr>
              <a:t>num1,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&amp;</a:t>
            </a:r>
            <a:r>
              <a:rPr b="1" lang="en" sz="1250">
                <a:solidFill>
                  <a:schemeClr val="dk1"/>
                </a:solidFill>
                <a:highlight>
                  <a:srgbClr val="FFFFFF"/>
                </a:highlight>
                <a:latin typeface="Courier New"/>
                <a:ea typeface="Courier New"/>
                <a:cs typeface="Courier New"/>
                <a:sym typeface="Courier New"/>
              </a:rPr>
              <a:t>num2)</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temp = num1;</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num1 = num2;</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num2 = temp;</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