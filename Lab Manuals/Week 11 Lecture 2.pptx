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Raleway"/>
      <p:regular r:id="rId71"/>
      <p:bold r:id="rId72"/>
      <p:italic r:id="rId73"/>
      <p:boldItalic r:id="rId74"/>
    </p:embeddedFont>
    <p:embeddedFont>
      <p:font typeface="Libre Franklin"/>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F81B02-6435-4BE0-B069-4709209579D4}">
  <a:tblStyle styleId="{C7F81B02-6435-4BE0-B069-4709209579D4}"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2EF7FB4-3C4B-4EB4-ADDB-82F97E64C7F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aleway-italic.fntdata"/><Relationship Id="rId72" Type="http://schemas.openxmlformats.org/officeDocument/2006/relationships/font" Target="fonts/Raleway-bold.fntdata"/><Relationship Id="rId31" Type="http://schemas.openxmlformats.org/officeDocument/2006/relationships/slide" Target="slides/slide25.xml"/><Relationship Id="rId75" Type="http://schemas.openxmlformats.org/officeDocument/2006/relationships/font" Target="fonts/LibreFranklin-regular.fntdata"/><Relationship Id="rId30" Type="http://schemas.openxmlformats.org/officeDocument/2006/relationships/slide" Target="slides/slide24.xml"/><Relationship Id="rId74" Type="http://schemas.openxmlformats.org/officeDocument/2006/relationships/font" Target="fonts/Raleway-boldItalic.fntdata"/><Relationship Id="rId33" Type="http://schemas.openxmlformats.org/officeDocument/2006/relationships/slide" Target="slides/slide27.xml"/><Relationship Id="rId77" Type="http://schemas.openxmlformats.org/officeDocument/2006/relationships/font" Target="fonts/LibreFranklin-italic.fntdata"/><Relationship Id="rId32" Type="http://schemas.openxmlformats.org/officeDocument/2006/relationships/slide" Target="slides/slide26.xml"/><Relationship Id="rId76" Type="http://schemas.openxmlformats.org/officeDocument/2006/relationships/font" Target="fonts/LibreFranklin-bold.fntdata"/><Relationship Id="rId35" Type="http://schemas.openxmlformats.org/officeDocument/2006/relationships/slide" Target="slides/slide29.xml"/><Relationship Id="rId34" Type="http://schemas.openxmlformats.org/officeDocument/2006/relationships/slide" Target="slides/slide28.xml"/><Relationship Id="rId78" Type="http://schemas.openxmlformats.org/officeDocument/2006/relationships/font" Target="fonts/LibreFranklin-boldItalic.fntdata"/><Relationship Id="rId71" Type="http://schemas.openxmlformats.org/officeDocument/2006/relationships/font" Target="fonts/Raleway-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07ae5ffe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07ae5ffe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07ae5ffe8f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07ae5ffe8f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07ae5ffe8f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07ae5ffe8f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9dd6d58ccc_0_0: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29dd6d58cc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82" name="Google Shape;82;g29dd6d58ccc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9dd6d58cc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9dd6d58cc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07ae5ffe8f_0_8:notes"/>
          <p:cNvSpPr/>
          <p:nvPr>
            <p:ph idx="2" type="sldImg"/>
          </p:nvPr>
        </p:nvSpPr>
        <p:spPr>
          <a:xfrm>
            <a:off x="381794"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207ae5ffe8f_0_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solidFill>
                  <a:schemeClr val="dk1"/>
                </a:solidFill>
              </a:rPr>
              <a:t>Generally, Memory is also known as Main Memory, Primary Memory or RAM (Random Access Memory). This memory is divided into different Cells. Each cell has an address like we have the addresses of our houses or PO Boxes. CPU store the data into these cells and then loads data from these cells whenever it is required.</a:t>
            </a:r>
            <a:endParaRPr/>
          </a:p>
        </p:txBody>
      </p:sp>
      <p:sp>
        <p:nvSpPr>
          <p:cNvPr id="120" name="Google Shape;120;g207ae5ffe8f_0_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07ae5ffe8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07ae5ffe8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07ae5ffe8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07ae5ffe8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07ae5ffe8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07ae5ffe8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07ae5ffe8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07ae5ffe8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07ae5ffe8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07ae5ffe8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07ae5ffe8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07ae5ffe8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07ae5ffe8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07ae5ffe8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07ae5ffe8f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07ae5ffe8f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07ae5ffe8f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07ae5ffe8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07ae5ffe8f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07ae5ffe8f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07ae5ffe8f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07ae5ffe8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07ae5ffe8f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07ae5ffe8f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07ae5ffe8f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07ae5ffe8f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07ae5ffe8f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07ae5ffe8f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07ae5ffe8f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07ae5ffe8f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07ae5ffe8f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07ae5ffe8f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07ae5ffe8f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07ae5ffe8f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07ae5ffe8f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07ae5ffe8f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07ae5ffe8f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07ae5ffe8f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07ae5ffe8f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07ae5ffe8f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07ae5ffe8f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07ae5ffe8f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07ae5ffe8f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207ae5ffe8f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07ae5ffe8f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07ae5ffe8f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07ae5ffe8f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07ae5ffe8f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07ae5ffe8f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07ae5ffe8f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07ae5ffe8f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07ae5ffe8f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07ae5ffe8f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07ae5ffe8f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207ae5ffe8f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207ae5ffe8f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lecture, you shall be able to explain the Hardware Components (that are input output devices, CPU and memory) and their role while computing any problem.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07ae5ffe8f_0_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1" name="Google Shape;691;g207ae5ffe8f_0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Data can be of the following types.</a:t>
            </a:r>
            <a:endParaRPr/>
          </a:p>
          <a:p>
            <a:pPr indent="0" lvl="0" marL="0" rtl="0" algn="l">
              <a:lnSpc>
                <a:spcPct val="100000"/>
              </a:lnSpc>
              <a:spcBef>
                <a:spcPts val="0"/>
              </a:spcBef>
              <a:spcAft>
                <a:spcPts val="0"/>
              </a:spcAft>
              <a:buClr>
                <a:schemeClr val="dk1"/>
              </a:buClr>
              <a:buSzPts val="1100"/>
              <a:buFont typeface="Arial"/>
              <a:buNone/>
            </a:pPr>
            <a:r>
              <a:rPr lang="en"/>
              <a:t>Numbers, Text and Multimedia.</a:t>
            </a:r>
            <a:endParaRPr/>
          </a:p>
          <a:p>
            <a:pPr indent="0" lvl="0" marL="0" rtl="0" algn="l">
              <a:lnSpc>
                <a:spcPct val="100000"/>
              </a:lnSpc>
              <a:spcBef>
                <a:spcPts val="0"/>
              </a:spcBef>
              <a:spcAft>
                <a:spcPts val="0"/>
              </a:spcAft>
              <a:buClr>
                <a:schemeClr val="dk1"/>
              </a:buClr>
              <a:buSzPts val="1100"/>
              <a:buFont typeface="Arial"/>
              <a:buNone/>
            </a:pPr>
            <a:r>
              <a:rPr lang="en"/>
              <a:t>Telling the memory about the datatype helps </a:t>
            </a:r>
            <a:endParaRPr/>
          </a:p>
          <a:p>
            <a:pPr indent="0" lvl="0" marL="0" rtl="0" algn="l">
              <a:lnSpc>
                <a:spcPct val="100000"/>
              </a:lnSpc>
              <a:spcBef>
                <a:spcPts val="0"/>
              </a:spcBef>
              <a:spcAft>
                <a:spcPts val="0"/>
              </a:spcAft>
              <a:buClr>
                <a:schemeClr val="dk1"/>
              </a:buClr>
              <a:buSzPts val="1100"/>
              <a:buFont typeface="Arial"/>
              <a:buNone/>
            </a:pPr>
            <a:r>
              <a:rPr lang="en"/>
              <a:t>To Adjust Size of Allocated Memory Cell</a:t>
            </a:r>
            <a:endParaRPr/>
          </a:p>
          <a:p>
            <a:pPr indent="0" lvl="0" marL="0" rtl="0" algn="l">
              <a:lnSpc>
                <a:spcPct val="100000"/>
              </a:lnSpc>
              <a:spcBef>
                <a:spcPts val="0"/>
              </a:spcBef>
              <a:spcAft>
                <a:spcPts val="0"/>
              </a:spcAft>
              <a:buClr>
                <a:schemeClr val="dk1"/>
              </a:buClr>
              <a:buSzPts val="1100"/>
              <a:buFont typeface="Arial"/>
              <a:buNone/>
            </a:pPr>
            <a:r>
              <a:rPr lang="en"/>
              <a:t>To Check the Validity of the Operations</a:t>
            </a:r>
            <a:br>
              <a:rPr lang="en"/>
            </a:br>
            <a:r>
              <a:rPr lang="en"/>
              <a:t>And finally Variable declaration meand Reserving the memory location through Variables  for certain type of data.</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07ae5ffe8f_0_5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g207ae5ffe8f_0_5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07ae5ffe8f_0_5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g207ae5ffe8f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07ae5ffe8f_0_5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g207ae5ffe8f_0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07ae5ffe8f_0_5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4" name="Google Shape;724;g207ae5ffe8f_0_5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07ae5ffe8f_0_5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1" name="Google Shape;731;g207ae5ffe8f_0_5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07ae5ffe8f_0_5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g207ae5ffe8f_0_5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07ae5ffe8f_0_5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g207ae5ffe8f_0_5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07ae5ffe8f_0_6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g207ae5ffe8f_0_6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07ae5ffe8f_0_6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g207ae5ffe8f_0_6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07ae5ffe8f_0_6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6" name="Google Shape;766;g207ae5ffe8f_0_6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07ae5ffe8f_0_6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3" name="Google Shape;773;g207ae5ffe8f_0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07ae5ffe8f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3" name="Google Shape;783;g207ae5ffe8f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07ae5ffe8f_0_6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9" name="Google Shape;789;g207ae5ffe8f_0_6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07ae5ffe8f_0_6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g207ae5ffe8f_0_6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07ae5ffe8f_0_6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1" name="Google Shape;801;g207ae5ffe8f_0_6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207ae5ffe8f_0_6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g207ae5ffe8f_0_6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07ae5ffe8f_0_6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3" name="Google Shape;813;g207ae5ffe8f_0_6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07ae5ffe8f_0_6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g207ae5ffe8f_0_6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07ae5ffe8f_0_6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g207ae5ffe8f_0_6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07ae5ffe8f_0_6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5" name="Google Shape;835;g207ae5ffe8f_0_6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207ae5ffe8f_0_6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g207ae5ffe8f_0_6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207ae5ffe8f_0_6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9" name="Google Shape;849;g207ae5ffe8f_0_6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207ae5ffe8f_0_6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g207ae5ffe8f_0_6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07ae5ffe8f_0_6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3" name="Google Shape;863;g207ae5ffe8f_0_6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07ae5ffe8f_0_7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0" name="Google Shape;870;g207ae5ffe8f_0_7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07ae5ffe8f_0_7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7" name="Google Shape;877;g207ae5ffe8f_0_7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07ae5ffe8f_0_7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4" name="Google Shape;884;g207ae5ffe8f_0_7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07ae5ffe8f_0_7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1" name="Google Shape;891;g207ae5ffe8f_0_7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07ae5ffe8f_0_7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8" name="Google Shape;898;g207ae5ffe8f_0_7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970613" y="285750"/>
            <a:ext cx="7202700" cy="8574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sz="1100"/>
            </a:lvl1pPr>
            <a:lvl2pPr lvl="1" rtl="0">
              <a:spcBef>
                <a:spcPts val="0"/>
              </a:spcBef>
              <a:spcAft>
                <a:spcPts val="0"/>
              </a:spcAft>
              <a:buSzPts val="1100"/>
              <a:buNone/>
              <a:defRPr sz="1100"/>
            </a:lvl2pPr>
            <a:lvl3pPr lvl="2" rtl="0">
              <a:spcBef>
                <a:spcPts val="0"/>
              </a:spcBef>
              <a:spcAft>
                <a:spcPts val="0"/>
              </a:spcAft>
              <a:buSzPts val="1100"/>
              <a:buNone/>
              <a:defRPr sz="1100"/>
            </a:lvl3pPr>
            <a:lvl4pPr lvl="3" rtl="0">
              <a:spcBef>
                <a:spcPts val="0"/>
              </a:spcBef>
              <a:spcAft>
                <a:spcPts val="0"/>
              </a:spcAft>
              <a:buSzPts val="1100"/>
              <a:buNone/>
              <a:defRPr sz="1100"/>
            </a:lvl4pPr>
            <a:lvl5pPr lvl="4" rtl="0">
              <a:spcBef>
                <a:spcPts val="0"/>
              </a:spcBef>
              <a:spcAft>
                <a:spcPts val="0"/>
              </a:spcAft>
              <a:buSzPts val="1100"/>
              <a:buNone/>
              <a:defRPr sz="1100"/>
            </a:lvl5pPr>
            <a:lvl6pPr lvl="5" rtl="0">
              <a:spcBef>
                <a:spcPts val="0"/>
              </a:spcBef>
              <a:spcAft>
                <a:spcPts val="0"/>
              </a:spcAft>
              <a:buSzPts val="1100"/>
              <a:buNone/>
              <a:defRPr sz="1100"/>
            </a:lvl6pPr>
            <a:lvl7pPr lvl="6" rtl="0">
              <a:spcBef>
                <a:spcPts val="0"/>
              </a:spcBef>
              <a:spcAft>
                <a:spcPts val="0"/>
              </a:spcAft>
              <a:buSzPts val="1100"/>
              <a:buNone/>
              <a:defRPr sz="1100"/>
            </a:lvl7pPr>
            <a:lvl8pPr lvl="7" rtl="0">
              <a:spcBef>
                <a:spcPts val="0"/>
              </a:spcBef>
              <a:spcAft>
                <a:spcPts val="0"/>
              </a:spcAft>
              <a:buSzPts val="1100"/>
              <a:buNone/>
              <a:defRPr sz="1100"/>
            </a:lvl8pPr>
            <a:lvl9pPr lvl="8" rtl="0">
              <a:spcBef>
                <a:spcPts val="0"/>
              </a:spcBef>
              <a:spcAft>
                <a:spcPts val="0"/>
              </a:spcAft>
              <a:buSzPts val="1100"/>
              <a:buNone/>
              <a:defRPr sz="1100"/>
            </a:lvl9pPr>
          </a:lstStyle>
          <a:p/>
        </p:txBody>
      </p:sp>
      <p:sp>
        <p:nvSpPr>
          <p:cNvPr id="52" name="Google Shape;52;p13"/>
          <p:cNvSpPr txBox="1"/>
          <p:nvPr>
            <p:ph idx="1" type="body"/>
          </p:nvPr>
        </p:nvSpPr>
        <p:spPr>
          <a:xfrm>
            <a:off x="970613" y="1257300"/>
            <a:ext cx="7202700" cy="33720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1200"/>
              </a:spcBef>
              <a:spcAft>
                <a:spcPts val="0"/>
              </a:spcAft>
              <a:buClr>
                <a:schemeClr val="dk1"/>
              </a:buClr>
              <a:buSzPts val="1400"/>
              <a:buChar char="●"/>
              <a:defRPr sz="1100"/>
            </a:lvl1pPr>
            <a:lvl2pPr indent="-317500" lvl="1" marL="914400" rtl="0" algn="l">
              <a:lnSpc>
                <a:spcPct val="90000"/>
              </a:lnSpc>
              <a:spcBef>
                <a:spcPts val="1200"/>
              </a:spcBef>
              <a:spcAft>
                <a:spcPts val="0"/>
              </a:spcAft>
              <a:buClr>
                <a:schemeClr val="dk1"/>
              </a:buClr>
              <a:buSzPts val="1400"/>
              <a:buChar char="○"/>
              <a:defRPr sz="1100"/>
            </a:lvl2pPr>
            <a:lvl3pPr indent="-317500" lvl="2" marL="1371600" rtl="0" algn="l">
              <a:lnSpc>
                <a:spcPct val="90000"/>
              </a:lnSpc>
              <a:spcBef>
                <a:spcPts val="1200"/>
              </a:spcBef>
              <a:spcAft>
                <a:spcPts val="0"/>
              </a:spcAft>
              <a:buClr>
                <a:schemeClr val="dk1"/>
              </a:buClr>
              <a:buSzPts val="1400"/>
              <a:buChar char="■"/>
              <a:defRPr sz="1100"/>
            </a:lvl3pPr>
            <a:lvl4pPr indent="-317500" lvl="3" marL="1828800" rtl="0" algn="l">
              <a:lnSpc>
                <a:spcPct val="90000"/>
              </a:lnSpc>
              <a:spcBef>
                <a:spcPts val="1200"/>
              </a:spcBef>
              <a:spcAft>
                <a:spcPts val="0"/>
              </a:spcAft>
              <a:buClr>
                <a:schemeClr val="dk1"/>
              </a:buClr>
              <a:buSzPts val="1400"/>
              <a:buChar char="●"/>
              <a:defRPr sz="1100"/>
            </a:lvl4pPr>
            <a:lvl5pPr indent="-304800" lvl="4" marL="2286000" rtl="0" algn="l">
              <a:lnSpc>
                <a:spcPct val="90000"/>
              </a:lnSpc>
              <a:spcBef>
                <a:spcPts val="1200"/>
              </a:spcBef>
              <a:spcAft>
                <a:spcPts val="0"/>
              </a:spcAft>
              <a:buClr>
                <a:schemeClr val="dk1"/>
              </a:buClr>
              <a:buSzPts val="1200"/>
              <a:buChar char="○"/>
              <a:defRPr sz="1100"/>
            </a:lvl5pPr>
            <a:lvl6pPr indent="-304800" lvl="5" marL="2743200" rtl="0" algn="l">
              <a:spcBef>
                <a:spcPts val="1200"/>
              </a:spcBef>
              <a:spcAft>
                <a:spcPts val="0"/>
              </a:spcAft>
              <a:buClr>
                <a:schemeClr val="dk1"/>
              </a:buClr>
              <a:buSzPts val="1200"/>
              <a:buChar char="■"/>
              <a:defRPr sz="1100"/>
            </a:lvl6pPr>
            <a:lvl7pPr indent="-304800" lvl="6" marL="3200400" rtl="0" algn="l">
              <a:spcBef>
                <a:spcPts val="1200"/>
              </a:spcBef>
              <a:spcAft>
                <a:spcPts val="0"/>
              </a:spcAft>
              <a:buClr>
                <a:schemeClr val="dk1"/>
              </a:buClr>
              <a:buSzPts val="1200"/>
              <a:buChar char="●"/>
              <a:defRPr sz="1100"/>
            </a:lvl7pPr>
            <a:lvl8pPr indent="-304800" lvl="7" marL="3657600" rtl="0" algn="l">
              <a:spcBef>
                <a:spcPts val="1200"/>
              </a:spcBef>
              <a:spcAft>
                <a:spcPts val="0"/>
              </a:spcAft>
              <a:buClr>
                <a:schemeClr val="dk1"/>
              </a:buClr>
              <a:buSzPts val="1200"/>
              <a:buChar char="○"/>
              <a:defRPr sz="1100"/>
            </a:lvl8pPr>
            <a:lvl9pPr indent="-304800" lvl="8" marL="4114800" rtl="0" algn="l">
              <a:spcBef>
                <a:spcPts val="1200"/>
              </a:spcBef>
              <a:spcAft>
                <a:spcPts val="1200"/>
              </a:spcAft>
              <a:buClr>
                <a:schemeClr val="dk1"/>
              </a:buClr>
              <a:buSzPts val="1200"/>
              <a:buChar char="■"/>
              <a:defRPr sz="1100"/>
            </a:lvl9pPr>
          </a:lstStyle>
          <a:p/>
        </p:txBody>
      </p:sp>
      <p:sp>
        <p:nvSpPr>
          <p:cNvPr id="53" name="Google Shape;53;p13"/>
          <p:cNvSpPr txBox="1"/>
          <p:nvPr>
            <p:ph idx="10" type="dt"/>
          </p:nvPr>
        </p:nvSpPr>
        <p:spPr>
          <a:xfrm>
            <a:off x="954084" y="4767263"/>
            <a:ext cx="2133600" cy="273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5" name="Google Shape;55;p13"/>
          <p:cNvSpPr txBox="1"/>
          <p:nvPr>
            <p:ph idx="12" type="sldNum"/>
          </p:nvPr>
        </p:nvSpPr>
        <p:spPr>
          <a:xfrm>
            <a:off x="6039992" y="4767263"/>
            <a:ext cx="21336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b="0" i="0" sz="800" u="none" cap="none" strike="noStrike">
                <a:solidFill>
                  <a:srgbClr val="191919"/>
                </a:solidFill>
                <a:latin typeface="Libre Franklin"/>
                <a:ea typeface="Libre Franklin"/>
                <a:cs typeface="Libre Franklin"/>
                <a:sym typeface="Libre Franklin"/>
              </a:defRPr>
            </a:lvl1pPr>
            <a:lvl2pPr indent="0" lvl="1" marL="0" rtl="0" algn="r">
              <a:spcBef>
                <a:spcPts val="0"/>
              </a:spcBef>
              <a:buNone/>
              <a:defRPr b="0" i="0" sz="800" u="none" cap="none" strike="noStrike">
                <a:solidFill>
                  <a:srgbClr val="191919"/>
                </a:solidFill>
                <a:latin typeface="Libre Franklin"/>
                <a:ea typeface="Libre Franklin"/>
                <a:cs typeface="Libre Franklin"/>
                <a:sym typeface="Libre Franklin"/>
              </a:defRPr>
            </a:lvl2pPr>
            <a:lvl3pPr indent="0" lvl="2" marL="0" rtl="0" algn="r">
              <a:spcBef>
                <a:spcPts val="0"/>
              </a:spcBef>
              <a:buNone/>
              <a:defRPr b="0" i="0" sz="800" u="none" cap="none" strike="noStrike">
                <a:solidFill>
                  <a:srgbClr val="191919"/>
                </a:solidFill>
                <a:latin typeface="Libre Franklin"/>
                <a:ea typeface="Libre Franklin"/>
                <a:cs typeface="Libre Franklin"/>
                <a:sym typeface="Libre Franklin"/>
              </a:defRPr>
            </a:lvl3pPr>
            <a:lvl4pPr indent="0" lvl="3" marL="0" rtl="0" algn="r">
              <a:spcBef>
                <a:spcPts val="0"/>
              </a:spcBef>
              <a:buNone/>
              <a:defRPr b="0" i="0" sz="800" u="none" cap="none" strike="noStrike">
                <a:solidFill>
                  <a:srgbClr val="191919"/>
                </a:solidFill>
                <a:latin typeface="Libre Franklin"/>
                <a:ea typeface="Libre Franklin"/>
                <a:cs typeface="Libre Franklin"/>
                <a:sym typeface="Libre Franklin"/>
              </a:defRPr>
            </a:lvl4pPr>
            <a:lvl5pPr indent="0" lvl="4" marL="0" rtl="0" algn="r">
              <a:spcBef>
                <a:spcPts val="0"/>
              </a:spcBef>
              <a:buNone/>
              <a:defRPr b="0" i="0" sz="800" u="none" cap="none" strike="noStrike">
                <a:solidFill>
                  <a:srgbClr val="191919"/>
                </a:solidFill>
                <a:latin typeface="Libre Franklin"/>
                <a:ea typeface="Libre Franklin"/>
                <a:cs typeface="Libre Franklin"/>
                <a:sym typeface="Libre Franklin"/>
              </a:defRPr>
            </a:lvl5pPr>
            <a:lvl6pPr indent="0" lvl="5" marL="0" rtl="0" algn="r">
              <a:spcBef>
                <a:spcPts val="0"/>
              </a:spcBef>
              <a:buNone/>
              <a:defRPr b="0" i="0" sz="800" u="none" cap="none" strike="noStrike">
                <a:solidFill>
                  <a:srgbClr val="191919"/>
                </a:solidFill>
                <a:latin typeface="Libre Franklin"/>
                <a:ea typeface="Libre Franklin"/>
                <a:cs typeface="Libre Franklin"/>
                <a:sym typeface="Libre Franklin"/>
              </a:defRPr>
            </a:lvl6pPr>
            <a:lvl7pPr indent="0" lvl="6" marL="0" rtl="0" algn="r">
              <a:spcBef>
                <a:spcPts val="0"/>
              </a:spcBef>
              <a:buNone/>
              <a:defRPr b="0" i="0" sz="800" u="none" cap="none" strike="noStrike">
                <a:solidFill>
                  <a:srgbClr val="191919"/>
                </a:solidFill>
                <a:latin typeface="Libre Franklin"/>
                <a:ea typeface="Libre Franklin"/>
                <a:cs typeface="Libre Franklin"/>
                <a:sym typeface="Libre Franklin"/>
              </a:defRPr>
            </a:lvl7pPr>
            <a:lvl8pPr indent="0" lvl="7" marL="0" rtl="0" algn="r">
              <a:spcBef>
                <a:spcPts val="0"/>
              </a:spcBef>
              <a:buNone/>
              <a:defRPr b="0" i="0" sz="800" u="none" cap="none" strike="noStrike">
                <a:solidFill>
                  <a:srgbClr val="191919"/>
                </a:solidFill>
                <a:latin typeface="Libre Franklin"/>
                <a:ea typeface="Libre Franklin"/>
                <a:cs typeface="Libre Franklin"/>
                <a:sym typeface="Libre Franklin"/>
              </a:defRPr>
            </a:lvl8pPr>
            <a:lvl9pPr indent="0" lvl="8" marL="0" rtl="0" algn="r">
              <a:spcBef>
                <a:spcPts val="0"/>
              </a:spcBef>
              <a:buNone/>
              <a:defRPr b="0" i="0" sz="800" u="none" cap="none" strike="noStrike">
                <a:solidFill>
                  <a:srgbClr val="191919"/>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1404550" y="1939475"/>
            <a:ext cx="6331500" cy="16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500">
                <a:solidFill>
                  <a:srgbClr val="D15A12"/>
                </a:solidFill>
                <a:latin typeface="Comic Sans MS"/>
                <a:ea typeface="Comic Sans MS"/>
                <a:cs typeface="Comic Sans MS"/>
                <a:sym typeface="Comic Sans MS"/>
              </a:rPr>
              <a:t>Pointers</a:t>
            </a:r>
            <a:endParaRPr b="1" sz="4500">
              <a:solidFill>
                <a:srgbClr val="D15A12"/>
              </a:solidFill>
              <a:latin typeface="Comic Sans MS"/>
              <a:ea typeface="Comic Sans MS"/>
              <a:cs typeface="Comic Sans MS"/>
              <a:sym typeface="Comic Sans MS"/>
            </a:endParaRPr>
          </a:p>
          <a:p>
            <a:pPr indent="0" lvl="0" marL="0" rtl="0" algn="l">
              <a:spcBef>
                <a:spcPts val="0"/>
              </a:spcBef>
              <a:spcAft>
                <a:spcPts val="0"/>
              </a:spcAft>
              <a:buNone/>
            </a:pPr>
            <a:r>
              <a:t/>
            </a:r>
            <a:endParaRPr b="1" sz="4500">
              <a:solidFill>
                <a:srgbClr val="434343"/>
              </a:solidFill>
              <a:latin typeface="Comic Sans MS"/>
              <a:ea typeface="Comic Sans MS"/>
              <a:cs typeface="Comic Sans MS"/>
              <a:sym typeface="Comic Sans MS"/>
            </a:endParaRPr>
          </a:p>
        </p:txBody>
      </p:sp>
      <p:sp>
        <p:nvSpPr>
          <p:cNvPr id="61" name="Google Shape;61;p14"/>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2" name="Google Shape;62;p14"/>
          <p:cNvPicPr preferRelativeResize="0"/>
          <p:nvPr/>
        </p:nvPicPr>
        <p:blipFill>
          <a:blip r:embed="rId3">
            <a:alphaModFix/>
          </a:blip>
          <a:stretch>
            <a:fillRect/>
          </a:stretch>
        </p:blipFill>
        <p:spPr>
          <a:xfrm>
            <a:off x="7417825" y="1039140"/>
            <a:ext cx="1549400" cy="4104370"/>
          </a:xfrm>
          <a:prstGeom prst="rect">
            <a:avLst/>
          </a:prstGeom>
          <a:noFill/>
          <a:ln>
            <a:noFill/>
          </a:ln>
        </p:spPr>
      </p:pic>
      <p:sp>
        <p:nvSpPr>
          <p:cNvPr id="63" name="Google Shape;63;p14"/>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4" name="Google Shape;64;p14"/>
          <p:cNvPicPr preferRelativeResize="0"/>
          <p:nvPr/>
        </p:nvPicPr>
        <p:blipFill>
          <a:blip r:embed="rId4">
            <a:alphaModFix/>
          </a:blip>
          <a:stretch>
            <a:fillRect/>
          </a:stretch>
        </p:blipFill>
        <p:spPr>
          <a:xfrm>
            <a:off x="193550" y="1040975"/>
            <a:ext cx="1421136" cy="410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par>
                                <p:cTn fill="hold" nodeType="with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5"/>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3D4B"/>
              </a:solidFill>
              <a:latin typeface="Arial"/>
              <a:ea typeface="Arial"/>
              <a:cs typeface="Arial"/>
              <a:sym typeface="Arial"/>
            </a:endParaRPr>
          </a:p>
        </p:txBody>
      </p:sp>
      <p:sp>
        <p:nvSpPr>
          <p:cNvPr id="70" name="Google Shape;70;p15"/>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1" name="Google Shape;71;p15"/>
          <p:cNvPicPr preferRelativeResize="0"/>
          <p:nvPr/>
        </p:nvPicPr>
        <p:blipFill rotWithShape="1">
          <a:blip r:embed="rId3">
            <a:alphaModFix/>
          </a:blip>
          <a:srcRect b="0" l="0" r="0" t="0"/>
          <a:stretch/>
        </p:blipFill>
        <p:spPr>
          <a:xfrm>
            <a:off x="693329" y="1643932"/>
            <a:ext cx="7989900" cy="1481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16"/>
          <p:cNvSpPr/>
          <p:nvPr/>
        </p:nvSpPr>
        <p:spPr>
          <a:xfrm rot="10800000">
            <a:off x="8513292"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3D4B"/>
              </a:solidFill>
              <a:latin typeface="Arial"/>
              <a:ea typeface="Arial"/>
              <a:cs typeface="Arial"/>
              <a:sym typeface="Arial"/>
            </a:endParaRPr>
          </a:p>
        </p:txBody>
      </p:sp>
      <p:sp>
        <p:nvSpPr>
          <p:cNvPr id="77" name="Google Shape;77;p16"/>
          <p:cNvSpPr/>
          <p:nvPr/>
        </p:nvSpPr>
        <p:spPr>
          <a:xfrm flipH="1" rot="10800000">
            <a:off x="-8" y="86"/>
            <a:ext cx="627300" cy="1995600"/>
          </a:xfrm>
          <a:prstGeom prst="rtTriangle">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8" name="Google Shape;78;p16"/>
          <p:cNvPicPr preferRelativeResize="0"/>
          <p:nvPr/>
        </p:nvPicPr>
        <p:blipFill rotWithShape="1">
          <a:blip r:embed="rId3">
            <a:alphaModFix/>
          </a:blip>
          <a:srcRect b="0" l="0" r="0" t="0"/>
          <a:stretch/>
        </p:blipFill>
        <p:spPr>
          <a:xfrm>
            <a:off x="713777" y="1434311"/>
            <a:ext cx="7989900" cy="2274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5" name="Google Shape;85;p1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86" name="Google Shape;86;p1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87" name="Google Shape;87;p17"/>
          <p:cNvSpPr txBox="1"/>
          <p:nvPr>
            <p:ph type="title"/>
          </p:nvPr>
        </p:nvSpPr>
        <p:spPr>
          <a:xfrm>
            <a:off x="451700" y="0"/>
            <a:ext cx="767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Review</a:t>
            </a: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Passing by Reference</a:t>
            </a:r>
            <a:endParaRPr b="1" sz="3600">
              <a:solidFill>
                <a:srgbClr val="434343"/>
              </a:solidFill>
              <a:latin typeface="Comic Sans MS"/>
              <a:ea typeface="Comic Sans MS"/>
              <a:cs typeface="Comic Sans MS"/>
              <a:sym typeface="Comic Sans MS"/>
            </a:endParaRPr>
          </a:p>
        </p:txBody>
      </p:sp>
      <p:graphicFrame>
        <p:nvGraphicFramePr>
          <p:cNvPr id="88" name="Google Shape;88;p17"/>
          <p:cNvGraphicFramePr/>
          <p:nvPr/>
        </p:nvGraphicFramePr>
        <p:xfrm>
          <a:off x="74488" y="2916225"/>
          <a:ext cx="3000000" cy="3000000"/>
        </p:xfrm>
        <a:graphic>
          <a:graphicData uri="http://schemas.openxmlformats.org/drawingml/2006/table">
            <a:tbl>
              <a:tblPr>
                <a:noFill/>
                <a:tableStyleId>{C7F81B02-6435-4BE0-B069-4709209579D4}</a:tableStyleId>
              </a:tblPr>
              <a:tblGrid>
                <a:gridCol w="327000"/>
                <a:gridCol w="3672150"/>
              </a:tblGrid>
              <a:tr h="12700">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p>
                  </a:txBody>
                  <a:tcPr marT="63500" marB="63500" marR="63500" marL="63500"/>
                </a:tc>
                <a:tc>
                  <a:txBody>
                    <a:bodyPr/>
                    <a:lstStyle/>
                    <a:p>
                      <a:pPr indent="0" lvl="0" marL="0" rtl="0" algn="l">
                        <a:lnSpc>
                          <a:spcPct val="135714"/>
                        </a:lnSpc>
                        <a:spcBef>
                          <a:spcPts val="0"/>
                        </a:spcBef>
                        <a:spcAft>
                          <a:spcPts val="0"/>
                        </a:spcAft>
                        <a:buNone/>
                      </a:pP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addition(</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&amp;num1,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&amp;num2)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int</a:t>
                      </a:r>
                      <a:r>
                        <a:rPr b="1" lang="en" sz="1350">
                          <a:solidFill>
                            <a:srgbClr val="000000"/>
                          </a:solidFill>
                          <a:highlight>
                            <a:srgbClr val="FFFFFF"/>
                          </a:highlight>
                          <a:latin typeface="Courier New"/>
                          <a:ea typeface="Courier New"/>
                          <a:cs typeface="Courier New"/>
                          <a:sym typeface="Courier New"/>
                        </a:rPr>
                        <a:t> sum = num1 + num2;</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    </a:t>
                      </a:r>
                      <a:r>
                        <a:rPr b="1" lang="en" sz="1350">
                          <a:solidFill>
                            <a:srgbClr val="0000FF"/>
                          </a:solidFill>
                          <a:highlight>
                            <a:srgbClr val="FFFFFF"/>
                          </a:highlight>
                          <a:latin typeface="Courier New"/>
                          <a:ea typeface="Courier New"/>
                          <a:cs typeface="Courier New"/>
                          <a:sym typeface="Courier New"/>
                        </a:rPr>
                        <a:t>return</a:t>
                      </a:r>
                      <a:r>
                        <a:rPr b="1" lang="en" sz="1350">
                          <a:solidFill>
                            <a:srgbClr val="000000"/>
                          </a:solidFill>
                          <a:highlight>
                            <a:srgbClr val="FFFFFF"/>
                          </a:highlight>
                          <a:latin typeface="Courier New"/>
                          <a:ea typeface="Courier New"/>
                          <a:cs typeface="Courier New"/>
                          <a:sym typeface="Courier New"/>
                        </a:rPr>
                        <a:t> sum;</a:t>
                      </a:r>
                      <a:endParaRPr b="1" sz="13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sz="1350">
                          <a:solidFill>
                            <a:srgbClr val="000000"/>
                          </a:solidFill>
                          <a:highlight>
                            <a:srgbClr val="FFFFFF"/>
                          </a:highlight>
                          <a:latin typeface="Courier New"/>
                          <a:ea typeface="Courier New"/>
                          <a:cs typeface="Courier New"/>
                          <a:sym typeface="Courier New"/>
                        </a:rPr>
                        <a:t>}</a:t>
                      </a:r>
                      <a:endParaRPr b="1">
                        <a:solidFill>
                          <a:srgbClr val="AF00DB"/>
                        </a:solidFill>
                        <a:latin typeface="Courier New"/>
                        <a:ea typeface="Courier New"/>
                        <a:cs typeface="Courier New"/>
                        <a:sym typeface="Courier New"/>
                      </a:endParaRPr>
                    </a:p>
                  </a:txBody>
                  <a:tcPr marT="63500" marB="63500" marR="63500" marL="63500"/>
                </a:tc>
              </a:tr>
            </a:tbl>
          </a:graphicData>
        </a:graphic>
      </p:graphicFrame>
      <p:graphicFrame>
        <p:nvGraphicFramePr>
          <p:cNvPr id="89" name="Google Shape;89;p17"/>
          <p:cNvGraphicFramePr/>
          <p:nvPr/>
        </p:nvGraphicFramePr>
        <p:xfrm>
          <a:off x="4188988" y="1883475"/>
          <a:ext cx="3000000" cy="3000000"/>
        </p:xfrm>
        <a:graphic>
          <a:graphicData uri="http://schemas.openxmlformats.org/drawingml/2006/table">
            <a:tbl>
              <a:tblPr>
                <a:noFill/>
                <a:tableStyleId>{C7F81B02-6435-4BE0-B069-4709209579D4}</a:tableStyleId>
              </a:tblPr>
              <a:tblGrid>
                <a:gridCol w="327000"/>
                <a:gridCol w="4553250"/>
              </a:tblGrid>
              <a:tr h="2786175">
                <a:tc>
                  <a:txBody>
                    <a:bodyPr/>
                    <a:lstStyle/>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1</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2</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3</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4</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5</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6</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7</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8</a:t>
                      </a:r>
                      <a:endParaRPr b="1">
                        <a:solidFill>
                          <a:srgbClr val="098658"/>
                        </a:solidFill>
                        <a:latin typeface="Courier New"/>
                        <a:ea typeface="Courier New"/>
                        <a:cs typeface="Courier New"/>
                        <a:sym typeface="Courier New"/>
                      </a:endParaRPr>
                    </a:p>
                    <a:p>
                      <a:pPr indent="0" lvl="0" marL="0" rtl="0" algn="just">
                        <a:lnSpc>
                          <a:spcPct val="130434"/>
                        </a:lnSpc>
                        <a:spcBef>
                          <a:spcPts val="0"/>
                        </a:spcBef>
                        <a:spcAft>
                          <a:spcPts val="0"/>
                        </a:spcAft>
                        <a:buNone/>
                      </a:pPr>
                      <a:r>
                        <a:rPr b="1" lang="en">
                          <a:solidFill>
                            <a:srgbClr val="098658"/>
                          </a:solidFill>
                          <a:latin typeface="Courier New"/>
                          <a:ea typeface="Courier New"/>
                          <a:cs typeface="Courier New"/>
                          <a:sym typeface="Courier New"/>
                        </a:rPr>
                        <a:t>9</a:t>
                      </a:r>
                      <a:endParaRPr b="1">
                        <a:solidFill>
                          <a:srgbClr val="098658"/>
                        </a:solidFill>
                        <a:latin typeface="Courier New"/>
                        <a:ea typeface="Courier New"/>
                        <a:cs typeface="Courier New"/>
                        <a:sym typeface="Courier New"/>
                      </a:endParaRPr>
                    </a:p>
                  </a:txBody>
                  <a:tcPr marT="63500" marB="63500" marR="63500" marL="63500"/>
                </a:tc>
                <a:tc>
                  <a:txBody>
                    <a:bodyPr/>
                    <a:lstStyle/>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main(){</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a:t>
                      </a:r>
                      <a:r>
                        <a:rPr b="1" lang="en">
                          <a:solidFill>
                            <a:srgbClr val="0000FF"/>
                          </a:solidFill>
                          <a:highlight>
                            <a:srgbClr val="FFFFFF"/>
                          </a:highlight>
                          <a:latin typeface="Courier New"/>
                          <a:ea typeface="Courier New"/>
                          <a:cs typeface="Courier New"/>
                          <a:sym typeface="Courier New"/>
                        </a:rPr>
                        <a:t>int</a:t>
                      </a:r>
                      <a:r>
                        <a:rPr b="1" lang="en">
                          <a:solidFill>
                            <a:srgbClr val="000000"/>
                          </a:solidFill>
                          <a:highlight>
                            <a:srgbClr val="FFFFFF"/>
                          </a:highlight>
                          <a:latin typeface="Courier New"/>
                          <a:ea typeface="Courier New"/>
                          <a:cs typeface="Courier New"/>
                          <a:sym typeface="Courier New"/>
                        </a:rPr>
                        <a:t> number1, number2,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First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number1;</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"Enter Second Number: "</a:t>
                      </a:r>
                      <a:r>
                        <a:rPr b="1" lang="en">
                          <a:solidFill>
                            <a:srgbClr val="000000"/>
                          </a:solidFill>
                          <a:highlight>
                            <a:srgbClr val="FFFFFF"/>
                          </a:highlight>
                          <a:latin typeface="Courier New"/>
                          <a:ea typeface="Courier New"/>
                          <a:cs typeface="Courier New"/>
                          <a:sym typeface="Courier New"/>
                        </a:rPr>
                        <a: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cin &gt;&gt;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result = addition(number1, number2);</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    cout &lt;&lt; </a:t>
                      </a:r>
                      <a:r>
                        <a:rPr b="1" lang="en">
                          <a:solidFill>
                            <a:srgbClr val="A31515"/>
                          </a:solidFill>
                          <a:highlight>
                            <a:srgbClr val="FFFFFF"/>
                          </a:highlight>
                          <a:latin typeface="Courier New"/>
                          <a:ea typeface="Courier New"/>
                          <a:cs typeface="Courier New"/>
                          <a:sym typeface="Courier New"/>
                        </a:rPr>
                        <a:t>"Sum is: "</a:t>
                      </a:r>
                      <a:r>
                        <a:rPr b="1" lang="en">
                          <a:solidFill>
                            <a:srgbClr val="000000"/>
                          </a:solidFill>
                          <a:highlight>
                            <a:srgbClr val="FFFFFF"/>
                          </a:highlight>
                          <a:latin typeface="Courier New"/>
                          <a:ea typeface="Courier New"/>
                          <a:cs typeface="Courier New"/>
                          <a:sym typeface="Courier New"/>
                        </a:rPr>
                        <a:t> &lt;&lt; result;</a:t>
                      </a:r>
                      <a:endParaRPr b="1">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000000"/>
                          </a:solidFill>
                          <a:highlight>
                            <a:srgbClr val="FFFFFF"/>
                          </a:highlight>
                          <a:latin typeface="Courier New"/>
                          <a:ea typeface="Courier New"/>
                          <a:cs typeface="Courier New"/>
                          <a:sym typeface="Courier New"/>
                        </a:rPr>
                        <a:t>}</a:t>
                      </a:r>
                      <a:endParaRPr b="1">
                        <a:solidFill>
                          <a:srgbClr val="0000FF"/>
                        </a:solidFill>
                        <a:highlight>
                          <a:srgbClr val="FFFFFF"/>
                        </a:highlight>
                        <a:latin typeface="Courier New"/>
                        <a:ea typeface="Courier New"/>
                        <a:cs typeface="Courier New"/>
                        <a:sym typeface="Courier New"/>
                      </a:endParaRPr>
                    </a:p>
                  </a:txBody>
                  <a:tcPr marT="63500" marB="63500" marR="63500" marL="63500"/>
                </a:tc>
              </a:tr>
            </a:tbl>
          </a:graphicData>
        </a:graphic>
      </p:graphicFrame>
      <p:sp>
        <p:nvSpPr>
          <p:cNvPr id="90" name="Google Shape;90;p17"/>
          <p:cNvSpPr/>
          <p:nvPr/>
        </p:nvSpPr>
        <p:spPr>
          <a:xfrm>
            <a:off x="4754950" y="3642700"/>
            <a:ext cx="4196400" cy="2880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17"/>
          <p:cNvCxnSpPr>
            <a:stCxn id="90" idx="1"/>
          </p:cNvCxnSpPr>
          <p:nvPr/>
        </p:nvCxnSpPr>
        <p:spPr>
          <a:xfrm rot="10800000">
            <a:off x="1490950" y="3313000"/>
            <a:ext cx="3264000" cy="473700"/>
          </a:xfrm>
          <a:prstGeom prst="straightConnector1">
            <a:avLst/>
          </a:prstGeom>
          <a:noFill/>
          <a:ln cap="flat" cmpd="sng" w="28575">
            <a:solidFill>
              <a:srgbClr val="980000"/>
            </a:solidFill>
            <a:prstDash val="solid"/>
            <a:round/>
            <a:headEnd len="med" w="med" type="none"/>
            <a:tailEnd len="med" w="med" type="triangle"/>
          </a:ln>
        </p:spPr>
      </p:cxnSp>
      <p:sp>
        <p:nvSpPr>
          <p:cNvPr id="92" name="Google Shape;92;p17"/>
          <p:cNvSpPr txBox="1"/>
          <p:nvPr/>
        </p:nvSpPr>
        <p:spPr>
          <a:xfrm>
            <a:off x="2430525" y="4367513"/>
            <a:ext cx="18873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04040"/>
                </a:solidFill>
                <a:latin typeface="Comic Sans MS"/>
                <a:ea typeface="Comic Sans MS"/>
                <a:cs typeface="Comic Sans MS"/>
                <a:sym typeface="Comic Sans MS"/>
              </a:rPr>
              <a:t>Function Call</a:t>
            </a:r>
            <a:endParaRPr b="1" sz="2000">
              <a:solidFill>
                <a:srgbClr val="404040"/>
              </a:solidFill>
              <a:latin typeface="Comic Sans MS"/>
              <a:ea typeface="Comic Sans MS"/>
              <a:cs typeface="Comic Sans MS"/>
              <a:sym typeface="Comic Sans MS"/>
            </a:endParaRPr>
          </a:p>
        </p:txBody>
      </p:sp>
      <p:cxnSp>
        <p:nvCxnSpPr>
          <p:cNvPr id="93" name="Google Shape;93;p17"/>
          <p:cNvCxnSpPr/>
          <p:nvPr/>
        </p:nvCxnSpPr>
        <p:spPr>
          <a:xfrm>
            <a:off x="8630775" y="2331325"/>
            <a:ext cx="12600" cy="1209600"/>
          </a:xfrm>
          <a:prstGeom prst="straightConnector1">
            <a:avLst/>
          </a:prstGeom>
          <a:noFill/>
          <a:ln cap="flat" cmpd="sng" w="28575">
            <a:solidFill>
              <a:srgbClr val="980000"/>
            </a:solidFill>
            <a:prstDash val="solid"/>
            <a:round/>
            <a:headEnd len="med" w="med" type="none"/>
            <a:tailEnd len="med" w="med" type="triangle"/>
          </a:ln>
        </p:spPr>
      </p:cxnSp>
      <p:sp>
        <p:nvSpPr>
          <p:cNvPr id="94" name="Google Shape;94;p17"/>
          <p:cNvSpPr/>
          <p:nvPr/>
        </p:nvSpPr>
        <p:spPr>
          <a:xfrm>
            <a:off x="1791800" y="1048180"/>
            <a:ext cx="860400" cy="1508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p:nvPr/>
        </p:nvSpPr>
        <p:spPr>
          <a:xfrm>
            <a:off x="1836494" y="1088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96" name="Google Shape;96;p17"/>
          <p:cNvSpPr/>
          <p:nvPr/>
        </p:nvSpPr>
        <p:spPr>
          <a:xfrm>
            <a:off x="1836494" y="1429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97" name="Google Shape;97;p17"/>
          <p:cNvSpPr/>
          <p:nvPr/>
        </p:nvSpPr>
        <p:spPr>
          <a:xfrm>
            <a:off x="1836494" y="1770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D15A12"/>
                </a:solidFill>
                <a:latin typeface="Raleway"/>
                <a:ea typeface="Raleway"/>
                <a:cs typeface="Raleway"/>
                <a:sym typeface="Raleway"/>
              </a:rPr>
              <a:t>0xE4A71</a:t>
            </a:r>
            <a:endParaRPr sz="1300">
              <a:solidFill>
                <a:srgbClr val="D15A12"/>
              </a:solidFill>
            </a:endParaRPr>
          </a:p>
        </p:txBody>
      </p:sp>
      <p:sp>
        <p:nvSpPr>
          <p:cNvPr id="98" name="Google Shape;98;p17"/>
          <p:cNvSpPr txBox="1"/>
          <p:nvPr/>
        </p:nvSpPr>
        <p:spPr>
          <a:xfrm>
            <a:off x="2647150" y="1048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99" name="Google Shape;99;p17"/>
          <p:cNvSpPr txBox="1"/>
          <p:nvPr/>
        </p:nvSpPr>
        <p:spPr>
          <a:xfrm>
            <a:off x="2647150" y="1387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0xE4A75</a:t>
            </a:r>
            <a:endParaRPr b="1" sz="1200">
              <a:latin typeface="Raleway"/>
              <a:ea typeface="Raleway"/>
              <a:cs typeface="Raleway"/>
              <a:sym typeface="Raleway"/>
            </a:endParaRPr>
          </a:p>
        </p:txBody>
      </p:sp>
      <p:sp>
        <p:nvSpPr>
          <p:cNvPr id="100" name="Google Shape;100;p17"/>
          <p:cNvSpPr txBox="1"/>
          <p:nvPr/>
        </p:nvSpPr>
        <p:spPr>
          <a:xfrm>
            <a:off x="2647150" y="1730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0xE4A79</a:t>
            </a:r>
            <a:endParaRPr b="1" sz="1200">
              <a:latin typeface="Raleway"/>
              <a:ea typeface="Raleway"/>
              <a:cs typeface="Raleway"/>
              <a:sym typeface="Raleway"/>
            </a:endParaRPr>
          </a:p>
        </p:txBody>
      </p:sp>
      <p:sp>
        <p:nvSpPr>
          <p:cNvPr id="101" name="Google Shape;101;p17"/>
          <p:cNvSpPr txBox="1"/>
          <p:nvPr/>
        </p:nvSpPr>
        <p:spPr>
          <a:xfrm>
            <a:off x="1791800" y="25133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102" name="Google Shape;102;p17"/>
          <p:cNvSpPr txBox="1"/>
          <p:nvPr/>
        </p:nvSpPr>
        <p:spPr>
          <a:xfrm>
            <a:off x="639624" y="1440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number2</a:t>
            </a:r>
            <a:endParaRPr b="1" sz="1600">
              <a:solidFill>
                <a:srgbClr val="D15A12"/>
              </a:solidFill>
              <a:latin typeface="Raleway"/>
              <a:ea typeface="Raleway"/>
              <a:cs typeface="Raleway"/>
              <a:sym typeface="Raleway"/>
            </a:endParaRPr>
          </a:p>
        </p:txBody>
      </p:sp>
      <p:sp>
        <p:nvSpPr>
          <p:cNvPr id="103" name="Google Shape;103;p17"/>
          <p:cNvSpPr/>
          <p:nvPr/>
        </p:nvSpPr>
        <p:spPr>
          <a:xfrm>
            <a:off x="1836494" y="2141894"/>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D15A12"/>
                </a:solidFill>
                <a:latin typeface="Raleway"/>
                <a:ea typeface="Raleway"/>
                <a:cs typeface="Raleway"/>
                <a:sym typeface="Raleway"/>
              </a:rPr>
              <a:t>0xE4A75</a:t>
            </a:r>
            <a:endParaRPr sz="1300">
              <a:solidFill>
                <a:srgbClr val="D15A12"/>
              </a:solidFill>
            </a:endParaRPr>
          </a:p>
        </p:txBody>
      </p:sp>
      <p:sp>
        <p:nvSpPr>
          <p:cNvPr id="104" name="Google Shape;104;p17"/>
          <p:cNvSpPr txBox="1"/>
          <p:nvPr/>
        </p:nvSpPr>
        <p:spPr>
          <a:xfrm>
            <a:off x="2647150" y="2111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0xE4A83</a:t>
            </a:r>
            <a:endParaRPr b="1" sz="1200">
              <a:latin typeface="Raleway"/>
              <a:ea typeface="Raleway"/>
              <a:cs typeface="Raleway"/>
              <a:sym typeface="Raleway"/>
            </a:endParaRPr>
          </a:p>
        </p:txBody>
      </p:sp>
      <p:sp>
        <p:nvSpPr>
          <p:cNvPr id="105" name="Google Shape;105;p17"/>
          <p:cNvSpPr txBox="1"/>
          <p:nvPr/>
        </p:nvSpPr>
        <p:spPr>
          <a:xfrm>
            <a:off x="639624" y="105955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number1</a:t>
            </a:r>
            <a:endParaRPr b="1" sz="1600">
              <a:solidFill>
                <a:srgbClr val="D15A12"/>
              </a:solidFill>
              <a:latin typeface="Raleway"/>
              <a:ea typeface="Raleway"/>
              <a:cs typeface="Raleway"/>
              <a:sym typeface="Raleway"/>
            </a:endParaRPr>
          </a:p>
        </p:txBody>
      </p:sp>
      <p:sp>
        <p:nvSpPr>
          <p:cNvPr id="106" name="Google Shape;106;p17"/>
          <p:cNvSpPr txBox="1"/>
          <p:nvPr/>
        </p:nvSpPr>
        <p:spPr>
          <a:xfrm>
            <a:off x="639624" y="1775975"/>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num1</a:t>
            </a:r>
            <a:endParaRPr b="1" sz="1600">
              <a:solidFill>
                <a:srgbClr val="D15A12"/>
              </a:solidFill>
              <a:latin typeface="Raleway"/>
              <a:ea typeface="Raleway"/>
              <a:cs typeface="Raleway"/>
              <a:sym typeface="Raleway"/>
            </a:endParaRPr>
          </a:p>
        </p:txBody>
      </p:sp>
      <p:sp>
        <p:nvSpPr>
          <p:cNvPr id="107" name="Google Shape;107;p17"/>
          <p:cNvSpPr txBox="1"/>
          <p:nvPr/>
        </p:nvSpPr>
        <p:spPr>
          <a:xfrm>
            <a:off x="639624" y="2111400"/>
            <a:ext cx="109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num2</a:t>
            </a:r>
            <a:endParaRPr b="1" sz="1600">
              <a:solidFill>
                <a:srgbClr val="D15A12"/>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Variable Declaration</a:t>
            </a:r>
            <a:endParaRPr b="1" sz="3600">
              <a:solidFill>
                <a:srgbClr val="434343"/>
              </a:solidFill>
              <a:latin typeface="Comic Sans MS"/>
              <a:ea typeface="Comic Sans MS"/>
              <a:cs typeface="Comic Sans MS"/>
              <a:sym typeface="Comic Sans MS"/>
            </a:endParaRPr>
          </a:p>
        </p:txBody>
      </p:sp>
      <p:cxnSp>
        <p:nvCxnSpPr>
          <p:cNvPr id="113" name="Google Shape;113;p1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14" name="Google Shape;114;p1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15" name="Google Shape;115;p1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 name="Google Shape;116;p18"/>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Now, let see how can we declare </a:t>
            </a:r>
            <a:r>
              <a:rPr b="1" lang="en" sz="2400">
                <a:solidFill>
                  <a:srgbClr val="D15A12"/>
                </a:solidFill>
                <a:latin typeface="Comic Sans MS"/>
                <a:ea typeface="Comic Sans MS"/>
                <a:cs typeface="Comic Sans MS"/>
                <a:sym typeface="Comic Sans MS"/>
              </a:rPr>
              <a:t>pointer type</a:t>
            </a:r>
            <a:r>
              <a:rPr b="1" lang="en" sz="2400">
                <a:solidFill>
                  <a:srgbClr val="404040"/>
                </a:solidFill>
                <a:latin typeface="Comic Sans MS"/>
                <a:ea typeface="Comic Sans MS"/>
                <a:cs typeface="Comic Sans MS"/>
                <a:sym typeface="Comic Sans MS"/>
              </a:rPr>
              <a:t> of </a:t>
            </a:r>
            <a:r>
              <a:rPr b="1" lang="en" sz="2400">
                <a:solidFill>
                  <a:srgbClr val="404040"/>
                </a:solidFill>
                <a:latin typeface="Comic Sans MS"/>
                <a:ea typeface="Comic Sans MS"/>
                <a:cs typeface="Comic Sans MS"/>
                <a:sym typeface="Comic Sans MS"/>
              </a:rPr>
              <a:t>variables</a:t>
            </a:r>
            <a:r>
              <a:rPr b="1" lang="en" sz="2400">
                <a:solidFill>
                  <a:srgbClr val="404040"/>
                </a:solidFill>
                <a:latin typeface="Comic Sans MS"/>
                <a:ea typeface="Comic Sans MS"/>
                <a:cs typeface="Comic Sans MS"/>
                <a:sym typeface="Comic Sans MS"/>
              </a:rPr>
              <a:t> within the function instead of </a:t>
            </a:r>
            <a:r>
              <a:rPr b="1" lang="en" sz="2400">
                <a:solidFill>
                  <a:srgbClr val="D15A12"/>
                </a:solidFill>
                <a:latin typeface="Comic Sans MS"/>
                <a:ea typeface="Comic Sans MS"/>
                <a:cs typeface="Comic Sans MS"/>
                <a:sym typeface="Comic Sans MS"/>
              </a:rPr>
              <a:t>reference </a:t>
            </a:r>
            <a:r>
              <a:rPr b="1" lang="en" sz="2400">
                <a:solidFill>
                  <a:srgbClr val="404040"/>
                </a:solidFill>
                <a:latin typeface="Comic Sans MS"/>
                <a:ea typeface="Comic Sans MS"/>
                <a:cs typeface="Comic Sans MS"/>
                <a:sym typeface="Comic Sans MS"/>
              </a:rPr>
              <a:t>type. </a:t>
            </a:r>
            <a:endParaRPr b="1" sz="2400">
              <a:solidFill>
                <a:srgbClr val="404040"/>
              </a:solidFill>
              <a:latin typeface="Comic Sans MS"/>
              <a:ea typeface="Comic Sans MS"/>
              <a:cs typeface="Comic Sans MS"/>
              <a:sym typeface="Comic Sans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23" name="Google Shape;123;p1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24" name="Google Shape;124;p1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25" name="Google Shape;125;p19"/>
          <p:cNvSpPr txBox="1"/>
          <p:nvPr>
            <p:ph type="title"/>
          </p:nvPr>
        </p:nvSpPr>
        <p:spPr>
          <a:xfrm>
            <a:off x="0" y="-76200"/>
            <a:ext cx="9144000" cy="726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Libre Franklin Medium"/>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Main</a:t>
            </a: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Memory</a:t>
            </a:r>
            <a:endParaRPr b="1" sz="3600">
              <a:solidFill>
                <a:srgbClr val="434343"/>
              </a:solidFill>
              <a:latin typeface="Comic Sans MS"/>
              <a:ea typeface="Comic Sans MS"/>
              <a:cs typeface="Comic Sans MS"/>
              <a:sym typeface="Comic Sans MS"/>
            </a:endParaRPr>
          </a:p>
        </p:txBody>
      </p:sp>
      <p:sp>
        <p:nvSpPr>
          <p:cNvPr id="126" name="Google Shape;126;p19"/>
          <p:cNvSpPr txBox="1"/>
          <p:nvPr/>
        </p:nvSpPr>
        <p:spPr>
          <a:xfrm>
            <a:off x="375500" y="945450"/>
            <a:ext cx="6629100" cy="10173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Memory is called </a:t>
            </a:r>
            <a:r>
              <a:rPr b="1" lang="en" sz="2400">
                <a:solidFill>
                  <a:srgbClr val="D15A12"/>
                </a:solidFill>
                <a:latin typeface="Comic Sans MS"/>
                <a:ea typeface="Comic Sans MS"/>
                <a:cs typeface="Comic Sans MS"/>
                <a:sym typeface="Comic Sans MS"/>
              </a:rPr>
              <a:t>Main Memory</a:t>
            </a:r>
            <a:r>
              <a:rPr b="1" lang="en" sz="2400">
                <a:solidFill>
                  <a:srgbClr val="434343"/>
                </a:solidFill>
                <a:latin typeface="Comic Sans MS"/>
                <a:ea typeface="Comic Sans MS"/>
                <a:cs typeface="Comic Sans MS"/>
                <a:sym typeface="Comic Sans MS"/>
              </a:rPr>
              <a:t>, </a:t>
            </a:r>
            <a:r>
              <a:rPr b="1" lang="en" sz="2400">
                <a:solidFill>
                  <a:srgbClr val="D15A12"/>
                </a:solidFill>
                <a:latin typeface="Comic Sans MS"/>
                <a:ea typeface="Comic Sans MS"/>
                <a:cs typeface="Comic Sans MS"/>
                <a:sym typeface="Comic Sans MS"/>
              </a:rPr>
              <a:t>Primary Memory</a:t>
            </a:r>
            <a:r>
              <a:rPr b="1" lang="en" sz="2400">
                <a:solidFill>
                  <a:srgbClr val="434343"/>
                </a:solidFill>
                <a:latin typeface="Comic Sans MS"/>
                <a:ea typeface="Comic Sans MS"/>
                <a:cs typeface="Comic Sans MS"/>
                <a:sym typeface="Comic Sans MS"/>
              </a:rPr>
              <a:t> or </a:t>
            </a:r>
            <a:r>
              <a:rPr b="1" lang="en" sz="2400">
                <a:solidFill>
                  <a:srgbClr val="D15A12"/>
                </a:solidFill>
                <a:latin typeface="Comic Sans MS"/>
                <a:ea typeface="Comic Sans MS"/>
                <a:cs typeface="Comic Sans MS"/>
                <a:sym typeface="Comic Sans MS"/>
              </a:rPr>
              <a:t>RAM</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This memory is divided into </a:t>
            </a:r>
            <a:r>
              <a:rPr b="1" lang="en" sz="2400">
                <a:solidFill>
                  <a:srgbClr val="D15A12"/>
                </a:solidFill>
                <a:latin typeface="Comic Sans MS"/>
                <a:ea typeface="Comic Sans MS"/>
                <a:cs typeface="Comic Sans MS"/>
                <a:sym typeface="Comic Sans MS"/>
              </a:rPr>
              <a:t>different cells.</a:t>
            </a:r>
            <a:endParaRPr b="1" sz="2400">
              <a:solidFill>
                <a:srgbClr val="D15A12"/>
              </a:solidFill>
              <a:latin typeface="Comic Sans MS"/>
              <a:ea typeface="Comic Sans MS"/>
              <a:cs typeface="Comic Sans MS"/>
              <a:sym typeface="Comic Sans MS"/>
            </a:endParaRPr>
          </a:p>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Each cell has an </a:t>
            </a:r>
            <a:r>
              <a:rPr b="1" lang="en" sz="2400">
                <a:solidFill>
                  <a:srgbClr val="D15A12"/>
                </a:solidFill>
                <a:latin typeface="Comic Sans MS"/>
                <a:ea typeface="Comic Sans MS"/>
                <a:cs typeface="Comic Sans MS"/>
                <a:sym typeface="Comic Sans MS"/>
              </a:rPr>
              <a:t>address</a:t>
            </a:r>
            <a:r>
              <a:rPr b="1" lang="en" sz="2400">
                <a:solidFill>
                  <a:srgbClr val="434343"/>
                </a:solidFill>
                <a:latin typeface="Comic Sans MS"/>
                <a:ea typeface="Comic Sans MS"/>
                <a:cs typeface="Comic Sans MS"/>
                <a:sym typeface="Comic Sans MS"/>
              </a:rPr>
              <a:t> like we have address of our house numbers or PO Boxes</a:t>
            </a:r>
            <a:endParaRPr b="1" sz="2400">
              <a:solidFill>
                <a:srgbClr val="434343"/>
              </a:solidFill>
              <a:latin typeface="Comic Sans MS"/>
              <a:ea typeface="Comic Sans MS"/>
              <a:cs typeface="Comic Sans MS"/>
              <a:sym typeface="Comic Sans MS"/>
            </a:endParaRPr>
          </a:p>
          <a:p>
            <a:pPr indent="-381000" lvl="0" marL="457200" rtl="0" algn="l">
              <a:lnSpc>
                <a:spcPct val="90000"/>
              </a:lnSpc>
              <a:spcBef>
                <a:spcPts val="0"/>
              </a:spcBef>
              <a:spcAft>
                <a:spcPts val="0"/>
              </a:spcAft>
              <a:buClr>
                <a:srgbClr val="434343"/>
              </a:buClr>
              <a:buSzPts val="2400"/>
              <a:buFont typeface="Comic Sans MS"/>
              <a:buChar char="●"/>
            </a:pPr>
            <a:r>
              <a:rPr b="1" lang="en" sz="2400">
                <a:solidFill>
                  <a:srgbClr val="434343"/>
                </a:solidFill>
                <a:latin typeface="Comic Sans MS"/>
                <a:ea typeface="Comic Sans MS"/>
                <a:cs typeface="Comic Sans MS"/>
                <a:sym typeface="Comic Sans MS"/>
              </a:rPr>
              <a:t>CPU </a:t>
            </a:r>
            <a:r>
              <a:rPr b="1" lang="en" sz="2400">
                <a:solidFill>
                  <a:srgbClr val="D15A12"/>
                </a:solidFill>
                <a:latin typeface="Comic Sans MS"/>
                <a:ea typeface="Comic Sans MS"/>
                <a:cs typeface="Comic Sans MS"/>
                <a:sym typeface="Comic Sans MS"/>
              </a:rPr>
              <a:t>stores</a:t>
            </a:r>
            <a:r>
              <a:rPr b="1" lang="en" sz="2400">
                <a:solidFill>
                  <a:srgbClr val="434343"/>
                </a:solidFill>
                <a:latin typeface="Comic Sans MS"/>
                <a:ea typeface="Comic Sans MS"/>
                <a:cs typeface="Comic Sans MS"/>
                <a:sym typeface="Comic Sans MS"/>
              </a:rPr>
              <a:t> data into these cells and </a:t>
            </a:r>
            <a:r>
              <a:rPr b="1" lang="en" sz="2400">
                <a:solidFill>
                  <a:srgbClr val="D15A12"/>
                </a:solidFill>
                <a:latin typeface="Comic Sans MS"/>
                <a:ea typeface="Comic Sans MS"/>
                <a:cs typeface="Comic Sans MS"/>
                <a:sym typeface="Comic Sans MS"/>
              </a:rPr>
              <a:t>loads</a:t>
            </a:r>
            <a:r>
              <a:rPr b="1" lang="en" sz="2400">
                <a:solidFill>
                  <a:srgbClr val="434343"/>
                </a:solidFill>
                <a:latin typeface="Comic Sans MS"/>
                <a:ea typeface="Comic Sans MS"/>
                <a:cs typeface="Comic Sans MS"/>
                <a:sym typeface="Comic Sans MS"/>
              </a:rPr>
              <a:t> data from these cells whenever it is required.</a:t>
            </a:r>
            <a:endParaRPr b="1" sz="2400">
              <a:solidFill>
                <a:srgbClr val="434343"/>
              </a:solidFill>
              <a:latin typeface="Comic Sans MS"/>
              <a:ea typeface="Comic Sans MS"/>
              <a:cs typeface="Comic Sans MS"/>
              <a:sym typeface="Comic Sans MS"/>
            </a:endParaRPr>
          </a:p>
        </p:txBody>
      </p:sp>
      <p:sp>
        <p:nvSpPr>
          <p:cNvPr id="127" name="Google Shape;127;p19"/>
          <p:cNvSpPr txBox="1"/>
          <p:nvPr/>
        </p:nvSpPr>
        <p:spPr>
          <a:xfrm>
            <a:off x="7559125" y="95375"/>
            <a:ext cx="966300" cy="15219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200">
              <a:solidFill>
                <a:schemeClr val="lt1"/>
              </a:solidFill>
            </a:endParaRPr>
          </a:p>
        </p:txBody>
      </p:sp>
      <p:sp>
        <p:nvSpPr>
          <p:cNvPr id="128" name="Google Shape;128;p19"/>
          <p:cNvSpPr/>
          <p:nvPr/>
        </p:nvSpPr>
        <p:spPr>
          <a:xfrm rot="5400000">
            <a:off x="7953044" y="963350"/>
            <a:ext cx="305400" cy="126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rot="-5400000">
            <a:off x="7825976" y="963412"/>
            <a:ext cx="305400" cy="126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9"/>
          <p:cNvSpPr/>
          <p:nvPr/>
        </p:nvSpPr>
        <p:spPr>
          <a:xfrm>
            <a:off x="7682123" y="210367"/>
            <a:ext cx="733500" cy="663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434343"/>
                </a:solidFill>
              </a:rPr>
              <a:t>CPU</a:t>
            </a:r>
            <a:endParaRPr b="1" sz="1100">
              <a:solidFill>
                <a:srgbClr val="434343"/>
              </a:solidFill>
            </a:endParaRPr>
          </a:p>
        </p:txBody>
      </p:sp>
      <p:sp>
        <p:nvSpPr>
          <p:cNvPr id="131" name="Google Shape;131;p19"/>
          <p:cNvSpPr/>
          <p:nvPr/>
        </p:nvSpPr>
        <p:spPr>
          <a:xfrm>
            <a:off x="7564700" y="1918475"/>
            <a:ext cx="966300" cy="2836200"/>
          </a:xfrm>
          <a:prstGeom prst="rect">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9"/>
          <p:cNvSpPr/>
          <p:nvPr/>
        </p:nvSpPr>
        <p:spPr>
          <a:xfrm rot="699650">
            <a:off x="6929538" y="1199488"/>
            <a:ext cx="691675" cy="990974"/>
          </a:xfrm>
          <a:prstGeom prst="curvedRightArrow">
            <a:avLst>
              <a:gd fmla="val 25000" name="adj1"/>
              <a:gd fmla="val 50000" name="adj2"/>
              <a:gd fmla="val 25000" name="adj3"/>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9"/>
          <p:cNvSpPr/>
          <p:nvPr/>
        </p:nvSpPr>
        <p:spPr>
          <a:xfrm>
            <a:off x="7682165" y="1179112"/>
            <a:ext cx="733500" cy="343500"/>
          </a:xfrm>
          <a:prstGeom prst="rect">
            <a:avLst/>
          </a:prstGeom>
          <a:solidFill>
            <a:srgbClr val="D15A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rPr>
              <a:t>Memory</a:t>
            </a:r>
            <a:endParaRPr b="1" sz="1100">
              <a:solidFill>
                <a:srgbClr val="FFFFFF"/>
              </a:solidFill>
            </a:endParaRPr>
          </a:p>
        </p:txBody>
      </p:sp>
      <p:sp>
        <p:nvSpPr>
          <p:cNvPr id="134" name="Google Shape;134;p19"/>
          <p:cNvSpPr/>
          <p:nvPr/>
        </p:nvSpPr>
        <p:spPr>
          <a:xfrm>
            <a:off x="7614900" y="1981200"/>
            <a:ext cx="865500" cy="3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p:nvPr/>
        </p:nvSpPr>
        <p:spPr>
          <a:xfrm>
            <a:off x="7614900" y="2362200"/>
            <a:ext cx="865500" cy="3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p:nvPr/>
        </p:nvSpPr>
        <p:spPr>
          <a:xfrm>
            <a:off x="7614900" y="2743200"/>
            <a:ext cx="865500" cy="3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9"/>
          <p:cNvSpPr/>
          <p:nvPr/>
        </p:nvSpPr>
        <p:spPr>
          <a:xfrm>
            <a:off x="7614900" y="3124200"/>
            <a:ext cx="865500" cy="3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9"/>
          <p:cNvSpPr/>
          <p:nvPr/>
        </p:nvSpPr>
        <p:spPr>
          <a:xfrm>
            <a:off x="7614900" y="3505200"/>
            <a:ext cx="865500" cy="3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p:nvPr/>
        </p:nvSpPr>
        <p:spPr>
          <a:xfrm>
            <a:off x="7614900" y="3886200"/>
            <a:ext cx="865500" cy="3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p:nvPr/>
        </p:nvSpPr>
        <p:spPr>
          <a:xfrm>
            <a:off x="7992950" y="4272775"/>
            <a:ext cx="126000" cy="1146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9"/>
          <p:cNvSpPr/>
          <p:nvPr/>
        </p:nvSpPr>
        <p:spPr>
          <a:xfrm>
            <a:off x="7992950" y="4425175"/>
            <a:ext cx="126000" cy="1146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p:nvPr/>
        </p:nvSpPr>
        <p:spPr>
          <a:xfrm>
            <a:off x="7992950" y="4577575"/>
            <a:ext cx="126000" cy="1146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9"/>
          <p:cNvSpPr txBox="1"/>
          <p:nvPr/>
        </p:nvSpPr>
        <p:spPr>
          <a:xfrm>
            <a:off x="8449225" y="1936500"/>
            <a:ext cx="8655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0xE4A71</a:t>
            </a:r>
            <a:endParaRPr b="1">
              <a:latin typeface="Raleway"/>
              <a:ea typeface="Raleway"/>
              <a:cs typeface="Raleway"/>
              <a:sym typeface="Raleway"/>
            </a:endParaRPr>
          </a:p>
        </p:txBody>
      </p:sp>
      <p:sp>
        <p:nvSpPr>
          <p:cNvPr id="144" name="Google Shape;144;p19"/>
          <p:cNvSpPr txBox="1"/>
          <p:nvPr/>
        </p:nvSpPr>
        <p:spPr>
          <a:xfrm>
            <a:off x="8436925" y="2317500"/>
            <a:ext cx="9663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0xE4A72</a:t>
            </a:r>
            <a:endParaRPr b="1">
              <a:latin typeface="Raleway"/>
              <a:ea typeface="Raleway"/>
              <a:cs typeface="Raleway"/>
              <a:sym typeface="Raleway"/>
            </a:endParaRPr>
          </a:p>
        </p:txBody>
      </p:sp>
      <p:sp>
        <p:nvSpPr>
          <p:cNvPr id="145" name="Google Shape;145;p19"/>
          <p:cNvSpPr txBox="1"/>
          <p:nvPr/>
        </p:nvSpPr>
        <p:spPr>
          <a:xfrm>
            <a:off x="7732975" y="2740938"/>
            <a:ext cx="618600" cy="31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54</a:t>
            </a:r>
            <a:endParaRPr b="1" sz="1600">
              <a:solidFill>
                <a:srgbClr val="D15A12"/>
              </a:solidFill>
              <a:latin typeface="Raleway"/>
              <a:ea typeface="Raleway"/>
              <a:cs typeface="Raleway"/>
              <a:sym typeface="Raleway"/>
            </a:endParaRPr>
          </a:p>
        </p:txBody>
      </p:sp>
      <p:sp>
        <p:nvSpPr>
          <p:cNvPr id="146" name="Google Shape;146;p19"/>
          <p:cNvSpPr txBox="1"/>
          <p:nvPr/>
        </p:nvSpPr>
        <p:spPr>
          <a:xfrm>
            <a:off x="7732975" y="3136788"/>
            <a:ext cx="618600" cy="313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A</a:t>
            </a:r>
            <a:endParaRPr b="1" sz="1600">
              <a:solidFill>
                <a:srgbClr val="D15A12"/>
              </a:solidFill>
              <a:latin typeface="Raleway"/>
              <a:ea typeface="Raleway"/>
              <a:cs typeface="Raleway"/>
              <a:sym typeface="Raleway"/>
            </a:endParaRPr>
          </a:p>
        </p:txBody>
      </p:sp>
      <p:sp>
        <p:nvSpPr>
          <p:cNvPr id="147" name="Google Shape;147;p19"/>
          <p:cNvSpPr txBox="1"/>
          <p:nvPr/>
        </p:nvSpPr>
        <p:spPr>
          <a:xfrm>
            <a:off x="8436925" y="2698500"/>
            <a:ext cx="9663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0xE4A73</a:t>
            </a:r>
            <a:endParaRPr b="1">
              <a:latin typeface="Raleway"/>
              <a:ea typeface="Raleway"/>
              <a:cs typeface="Raleway"/>
              <a:sym typeface="Raleway"/>
            </a:endParaRPr>
          </a:p>
        </p:txBody>
      </p:sp>
      <p:sp>
        <p:nvSpPr>
          <p:cNvPr id="148" name="Google Shape;148;p19"/>
          <p:cNvSpPr txBox="1"/>
          <p:nvPr/>
        </p:nvSpPr>
        <p:spPr>
          <a:xfrm>
            <a:off x="8436925" y="3079500"/>
            <a:ext cx="9663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0xE4A74</a:t>
            </a:r>
            <a:endParaRPr b="1">
              <a:latin typeface="Raleway"/>
              <a:ea typeface="Raleway"/>
              <a:cs typeface="Raleway"/>
              <a:sym typeface="Raleway"/>
            </a:endParaRPr>
          </a:p>
        </p:txBody>
      </p:sp>
      <p:sp>
        <p:nvSpPr>
          <p:cNvPr id="149" name="Google Shape;149;p19"/>
          <p:cNvSpPr txBox="1"/>
          <p:nvPr/>
        </p:nvSpPr>
        <p:spPr>
          <a:xfrm>
            <a:off x="8436925" y="3460500"/>
            <a:ext cx="9663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0xE4A75</a:t>
            </a:r>
            <a:endParaRPr b="1">
              <a:latin typeface="Raleway"/>
              <a:ea typeface="Raleway"/>
              <a:cs typeface="Raleway"/>
              <a:sym typeface="Raleway"/>
            </a:endParaRPr>
          </a:p>
        </p:txBody>
      </p:sp>
      <p:sp>
        <p:nvSpPr>
          <p:cNvPr id="150" name="Google Shape;150;p19"/>
          <p:cNvSpPr txBox="1"/>
          <p:nvPr/>
        </p:nvSpPr>
        <p:spPr>
          <a:xfrm>
            <a:off x="8436925" y="3841500"/>
            <a:ext cx="966300" cy="3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aleway"/>
                <a:ea typeface="Raleway"/>
                <a:cs typeface="Raleway"/>
                <a:sym typeface="Raleway"/>
              </a:rPr>
              <a:t>0xE4A76</a:t>
            </a:r>
            <a:endParaRPr b="1">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par>
                                <p:cTn fill="hold" nodeType="withEffect" presetClass="entr" presetID="2" presetSubtype="4">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1500"/>
                                        <p:tgtEl>
                                          <p:spTgt spid="1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500"/>
                                        <p:tgtEl>
                                          <p:spTgt spid="1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1500"/>
                                        <p:tgtEl>
                                          <p:spTgt spid="1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1500"/>
                                        <p:tgtEl>
                                          <p:spTgt spid="1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1500"/>
                                        <p:tgtEl>
                                          <p:spTgt spid="1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1500"/>
                                        <p:tgtEl>
                                          <p:spTgt spid="1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1500"/>
                                        <p:tgtEl>
                                          <p:spTgt spid="1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1500"/>
                                        <p:tgtEl>
                                          <p:spTgt spid="1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1500"/>
                                        <p:tgtEl>
                                          <p:spTgt spid="1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1500"/>
                                        <p:tgtEl>
                                          <p:spTgt spid="14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1500"/>
                                        <p:tgtEl>
                                          <p:spTgt spid="14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1500"/>
                                        <p:tgtEl>
                                          <p:spTgt spid="1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500"/>
                                        <p:tgtEl>
                                          <p:spTgt spid="1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0"/>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Variable Declaration</a:t>
            </a:r>
            <a:endParaRPr b="1" sz="3600">
              <a:solidFill>
                <a:srgbClr val="434343"/>
              </a:solidFill>
              <a:latin typeface="Comic Sans MS"/>
              <a:ea typeface="Comic Sans MS"/>
              <a:cs typeface="Comic Sans MS"/>
              <a:sym typeface="Comic Sans MS"/>
            </a:endParaRPr>
          </a:p>
        </p:txBody>
      </p:sp>
      <p:cxnSp>
        <p:nvCxnSpPr>
          <p:cNvPr id="156" name="Google Shape;156;p2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57" name="Google Shape;157;p2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58" name="Google Shape;158;p2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p20"/>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When we declare a variable, it reserves memory for a specific data type.</a:t>
            </a:r>
            <a:endParaRPr b="1" sz="2400">
              <a:solidFill>
                <a:srgbClr val="404040"/>
              </a:solidFill>
              <a:latin typeface="Comic Sans MS"/>
              <a:ea typeface="Comic Sans MS"/>
              <a:cs typeface="Comic Sans MS"/>
              <a:sym typeface="Comic Sans MS"/>
            </a:endParaRPr>
          </a:p>
        </p:txBody>
      </p:sp>
      <p:sp>
        <p:nvSpPr>
          <p:cNvPr id="160" name="Google Shape;160;p20"/>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0"/>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sz="1700"/>
          </a:p>
        </p:txBody>
      </p:sp>
      <p:sp>
        <p:nvSpPr>
          <p:cNvPr id="163" name="Google Shape;163;p20"/>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0"/>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165" name="Google Shape;165;p20"/>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166" name="Google Shape;166;p20"/>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167" name="Google Shape;167;p20"/>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168" name="Google Shape;168;p20"/>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Variable Declaration</a:t>
            </a:r>
            <a:endParaRPr b="1" sz="3600">
              <a:solidFill>
                <a:srgbClr val="434343"/>
              </a:solidFill>
              <a:latin typeface="Comic Sans MS"/>
              <a:ea typeface="Comic Sans MS"/>
              <a:cs typeface="Comic Sans MS"/>
              <a:sym typeface="Comic Sans MS"/>
            </a:endParaRPr>
          </a:p>
        </p:txBody>
      </p:sp>
      <p:cxnSp>
        <p:nvCxnSpPr>
          <p:cNvPr id="174" name="Google Shape;174;p2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75" name="Google Shape;175;p2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76" name="Google Shape;176;p2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 name="Google Shape;177;p21"/>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When we declare a variable, it reserves memory for a specific datatype.</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For Example:</a:t>
            </a:r>
            <a:endParaRPr b="1" sz="2400">
              <a:solidFill>
                <a:srgbClr val="D15A12"/>
              </a:solidFill>
              <a:latin typeface="Comic Sans MS"/>
              <a:ea typeface="Comic Sans MS"/>
              <a:cs typeface="Comic Sans MS"/>
              <a:sym typeface="Comic Sans MS"/>
            </a:endParaRPr>
          </a:p>
        </p:txBody>
      </p:sp>
      <p:sp>
        <p:nvSpPr>
          <p:cNvPr id="178" name="Google Shape;178;p21"/>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1"/>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1"/>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sz="1700"/>
          </a:p>
        </p:txBody>
      </p:sp>
      <p:sp>
        <p:nvSpPr>
          <p:cNvPr id="181" name="Google Shape;181;p21"/>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183" name="Google Shape;183;p21"/>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184" name="Google Shape;184;p21"/>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185" name="Google Shape;185;p21"/>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186" name="Google Shape;186;p21"/>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187" name="Google Shape;187;p21"/>
          <p:cNvSpPr txBox="1"/>
          <p:nvPr/>
        </p:nvSpPr>
        <p:spPr>
          <a:xfrm>
            <a:off x="3051975" y="2199600"/>
            <a:ext cx="18150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a:t>
            </a:r>
            <a:r>
              <a:rPr b="1" lang="en" sz="2400">
                <a:solidFill>
                  <a:srgbClr val="404040"/>
                </a:solidFill>
                <a:latin typeface="Comic Sans MS"/>
                <a:ea typeface="Comic Sans MS"/>
                <a:cs typeface="Comic Sans MS"/>
                <a:sym typeface="Comic Sans MS"/>
              </a:rPr>
              <a:t> num;</a:t>
            </a:r>
            <a:endParaRPr b="1" sz="2400">
              <a:solidFill>
                <a:srgbClr val="404040"/>
              </a:solidFill>
              <a:latin typeface="Comic Sans MS"/>
              <a:ea typeface="Comic Sans MS"/>
              <a:cs typeface="Comic Sans MS"/>
              <a:sym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Variable Declaration</a:t>
            </a:r>
            <a:endParaRPr b="1" sz="3600">
              <a:solidFill>
                <a:srgbClr val="434343"/>
              </a:solidFill>
              <a:latin typeface="Comic Sans MS"/>
              <a:ea typeface="Comic Sans MS"/>
              <a:cs typeface="Comic Sans MS"/>
              <a:sym typeface="Comic Sans MS"/>
            </a:endParaRPr>
          </a:p>
        </p:txBody>
      </p:sp>
      <p:cxnSp>
        <p:nvCxnSpPr>
          <p:cNvPr id="193" name="Google Shape;193;p2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194" name="Google Shape;194;p2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195" name="Google Shape;195;p2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22"/>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When we declare a variable, it reserves memory for a specific datatype.</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For Example:</a:t>
            </a:r>
            <a:endParaRPr b="1" sz="2400">
              <a:solidFill>
                <a:srgbClr val="D15A12"/>
              </a:solidFill>
              <a:latin typeface="Comic Sans MS"/>
              <a:ea typeface="Comic Sans MS"/>
              <a:cs typeface="Comic Sans MS"/>
              <a:sym typeface="Comic Sans MS"/>
            </a:endParaRPr>
          </a:p>
        </p:txBody>
      </p:sp>
      <p:sp>
        <p:nvSpPr>
          <p:cNvPr id="197" name="Google Shape;197;p22"/>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sz="1700"/>
          </a:p>
        </p:txBody>
      </p:sp>
      <p:sp>
        <p:nvSpPr>
          <p:cNvPr id="200" name="Google Shape;200;p22"/>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2"/>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02" name="Google Shape;202;p22"/>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203" name="Google Shape;203;p22"/>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204" name="Google Shape;204;p22"/>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05" name="Google Shape;205;p22"/>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06" name="Google Shape;206;p22"/>
          <p:cNvSpPr txBox="1"/>
          <p:nvPr/>
        </p:nvSpPr>
        <p:spPr>
          <a:xfrm>
            <a:off x="3051975" y="2199600"/>
            <a:ext cx="18150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a:t>
            </a:r>
            <a:r>
              <a:rPr b="1" lang="en" sz="2400">
                <a:solidFill>
                  <a:srgbClr val="404040"/>
                </a:solidFill>
                <a:latin typeface="Comic Sans MS"/>
                <a:ea typeface="Comic Sans MS"/>
                <a:cs typeface="Comic Sans MS"/>
                <a:sym typeface="Comic Sans MS"/>
              </a:rPr>
              <a:t> num;</a:t>
            </a:r>
            <a:endParaRPr b="1" sz="2400">
              <a:solidFill>
                <a:srgbClr val="404040"/>
              </a:solidFill>
              <a:latin typeface="Comic Sans MS"/>
              <a:ea typeface="Comic Sans MS"/>
              <a:cs typeface="Comic Sans MS"/>
              <a:sym typeface="Comic Sans MS"/>
            </a:endParaRPr>
          </a:p>
        </p:txBody>
      </p:sp>
      <p:sp>
        <p:nvSpPr>
          <p:cNvPr id="207" name="Google Shape;207;p22"/>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Variable initialization</a:t>
            </a:r>
            <a:endParaRPr b="1" sz="3600">
              <a:solidFill>
                <a:srgbClr val="434343"/>
              </a:solidFill>
              <a:latin typeface="Comic Sans MS"/>
              <a:ea typeface="Comic Sans MS"/>
              <a:cs typeface="Comic Sans MS"/>
              <a:sym typeface="Comic Sans MS"/>
            </a:endParaRPr>
          </a:p>
        </p:txBody>
      </p:sp>
      <p:cxnSp>
        <p:nvCxnSpPr>
          <p:cNvPr id="213" name="Google Shape;213;p2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14" name="Google Shape;214;p2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15" name="Google Shape;215;p2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23"/>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When we declare a variable, it reserves memory for a specific datatype.</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For Example:</a:t>
            </a:r>
            <a:endParaRPr b="1" sz="2400">
              <a:solidFill>
                <a:srgbClr val="D15A12"/>
              </a:solidFill>
              <a:latin typeface="Comic Sans MS"/>
              <a:ea typeface="Comic Sans MS"/>
              <a:cs typeface="Comic Sans MS"/>
              <a:sym typeface="Comic Sans MS"/>
            </a:endParaRPr>
          </a:p>
        </p:txBody>
      </p:sp>
      <p:sp>
        <p:nvSpPr>
          <p:cNvPr id="217" name="Google Shape;217;p23"/>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3"/>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20" name="Google Shape;220;p23"/>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22" name="Google Shape;222;p23"/>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223" name="Google Shape;223;p23"/>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224" name="Google Shape;224;p23"/>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25" name="Google Shape;225;p23"/>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26" name="Google Shape;226;p23"/>
          <p:cNvSpPr txBox="1"/>
          <p:nvPr/>
        </p:nvSpPr>
        <p:spPr>
          <a:xfrm>
            <a:off x="3051975" y="21996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a:t>
            </a:r>
            <a:r>
              <a:rPr b="1" lang="en" sz="2400">
                <a:solidFill>
                  <a:srgbClr val="404040"/>
                </a:solidFill>
                <a:latin typeface="Comic Sans MS"/>
                <a:ea typeface="Comic Sans MS"/>
                <a:cs typeface="Comic Sans MS"/>
                <a:sym typeface="Comic Sans MS"/>
              </a:rPr>
              <a:t> num = 5;</a:t>
            </a:r>
            <a:endParaRPr b="1" sz="2400">
              <a:solidFill>
                <a:srgbClr val="404040"/>
              </a:solidFill>
              <a:latin typeface="Comic Sans MS"/>
              <a:ea typeface="Comic Sans MS"/>
              <a:cs typeface="Comic Sans MS"/>
              <a:sym typeface="Comic Sans MS"/>
            </a:endParaRPr>
          </a:p>
        </p:txBody>
      </p:sp>
      <p:sp>
        <p:nvSpPr>
          <p:cNvPr id="227" name="Google Shape;227;p23"/>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4"/>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Display the contents of cell</a:t>
            </a:r>
            <a:endParaRPr b="1" sz="3600">
              <a:solidFill>
                <a:srgbClr val="434343"/>
              </a:solidFill>
              <a:latin typeface="Comic Sans MS"/>
              <a:ea typeface="Comic Sans MS"/>
              <a:cs typeface="Comic Sans MS"/>
              <a:sym typeface="Comic Sans MS"/>
            </a:endParaRPr>
          </a:p>
        </p:txBody>
      </p:sp>
      <p:cxnSp>
        <p:nvCxnSpPr>
          <p:cNvPr id="233" name="Google Shape;233;p2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34" name="Google Shape;234;p2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35" name="Google Shape;235;p2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24"/>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Now, if we want to display the contents of the cell then we can use the variable to see the contents of the memory.</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For Example:</a:t>
            </a:r>
            <a:endParaRPr b="1" sz="2400">
              <a:solidFill>
                <a:srgbClr val="D15A12"/>
              </a:solidFill>
              <a:latin typeface="Comic Sans MS"/>
              <a:ea typeface="Comic Sans MS"/>
              <a:cs typeface="Comic Sans MS"/>
              <a:sym typeface="Comic Sans MS"/>
            </a:endParaRPr>
          </a:p>
        </p:txBody>
      </p:sp>
      <p:sp>
        <p:nvSpPr>
          <p:cNvPr id="237" name="Google Shape;237;p24"/>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4"/>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4"/>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40" name="Google Shape;240;p24"/>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42" name="Google Shape;242;p24"/>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243" name="Google Shape;243;p24"/>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244" name="Google Shape;244;p24"/>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45" name="Google Shape;245;p24"/>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46" name="Google Shape;246;p24"/>
          <p:cNvSpPr txBox="1"/>
          <p:nvPr/>
        </p:nvSpPr>
        <p:spPr>
          <a:xfrm>
            <a:off x="3051975" y="21996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cout </a:t>
            </a:r>
            <a:r>
              <a:rPr b="1" lang="en" sz="2400">
                <a:solidFill>
                  <a:srgbClr val="434343"/>
                </a:solidFill>
                <a:latin typeface="Comic Sans MS"/>
                <a:ea typeface="Comic Sans MS"/>
                <a:cs typeface="Comic Sans MS"/>
                <a:sym typeface="Comic Sans MS"/>
              </a:rPr>
              <a:t>&lt;&lt;</a:t>
            </a:r>
            <a:r>
              <a:rPr b="1" lang="en" sz="2400">
                <a:solidFill>
                  <a:srgbClr val="404040"/>
                </a:solidFill>
                <a:latin typeface="Comic Sans MS"/>
                <a:ea typeface="Comic Sans MS"/>
                <a:cs typeface="Comic Sans MS"/>
                <a:sym typeface="Comic Sans MS"/>
              </a:rPr>
              <a:t> num;</a:t>
            </a:r>
            <a:endParaRPr b="1" sz="2400">
              <a:solidFill>
                <a:srgbClr val="404040"/>
              </a:solidFill>
              <a:latin typeface="Comic Sans MS"/>
              <a:ea typeface="Comic Sans MS"/>
              <a:cs typeface="Comic Sans MS"/>
              <a:sym typeface="Comic Sans MS"/>
            </a:endParaRPr>
          </a:p>
        </p:txBody>
      </p:sp>
      <p:sp>
        <p:nvSpPr>
          <p:cNvPr id="247" name="Google Shape;247;p24"/>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Review: </a:t>
            </a:r>
            <a:r>
              <a:rPr b="1" lang="en" sz="3600">
                <a:solidFill>
                  <a:srgbClr val="434343"/>
                </a:solidFill>
                <a:latin typeface="Comic Sans MS"/>
                <a:ea typeface="Comic Sans MS"/>
                <a:cs typeface="Comic Sans MS"/>
                <a:sym typeface="Comic Sans MS"/>
              </a:rPr>
              <a:t>Display the contents of cell</a:t>
            </a:r>
            <a:endParaRPr b="1" sz="3600">
              <a:solidFill>
                <a:srgbClr val="434343"/>
              </a:solidFill>
              <a:latin typeface="Comic Sans MS"/>
              <a:ea typeface="Comic Sans MS"/>
              <a:cs typeface="Comic Sans MS"/>
              <a:sym typeface="Comic Sans MS"/>
            </a:endParaRPr>
          </a:p>
        </p:txBody>
      </p:sp>
      <p:cxnSp>
        <p:nvCxnSpPr>
          <p:cNvPr id="253" name="Google Shape;253;p2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54" name="Google Shape;254;p2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55" name="Google Shape;255;p2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6" name="Google Shape;256;p25"/>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Now, if we want to display the contents of the cell then we can use the variable to see the contents of the memory.</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For Example:</a:t>
            </a:r>
            <a:endParaRPr b="1" sz="2400">
              <a:solidFill>
                <a:srgbClr val="D15A12"/>
              </a:solidFill>
              <a:latin typeface="Comic Sans MS"/>
              <a:ea typeface="Comic Sans MS"/>
              <a:cs typeface="Comic Sans MS"/>
              <a:sym typeface="Comic Sans MS"/>
            </a:endParaRPr>
          </a:p>
        </p:txBody>
      </p:sp>
      <p:sp>
        <p:nvSpPr>
          <p:cNvPr id="257" name="Google Shape;257;p25"/>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60" name="Google Shape;260;p25"/>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5"/>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62" name="Google Shape;262;p25"/>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263" name="Google Shape;263;p25"/>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264" name="Google Shape;264;p25"/>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65" name="Google Shape;265;p25"/>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66" name="Google Shape;266;p25"/>
          <p:cNvSpPr txBox="1"/>
          <p:nvPr/>
        </p:nvSpPr>
        <p:spPr>
          <a:xfrm>
            <a:off x="3051975" y="21996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cout </a:t>
            </a:r>
            <a:r>
              <a:rPr b="1" lang="en" sz="2400">
                <a:solidFill>
                  <a:srgbClr val="434343"/>
                </a:solidFill>
                <a:latin typeface="Comic Sans MS"/>
                <a:ea typeface="Comic Sans MS"/>
                <a:cs typeface="Comic Sans MS"/>
                <a:sym typeface="Comic Sans MS"/>
              </a:rPr>
              <a:t>&lt;&lt;</a:t>
            </a:r>
            <a:r>
              <a:rPr b="1" lang="en" sz="2400">
                <a:solidFill>
                  <a:srgbClr val="404040"/>
                </a:solidFill>
                <a:latin typeface="Comic Sans MS"/>
                <a:ea typeface="Comic Sans MS"/>
                <a:cs typeface="Comic Sans MS"/>
                <a:sym typeface="Comic Sans MS"/>
              </a:rPr>
              <a:t> num;</a:t>
            </a:r>
            <a:endParaRPr b="1" sz="2400">
              <a:solidFill>
                <a:srgbClr val="404040"/>
              </a:solidFill>
              <a:latin typeface="Comic Sans MS"/>
              <a:ea typeface="Comic Sans MS"/>
              <a:cs typeface="Comic Sans MS"/>
              <a:sym typeface="Comic Sans MS"/>
            </a:endParaRPr>
          </a:p>
        </p:txBody>
      </p:sp>
      <p:sp>
        <p:nvSpPr>
          <p:cNvPr id="267" name="Google Shape;267;p25"/>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pic>
        <p:nvPicPr>
          <p:cNvPr id="268" name="Google Shape;268;p25"/>
          <p:cNvPicPr preferRelativeResize="0"/>
          <p:nvPr/>
        </p:nvPicPr>
        <p:blipFill>
          <a:blip r:embed="rId3">
            <a:alphaModFix/>
          </a:blip>
          <a:stretch>
            <a:fillRect/>
          </a:stretch>
        </p:blipFill>
        <p:spPr>
          <a:xfrm>
            <a:off x="152400" y="3079200"/>
            <a:ext cx="3686175" cy="1476375"/>
          </a:xfrm>
          <a:prstGeom prst="rect">
            <a:avLst/>
          </a:prstGeom>
          <a:noFill/>
          <a:ln cap="flat" cmpd="sng" w="28575">
            <a:solidFill>
              <a:srgbClr val="434343"/>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6"/>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Display the address of cell</a:t>
            </a:r>
            <a:endParaRPr b="1" sz="3600">
              <a:solidFill>
                <a:srgbClr val="434343"/>
              </a:solidFill>
              <a:latin typeface="Comic Sans MS"/>
              <a:ea typeface="Comic Sans MS"/>
              <a:cs typeface="Comic Sans MS"/>
              <a:sym typeface="Comic Sans MS"/>
            </a:endParaRPr>
          </a:p>
        </p:txBody>
      </p:sp>
      <p:cxnSp>
        <p:nvCxnSpPr>
          <p:cNvPr id="274" name="Google Shape;274;p2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75" name="Google Shape;275;p2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76" name="Google Shape;276;p2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 name="Google Shape;277;p26"/>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say for some reason we want to see the </a:t>
            </a:r>
            <a:r>
              <a:rPr b="1" lang="en" sz="2400">
                <a:solidFill>
                  <a:srgbClr val="D15A12"/>
                </a:solidFill>
                <a:latin typeface="Comic Sans MS"/>
                <a:ea typeface="Comic Sans MS"/>
                <a:cs typeface="Comic Sans MS"/>
                <a:sym typeface="Comic Sans MS"/>
              </a:rPr>
              <a:t>address (</a:t>
            </a:r>
            <a:r>
              <a:rPr b="1" lang="en" sz="2400">
                <a:solidFill>
                  <a:srgbClr val="434343"/>
                </a:solidFill>
                <a:latin typeface="Comic Sans MS"/>
                <a:ea typeface="Comic Sans MS"/>
                <a:cs typeface="Comic Sans MS"/>
                <a:sym typeface="Comic Sans MS"/>
              </a:rPr>
              <a:t>0xE4A73</a:t>
            </a:r>
            <a:r>
              <a:rPr b="1" lang="en" sz="2400">
                <a:solidFill>
                  <a:srgbClr val="D15A12"/>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 of the cell.</a:t>
            </a:r>
            <a:endParaRPr b="1" sz="2400">
              <a:solidFill>
                <a:srgbClr val="D15A12"/>
              </a:solidFill>
              <a:latin typeface="Comic Sans MS"/>
              <a:ea typeface="Comic Sans MS"/>
              <a:cs typeface="Comic Sans MS"/>
              <a:sym typeface="Comic Sans MS"/>
            </a:endParaRPr>
          </a:p>
        </p:txBody>
      </p:sp>
      <p:sp>
        <p:nvSpPr>
          <p:cNvPr id="278" name="Google Shape;278;p26"/>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6"/>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281" name="Google Shape;281;p26"/>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6"/>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283" name="Google Shape;283;p26"/>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284" name="Google Shape;284;p26"/>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285" name="Google Shape;285;p26"/>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286" name="Google Shape;286;p26"/>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287" name="Google Shape;287;p26"/>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7"/>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Display the address of cell</a:t>
            </a:r>
            <a:endParaRPr b="1" sz="3600">
              <a:solidFill>
                <a:srgbClr val="434343"/>
              </a:solidFill>
              <a:latin typeface="Comic Sans MS"/>
              <a:ea typeface="Comic Sans MS"/>
              <a:cs typeface="Comic Sans MS"/>
              <a:sym typeface="Comic Sans MS"/>
            </a:endParaRPr>
          </a:p>
        </p:txBody>
      </p:sp>
      <p:cxnSp>
        <p:nvCxnSpPr>
          <p:cNvPr id="293" name="Google Shape;293;p2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294" name="Google Shape;294;p2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295" name="Google Shape;295;p2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 name="Google Shape;296;p27"/>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say for some reason we want to see the </a:t>
            </a:r>
            <a:r>
              <a:rPr b="1" lang="en" sz="2400">
                <a:solidFill>
                  <a:srgbClr val="D15A12"/>
                </a:solidFill>
                <a:latin typeface="Comic Sans MS"/>
                <a:ea typeface="Comic Sans MS"/>
                <a:cs typeface="Comic Sans MS"/>
                <a:sym typeface="Comic Sans MS"/>
              </a:rPr>
              <a:t>address (</a:t>
            </a:r>
            <a:r>
              <a:rPr b="1" lang="en" sz="2400">
                <a:solidFill>
                  <a:srgbClr val="434343"/>
                </a:solidFill>
                <a:latin typeface="Comic Sans MS"/>
                <a:ea typeface="Comic Sans MS"/>
                <a:cs typeface="Comic Sans MS"/>
                <a:sym typeface="Comic Sans MS"/>
              </a:rPr>
              <a:t>0xE4A73</a:t>
            </a:r>
            <a:r>
              <a:rPr b="1" lang="en" sz="2400">
                <a:solidFill>
                  <a:srgbClr val="D15A12"/>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 of the cell.</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For that we write </a:t>
            </a:r>
            <a:r>
              <a:rPr b="1" lang="en" sz="2400">
                <a:solidFill>
                  <a:srgbClr val="D15A12"/>
                </a:solidFill>
                <a:latin typeface="Comic Sans MS"/>
                <a:ea typeface="Comic Sans MS"/>
                <a:cs typeface="Comic Sans MS"/>
                <a:sym typeface="Comic Sans MS"/>
              </a:rPr>
              <a:t>&amp;</a:t>
            </a:r>
            <a:r>
              <a:rPr b="1" lang="en" sz="2400">
                <a:solidFill>
                  <a:srgbClr val="404040"/>
                </a:solidFill>
                <a:latin typeface="Comic Sans MS"/>
                <a:ea typeface="Comic Sans MS"/>
                <a:cs typeface="Comic Sans MS"/>
                <a:sym typeface="Comic Sans MS"/>
              </a:rPr>
              <a:t> before the</a:t>
            </a:r>
            <a:br>
              <a:rPr b="1" lang="en" sz="2400">
                <a:solidFill>
                  <a:srgbClr val="404040"/>
                </a:solidFill>
                <a:latin typeface="Comic Sans MS"/>
                <a:ea typeface="Comic Sans MS"/>
                <a:cs typeface="Comic Sans MS"/>
                <a:sym typeface="Comic Sans MS"/>
              </a:rPr>
            </a:br>
            <a:r>
              <a:rPr b="1" lang="en" sz="2400">
                <a:solidFill>
                  <a:srgbClr val="404040"/>
                </a:solidFill>
                <a:latin typeface="Comic Sans MS"/>
                <a:ea typeface="Comic Sans MS"/>
                <a:cs typeface="Comic Sans MS"/>
                <a:sym typeface="Comic Sans MS"/>
              </a:rPr>
              <a:t>Variable name.</a:t>
            </a:r>
            <a:endParaRPr b="1" sz="2400">
              <a:solidFill>
                <a:srgbClr val="404040"/>
              </a:solidFill>
              <a:latin typeface="Comic Sans MS"/>
              <a:ea typeface="Comic Sans MS"/>
              <a:cs typeface="Comic Sans MS"/>
              <a:sym typeface="Comic Sans MS"/>
            </a:endParaRPr>
          </a:p>
        </p:txBody>
      </p:sp>
      <p:sp>
        <p:nvSpPr>
          <p:cNvPr id="297" name="Google Shape;297;p27"/>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00" name="Google Shape;300;p27"/>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02" name="Google Shape;302;p27"/>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303" name="Google Shape;303;p27"/>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304" name="Google Shape;304;p27"/>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305" name="Google Shape;305;p27"/>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06" name="Google Shape;306;p27"/>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8"/>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Display the address of cell</a:t>
            </a:r>
            <a:endParaRPr b="1" sz="3600">
              <a:solidFill>
                <a:srgbClr val="434343"/>
              </a:solidFill>
              <a:latin typeface="Comic Sans MS"/>
              <a:ea typeface="Comic Sans MS"/>
              <a:cs typeface="Comic Sans MS"/>
              <a:sym typeface="Comic Sans MS"/>
            </a:endParaRPr>
          </a:p>
        </p:txBody>
      </p:sp>
      <p:cxnSp>
        <p:nvCxnSpPr>
          <p:cNvPr id="312" name="Google Shape;312;p2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13" name="Google Shape;313;p2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14" name="Google Shape;314;p2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5" name="Google Shape;315;p28"/>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say for some reason we we want to see the </a:t>
            </a:r>
            <a:r>
              <a:rPr b="1" lang="en" sz="2400">
                <a:solidFill>
                  <a:srgbClr val="D15A12"/>
                </a:solidFill>
                <a:latin typeface="Comic Sans MS"/>
                <a:ea typeface="Comic Sans MS"/>
                <a:cs typeface="Comic Sans MS"/>
                <a:sym typeface="Comic Sans MS"/>
              </a:rPr>
              <a:t>address (</a:t>
            </a:r>
            <a:r>
              <a:rPr b="1" lang="en" sz="2400">
                <a:solidFill>
                  <a:srgbClr val="434343"/>
                </a:solidFill>
                <a:latin typeface="Comic Sans MS"/>
                <a:ea typeface="Comic Sans MS"/>
                <a:cs typeface="Comic Sans MS"/>
                <a:sym typeface="Comic Sans MS"/>
              </a:rPr>
              <a:t>0xE4A73</a:t>
            </a:r>
            <a:r>
              <a:rPr b="1" lang="en" sz="2400">
                <a:solidFill>
                  <a:srgbClr val="D15A12"/>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 of the cell.</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For that we write </a:t>
            </a:r>
            <a:r>
              <a:rPr b="1" lang="en" sz="2400">
                <a:solidFill>
                  <a:srgbClr val="D15A12"/>
                </a:solidFill>
                <a:latin typeface="Comic Sans MS"/>
                <a:ea typeface="Comic Sans MS"/>
                <a:cs typeface="Comic Sans MS"/>
                <a:sym typeface="Comic Sans MS"/>
              </a:rPr>
              <a:t>&amp;</a:t>
            </a:r>
            <a:r>
              <a:rPr b="1" lang="en" sz="2400">
                <a:solidFill>
                  <a:srgbClr val="404040"/>
                </a:solidFill>
                <a:latin typeface="Comic Sans MS"/>
                <a:ea typeface="Comic Sans MS"/>
                <a:cs typeface="Comic Sans MS"/>
                <a:sym typeface="Comic Sans MS"/>
              </a:rPr>
              <a:t> before the</a:t>
            </a:r>
            <a:br>
              <a:rPr b="1" lang="en" sz="2400">
                <a:solidFill>
                  <a:srgbClr val="404040"/>
                </a:solidFill>
                <a:latin typeface="Comic Sans MS"/>
                <a:ea typeface="Comic Sans MS"/>
                <a:cs typeface="Comic Sans MS"/>
                <a:sym typeface="Comic Sans MS"/>
              </a:rPr>
            </a:br>
            <a:r>
              <a:rPr b="1" lang="en" sz="2400">
                <a:solidFill>
                  <a:srgbClr val="404040"/>
                </a:solidFill>
                <a:latin typeface="Comic Sans MS"/>
                <a:ea typeface="Comic Sans MS"/>
                <a:cs typeface="Comic Sans MS"/>
                <a:sym typeface="Comic Sans MS"/>
              </a:rPr>
              <a:t>Variable name.</a:t>
            </a:r>
            <a:endParaRPr b="1" sz="2400">
              <a:solidFill>
                <a:srgbClr val="404040"/>
              </a:solidFill>
              <a:latin typeface="Comic Sans MS"/>
              <a:ea typeface="Comic Sans MS"/>
              <a:cs typeface="Comic Sans MS"/>
              <a:sym typeface="Comic Sans MS"/>
            </a:endParaRPr>
          </a:p>
        </p:txBody>
      </p:sp>
      <p:sp>
        <p:nvSpPr>
          <p:cNvPr id="316" name="Google Shape;316;p28"/>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8"/>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8"/>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19" name="Google Shape;319;p28"/>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21" name="Google Shape;321;p28"/>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322" name="Google Shape;322;p28"/>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323" name="Google Shape;323;p28"/>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324" name="Google Shape;324;p28"/>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25" name="Google Shape;325;p28"/>
          <p:cNvSpPr txBox="1"/>
          <p:nvPr/>
        </p:nvSpPr>
        <p:spPr>
          <a:xfrm>
            <a:off x="3051975" y="34950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cout </a:t>
            </a:r>
            <a:r>
              <a:rPr b="1" lang="en" sz="2400">
                <a:solidFill>
                  <a:srgbClr val="434343"/>
                </a:solidFill>
                <a:latin typeface="Comic Sans MS"/>
                <a:ea typeface="Comic Sans MS"/>
                <a:cs typeface="Comic Sans MS"/>
                <a:sym typeface="Comic Sans MS"/>
              </a:rPr>
              <a:t>&lt;&lt;</a:t>
            </a:r>
            <a:r>
              <a:rPr b="1" lang="en" sz="2400">
                <a:solidFill>
                  <a:srgbClr val="404040"/>
                </a:solidFill>
                <a:latin typeface="Comic Sans MS"/>
                <a:ea typeface="Comic Sans MS"/>
                <a:cs typeface="Comic Sans MS"/>
                <a:sym typeface="Comic Sans MS"/>
              </a:rPr>
              <a:t> &amp;num;</a:t>
            </a:r>
            <a:endParaRPr b="1" sz="2400">
              <a:solidFill>
                <a:srgbClr val="404040"/>
              </a:solidFill>
              <a:latin typeface="Comic Sans MS"/>
              <a:ea typeface="Comic Sans MS"/>
              <a:cs typeface="Comic Sans MS"/>
              <a:sym typeface="Comic Sans MS"/>
            </a:endParaRPr>
          </a:p>
        </p:txBody>
      </p:sp>
      <p:sp>
        <p:nvSpPr>
          <p:cNvPr id="326" name="Google Shape;326;p28"/>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9"/>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Display the address of cell</a:t>
            </a:r>
            <a:endParaRPr b="1" sz="3600">
              <a:solidFill>
                <a:srgbClr val="434343"/>
              </a:solidFill>
              <a:latin typeface="Comic Sans MS"/>
              <a:ea typeface="Comic Sans MS"/>
              <a:cs typeface="Comic Sans MS"/>
              <a:sym typeface="Comic Sans MS"/>
            </a:endParaRPr>
          </a:p>
        </p:txBody>
      </p:sp>
      <p:cxnSp>
        <p:nvCxnSpPr>
          <p:cNvPr id="332" name="Google Shape;332;p2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33" name="Google Shape;333;p2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34" name="Google Shape;334;p2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5" name="Google Shape;335;p29"/>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say for some reason we want to see the </a:t>
            </a:r>
            <a:r>
              <a:rPr b="1" lang="en" sz="2400">
                <a:solidFill>
                  <a:srgbClr val="D15A12"/>
                </a:solidFill>
                <a:latin typeface="Comic Sans MS"/>
                <a:ea typeface="Comic Sans MS"/>
                <a:cs typeface="Comic Sans MS"/>
                <a:sym typeface="Comic Sans MS"/>
              </a:rPr>
              <a:t>address (</a:t>
            </a:r>
            <a:r>
              <a:rPr b="1" lang="en" sz="2400">
                <a:solidFill>
                  <a:srgbClr val="434343"/>
                </a:solidFill>
                <a:latin typeface="Comic Sans MS"/>
                <a:ea typeface="Comic Sans MS"/>
                <a:cs typeface="Comic Sans MS"/>
                <a:sym typeface="Comic Sans MS"/>
              </a:rPr>
              <a:t>0xE4A73</a:t>
            </a:r>
            <a:r>
              <a:rPr b="1" lang="en" sz="2400">
                <a:solidFill>
                  <a:srgbClr val="D15A12"/>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 of the cell.</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For that we write </a:t>
            </a:r>
            <a:r>
              <a:rPr b="1" lang="en" sz="2400">
                <a:solidFill>
                  <a:srgbClr val="D15A12"/>
                </a:solidFill>
                <a:latin typeface="Comic Sans MS"/>
                <a:ea typeface="Comic Sans MS"/>
                <a:cs typeface="Comic Sans MS"/>
                <a:sym typeface="Comic Sans MS"/>
              </a:rPr>
              <a:t>&amp;</a:t>
            </a:r>
            <a:r>
              <a:rPr b="1" lang="en" sz="2400">
                <a:solidFill>
                  <a:srgbClr val="404040"/>
                </a:solidFill>
                <a:latin typeface="Comic Sans MS"/>
                <a:ea typeface="Comic Sans MS"/>
                <a:cs typeface="Comic Sans MS"/>
                <a:sym typeface="Comic Sans MS"/>
              </a:rPr>
              <a:t> before the</a:t>
            </a:r>
            <a:br>
              <a:rPr b="1" lang="en" sz="2400">
                <a:solidFill>
                  <a:srgbClr val="404040"/>
                </a:solidFill>
                <a:latin typeface="Comic Sans MS"/>
                <a:ea typeface="Comic Sans MS"/>
                <a:cs typeface="Comic Sans MS"/>
                <a:sym typeface="Comic Sans MS"/>
              </a:rPr>
            </a:br>
            <a:r>
              <a:rPr b="1" lang="en" sz="2400">
                <a:solidFill>
                  <a:srgbClr val="404040"/>
                </a:solidFill>
                <a:latin typeface="Comic Sans MS"/>
                <a:ea typeface="Comic Sans MS"/>
                <a:cs typeface="Comic Sans MS"/>
                <a:sym typeface="Comic Sans MS"/>
              </a:rPr>
              <a:t>Variable name.</a:t>
            </a:r>
            <a:endParaRPr b="1" sz="2400">
              <a:solidFill>
                <a:srgbClr val="404040"/>
              </a:solidFill>
              <a:latin typeface="Comic Sans MS"/>
              <a:ea typeface="Comic Sans MS"/>
              <a:cs typeface="Comic Sans MS"/>
              <a:sym typeface="Comic Sans MS"/>
            </a:endParaRPr>
          </a:p>
        </p:txBody>
      </p:sp>
      <p:sp>
        <p:nvSpPr>
          <p:cNvPr id="336" name="Google Shape;336;p29"/>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9"/>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9"/>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39" name="Google Shape;339;p29"/>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9"/>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41" name="Google Shape;341;p29"/>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342" name="Google Shape;342;p29"/>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343" name="Google Shape;343;p29"/>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344" name="Google Shape;344;p29"/>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45" name="Google Shape;345;p29"/>
          <p:cNvSpPr txBox="1"/>
          <p:nvPr/>
        </p:nvSpPr>
        <p:spPr>
          <a:xfrm>
            <a:off x="3051975" y="34950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cout </a:t>
            </a:r>
            <a:r>
              <a:rPr b="1" lang="en" sz="2400">
                <a:solidFill>
                  <a:srgbClr val="434343"/>
                </a:solidFill>
                <a:latin typeface="Comic Sans MS"/>
                <a:ea typeface="Comic Sans MS"/>
                <a:cs typeface="Comic Sans MS"/>
                <a:sym typeface="Comic Sans MS"/>
              </a:rPr>
              <a:t>&lt;&lt;</a:t>
            </a:r>
            <a:r>
              <a:rPr b="1" lang="en" sz="2400">
                <a:solidFill>
                  <a:srgbClr val="404040"/>
                </a:solidFill>
                <a:latin typeface="Comic Sans MS"/>
                <a:ea typeface="Comic Sans MS"/>
                <a:cs typeface="Comic Sans MS"/>
                <a:sym typeface="Comic Sans MS"/>
              </a:rPr>
              <a:t> &amp;num;</a:t>
            </a:r>
            <a:endParaRPr b="1" sz="2400">
              <a:solidFill>
                <a:srgbClr val="404040"/>
              </a:solidFill>
              <a:latin typeface="Comic Sans MS"/>
              <a:ea typeface="Comic Sans MS"/>
              <a:cs typeface="Comic Sans MS"/>
              <a:sym typeface="Comic Sans MS"/>
            </a:endParaRPr>
          </a:p>
        </p:txBody>
      </p:sp>
      <p:sp>
        <p:nvSpPr>
          <p:cNvPr id="346" name="Google Shape;346;p29"/>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pic>
        <p:nvPicPr>
          <p:cNvPr id="347" name="Google Shape;347;p29"/>
          <p:cNvPicPr preferRelativeResize="0"/>
          <p:nvPr/>
        </p:nvPicPr>
        <p:blipFill rotWithShape="1">
          <a:blip r:embed="rId3">
            <a:alphaModFix/>
          </a:blip>
          <a:srcRect b="0" l="0" r="12990" t="0"/>
          <a:stretch/>
        </p:blipFill>
        <p:spPr>
          <a:xfrm>
            <a:off x="0" y="3840725"/>
            <a:ext cx="2846175" cy="1024225"/>
          </a:xfrm>
          <a:prstGeom prst="rect">
            <a:avLst/>
          </a:prstGeom>
          <a:noFill/>
          <a:ln cap="flat" cmpd="sng" w="28575">
            <a:solidFill>
              <a:srgbClr val="434343"/>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0"/>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a:t>
            </a:r>
            <a:endParaRPr b="1" sz="3600">
              <a:solidFill>
                <a:srgbClr val="434343"/>
              </a:solidFill>
              <a:latin typeface="Comic Sans MS"/>
              <a:ea typeface="Comic Sans MS"/>
              <a:cs typeface="Comic Sans MS"/>
              <a:sym typeface="Comic Sans MS"/>
            </a:endParaRPr>
          </a:p>
        </p:txBody>
      </p:sp>
      <p:cxnSp>
        <p:nvCxnSpPr>
          <p:cNvPr id="353" name="Google Shape;353;p3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54" name="Google Shape;354;p3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55" name="Google Shape;355;p3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6" name="Google Shape;356;p30"/>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Before moving further, can anyone tell What is the role of a </a:t>
            </a:r>
            <a:r>
              <a:rPr b="1" lang="en" sz="2400">
                <a:solidFill>
                  <a:srgbClr val="D15A12"/>
                </a:solidFill>
                <a:latin typeface="Comic Sans MS"/>
                <a:ea typeface="Comic Sans MS"/>
                <a:cs typeface="Comic Sans MS"/>
                <a:sym typeface="Comic Sans MS"/>
              </a:rPr>
              <a:t>Pointer</a:t>
            </a:r>
            <a:r>
              <a:rPr b="1" lang="en" sz="2400">
                <a:solidFill>
                  <a:srgbClr val="404040"/>
                </a:solidFill>
                <a:latin typeface="Comic Sans MS"/>
                <a:ea typeface="Comic Sans MS"/>
                <a:cs typeface="Comic Sans MS"/>
                <a:sym typeface="Comic Sans MS"/>
              </a:rPr>
              <a:t>?</a:t>
            </a:r>
            <a:endParaRPr b="1" sz="2400">
              <a:solidFill>
                <a:srgbClr val="404040"/>
              </a:solidFill>
              <a:latin typeface="Comic Sans MS"/>
              <a:ea typeface="Comic Sans MS"/>
              <a:cs typeface="Comic Sans MS"/>
              <a:sym typeface="Comic Sans MS"/>
            </a:endParaRPr>
          </a:p>
        </p:txBody>
      </p:sp>
      <p:pic>
        <p:nvPicPr>
          <p:cNvPr id="357" name="Google Shape;357;p30"/>
          <p:cNvPicPr preferRelativeResize="0"/>
          <p:nvPr/>
        </p:nvPicPr>
        <p:blipFill rotWithShape="1">
          <a:blip r:embed="rId3">
            <a:alphaModFix/>
          </a:blip>
          <a:srcRect b="17005" l="0" r="0" t="0"/>
          <a:stretch/>
        </p:blipFill>
        <p:spPr>
          <a:xfrm>
            <a:off x="2286000" y="1619525"/>
            <a:ext cx="3386900" cy="2810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1"/>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a:t>
            </a:r>
            <a:endParaRPr b="1" sz="3600">
              <a:solidFill>
                <a:srgbClr val="434343"/>
              </a:solidFill>
              <a:latin typeface="Comic Sans MS"/>
              <a:ea typeface="Comic Sans MS"/>
              <a:cs typeface="Comic Sans MS"/>
              <a:sym typeface="Comic Sans MS"/>
            </a:endParaRPr>
          </a:p>
        </p:txBody>
      </p:sp>
      <p:cxnSp>
        <p:nvCxnSpPr>
          <p:cNvPr id="363" name="Google Shape;363;p3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64" name="Google Shape;364;p3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65" name="Google Shape;365;p3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6" name="Google Shape;366;p31"/>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Pointer just </a:t>
            </a:r>
            <a:r>
              <a:rPr b="1" lang="en" sz="2400">
                <a:solidFill>
                  <a:srgbClr val="D15A12"/>
                </a:solidFill>
                <a:latin typeface="Comic Sans MS"/>
                <a:ea typeface="Comic Sans MS"/>
                <a:cs typeface="Comic Sans MS"/>
                <a:sym typeface="Comic Sans MS"/>
              </a:rPr>
              <a:t>points</a:t>
            </a:r>
            <a:r>
              <a:rPr b="1" lang="en" sz="2400">
                <a:solidFill>
                  <a:srgbClr val="404040"/>
                </a:solidFill>
                <a:latin typeface="Comic Sans MS"/>
                <a:ea typeface="Comic Sans MS"/>
                <a:cs typeface="Comic Sans MS"/>
                <a:sym typeface="Comic Sans MS"/>
              </a:rPr>
              <a:t> towards something.</a:t>
            </a:r>
            <a:endParaRPr b="1" sz="2400">
              <a:solidFill>
                <a:srgbClr val="404040"/>
              </a:solidFill>
              <a:latin typeface="Comic Sans MS"/>
              <a:ea typeface="Comic Sans MS"/>
              <a:cs typeface="Comic Sans MS"/>
              <a:sym typeface="Comic Sans MS"/>
            </a:endParaRPr>
          </a:p>
        </p:txBody>
      </p:sp>
      <p:pic>
        <p:nvPicPr>
          <p:cNvPr id="367" name="Google Shape;367;p31"/>
          <p:cNvPicPr preferRelativeResize="0"/>
          <p:nvPr/>
        </p:nvPicPr>
        <p:blipFill rotWithShape="1">
          <a:blip r:embed="rId3">
            <a:alphaModFix/>
          </a:blip>
          <a:srcRect b="17005" l="0" r="0" t="0"/>
          <a:stretch/>
        </p:blipFill>
        <p:spPr>
          <a:xfrm>
            <a:off x="2286000" y="1619525"/>
            <a:ext cx="3386900" cy="2810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2"/>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a:t>
            </a:r>
            <a:endParaRPr b="1" sz="3600">
              <a:solidFill>
                <a:srgbClr val="434343"/>
              </a:solidFill>
              <a:latin typeface="Comic Sans MS"/>
              <a:ea typeface="Comic Sans MS"/>
              <a:cs typeface="Comic Sans MS"/>
              <a:sym typeface="Comic Sans MS"/>
            </a:endParaRPr>
          </a:p>
        </p:txBody>
      </p:sp>
      <p:cxnSp>
        <p:nvCxnSpPr>
          <p:cNvPr id="373" name="Google Shape;373;p3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74" name="Google Shape;374;p3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75" name="Google Shape;375;p3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32"/>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Pointer just </a:t>
            </a:r>
            <a:r>
              <a:rPr b="1" lang="en" sz="2400">
                <a:solidFill>
                  <a:srgbClr val="D15A12"/>
                </a:solidFill>
                <a:latin typeface="Comic Sans MS"/>
                <a:ea typeface="Comic Sans MS"/>
                <a:cs typeface="Comic Sans MS"/>
                <a:sym typeface="Comic Sans MS"/>
              </a:rPr>
              <a:t>points</a:t>
            </a:r>
            <a:r>
              <a:rPr b="1" lang="en" sz="2400">
                <a:solidFill>
                  <a:srgbClr val="404040"/>
                </a:solidFill>
                <a:latin typeface="Comic Sans MS"/>
                <a:ea typeface="Comic Sans MS"/>
                <a:cs typeface="Comic Sans MS"/>
                <a:sym typeface="Comic Sans MS"/>
              </a:rPr>
              <a:t> towards something. If i aim the pointer towards the </a:t>
            </a:r>
            <a:r>
              <a:rPr b="1" lang="en" sz="2400">
                <a:solidFill>
                  <a:srgbClr val="D15A12"/>
                </a:solidFill>
                <a:latin typeface="Comic Sans MS"/>
                <a:ea typeface="Comic Sans MS"/>
                <a:cs typeface="Comic Sans MS"/>
                <a:sym typeface="Comic Sans MS"/>
              </a:rPr>
              <a:t>slides</a:t>
            </a:r>
            <a:r>
              <a:rPr b="1" lang="en" sz="2400">
                <a:solidFill>
                  <a:srgbClr val="404040"/>
                </a:solidFill>
                <a:latin typeface="Comic Sans MS"/>
                <a:ea typeface="Comic Sans MS"/>
                <a:cs typeface="Comic Sans MS"/>
                <a:sym typeface="Comic Sans MS"/>
              </a:rPr>
              <a:t> and press the button, it will start pointing towards</a:t>
            </a:r>
            <a:br>
              <a:rPr b="1" lang="en" sz="2400">
                <a:solidFill>
                  <a:srgbClr val="404040"/>
                </a:solidFill>
                <a:latin typeface="Comic Sans MS"/>
                <a:ea typeface="Comic Sans MS"/>
                <a:cs typeface="Comic Sans MS"/>
                <a:sym typeface="Comic Sans MS"/>
              </a:rPr>
            </a:br>
            <a:r>
              <a:rPr b="1" lang="en" sz="2400">
                <a:solidFill>
                  <a:srgbClr val="404040"/>
                </a:solidFill>
                <a:latin typeface="Comic Sans MS"/>
                <a:ea typeface="Comic Sans MS"/>
                <a:cs typeface="Comic Sans MS"/>
                <a:sym typeface="Comic Sans MS"/>
              </a:rPr>
              <a:t>the slides</a:t>
            </a:r>
            <a:endParaRPr b="1" sz="2400">
              <a:solidFill>
                <a:srgbClr val="404040"/>
              </a:solidFill>
              <a:latin typeface="Comic Sans MS"/>
              <a:ea typeface="Comic Sans MS"/>
              <a:cs typeface="Comic Sans MS"/>
              <a:sym typeface="Comic Sans MS"/>
            </a:endParaRPr>
          </a:p>
        </p:txBody>
      </p:sp>
      <p:pic>
        <p:nvPicPr>
          <p:cNvPr id="377" name="Google Shape;377;p32"/>
          <p:cNvPicPr preferRelativeResize="0"/>
          <p:nvPr/>
        </p:nvPicPr>
        <p:blipFill rotWithShape="1">
          <a:blip r:embed="rId3">
            <a:alphaModFix/>
          </a:blip>
          <a:srcRect b="17005" l="0" r="0" t="0"/>
          <a:stretch/>
        </p:blipFill>
        <p:spPr>
          <a:xfrm>
            <a:off x="2286000" y="1619525"/>
            <a:ext cx="3386900" cy="2810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3"/>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a:t>
            </a:r>
            <a:endParaRPr b="1" sz="3600">
              <a:solidFill>
                <a:srgbClr val="434343"/>
              </a:solidFill>
              <a:latin typeface="Comic Sans MS"/>
              <a:ea typeface="Comic Sans MS"/>
              <a:cs typeface="Comic Sans MS"/>
              <a:sym typeface="Comic Sans MS"/>
            </a:endParaRPr>
          </a:p>
        </p:txBody>
      </p:sp>
      <p:cxnSp>
        <p:nvCxnSpPr>
          <p:cNvPr id="383" name="Google Shape;383;p3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384" name="Google Shape;384;p3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385" name="Google Shape;385;p3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6" name="Google Shape;386;p33"/>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In the same way, we have pointers in </a:t>
            </a:r>
            <a:r>
              <a:rPr b="1" lang="en" sz="2400">
                <a:solidFill>
                  <a:srgbClr val="D15A12"/>
                </a:solidFill>
                <a:latin typeface="Comic Sans MS"/>
                <a:ea typeface="Comic Sans MS"/>
                <a:cs typeface="Comic Sans MS"/>
                <a:sym typeface="Comic Sans MS"/>
              </a:rPr>
              <a:t>C++</a:t>
            </a:r>
            <a:r>
              <a:rPr b="1" lang="en" sz="2400">
                <a:solidFill>
                  <a:srgbClr val="404040"/>
                </a:solidFill>
                <a:latin typeface="Comic Sans MS"/>
                <a:ea typeface="Comic Sans MS"/>
                <a:cs typeface="Comic Sans MS"/>
                <a:sym typeface="Comic Sans MS"/>
              </a:rPr>
              <a:t>.</a:t>
            </a:r>
            <a:endParaRPr b="1" sz="2400">
              <a:solidFill>
                <a:srgbClr val="404040"/>
              </a:solidFill>
              <a:latin typeface="Comic Sans MS"/>
              <a:ea typeface="Comic Sans MS"/>
              <a:cs typeface="Comic Sans MS"/>
              <a:sym typeface="Comic Sans MS"/>
            </a:endParaRPr>
          </a:p>
        </p:txBody>
      </p:sp>
      <p:sp>
        <p:nvSpPr>
          <p:cNvPr id="387" name="Google Shape;387;p33"/>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390" name="Google Shape;390;p33"/>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392" name="Google Shape;392;p33"/>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393" name="Google Shape;393;p33"/>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394" name="Google Shape;394;p33"/>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395" name="Google Shape;395;p33"/>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396" name="Google Shape;396;p33"/>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4"/>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a:t>
            </a:r>
            <a:endParaRPr b="1" sz="3600">
              <a:solidFill>
                <a:srgbClr val="434343"/>
              </a:solidFill>
              <a:latin typeface="Comic Sans MS"/>
              <a:ea typeface="Comic Sans MS"/>
              <a:cs typeface="Comic Sans MS"/>
              <a:sym typeface="Comic Sans MS"/>
            </a:endParaRPr>
          </a:p>
        </p:txBody>
      </p:sp>
      <p:cxnSp>
        <p:nvCxnSpPr>
          <p:cNvPr id="402" name="Google Shape;402;p3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03" name="Google Shape;403;p3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04" name="Google Shape;404;p3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5" name="Google Shape;405;p34"/>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In the same way, we have pointers in </a:t>
            </a:r>
            <a:r>
              <a:rPr b="1" lang="en" sz="2400">
                <a:solidFill>
                  <a:srgbClr val="D15A12"/>
                </a:solidFill>
                <a:latin typeface="Comic Sans MS"/>
                <a:ea typeface="Comic Sans MS"/>
                <a:cs typeface="Comic Sans MS"/>
                <a:sym typeface="Comic Sans MS"/>
              </a:rPr>
              <a:t>C++</a:t>
            </a:r>
            <a:r>
              <a:rPr b="1" lang="en" sz="2400">
                <a:solidFill>
                  <a:srgbClr val="404040"/>
                </a:solidFill>
                <a:latin typeface="Comic Sans MS"/>
                <a:ea typeface="Comic Sans MS"/>
                <a:cs typeface="Comic Sans MS"/>
                <a:sym typeface="Comic Sans MS"/>
              </a:rPr>
              <a:t>.</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But We can only point towards the </a:t>
            </a:r>
            <a:r>
              <a:rPr b="1" lang="en" sz="2400">
                <a:solidFill>
                  <a:srgbClr val="D15A12"/>
                </a:solidFill>
                <a:latin typeface="Comic Sans MS"/>
                <a:ea typeface="Comic Sans MS"/>
                <a:cs typeface="Comic Sans MS"/>
                <a:sym typeface="Comic Sans MS"/>
              </a:rPr>
              <a:t>address of any memory cell</a:t>
            </a:r>
            <a:r>
              <a:rPr b="1" lang="en" sz="2400">
                <a:solidFill>
                  <a:srgbClr val="404040"/>
                </a:solidFill>
                <a:latin typeface="Comic Sans MS"/>
                <a:ea typeface="Comic Sans MS"/>
                <a:cs typeface="Comic Sans MS"/>
                <a:sym typeface="Comic Sans MS"/>
              </a:rPr>
              <a:t> using the pointer.</a:t>
            </a:r>
            <a:endParaRPr b="1" sz="2400">
              <a:solidFill>
                <a:srgbClr val="404040"/>
              </a:solidFill>
              <a:latin typeface="Comic Sans MS"/>
              <a:ea typeface="Comic Sans MS"/>
              <a:cs typeface="Comic Sans MS"/>
              <a:sym typeface="Comic Sans MS"/>
            </a:endParaRPr>
          </a:p>
        </p:txBody>
      </p:sp>
      <p:sp>
        <p:nvSpPr>
          <p:cNvPr id="406" name="Google Shape;406;p34"/>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4"/>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4"/>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409" name="Google Shape;409;p34"/>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4"/>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11" name="Google Shape;411;p34"/>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412" name="Google Shape;412;p34"/>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413" name="Google Shape;413;p34"/>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414" name="Google Shape;414;p34"/>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15" name="Google Shape;415;p34"/>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Declaration</a:t>
            </a:r>
            <a:endParaRPr b="1" sz="3600">
              <a:solidFill>
                <a:srgbClr val="D15A12"/>
              </a:solidFill>
              <a:latin typeface="Comic Sans MS"/>
              <a:ea typeface="Comic Sans MS"/>
              <a:cs typeface="Comic Sans MS"/>
              <a:sym typeface="Comic Sans MS"/>
            </a:endParaRPr>
          </a:p>
        </p:txBody>
      </p:sp>
      <p:cxnSp>
        <p:nvCxnSpPr>
          <p:cNvPr id="421" name="Google Shape;421;p3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22" name="Google Shape;422;p3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23" name="Google Shape;423;p3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4" name="Google Shape;424;p35"/>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Syntax to declare a pointer of a </a:t>
            </a:r>
            <a:r>
              <a:rPr b="1" lang="en" sz="2400">
                <a:solidFill>
                  <a:srgbClr val="D15A12"/>
                </a:solidFill>
                <a:latin typeface="Comic Sans MS"/>
                <a:ea typeface="Comic Sans MS"/>
                <a:cs typeface="Comic Sans MS"/>
                <a:sym typeface="Comic Sans MS"/>
              </a:rPr>
              <a:t>specific datatype</a:t>
            </a:r>
            <a:r>
              <a:rPr b="1" lang="en" sz="2400">
                <a:solidFill>
                  <a:srgbClr val="404040"/>
                </a:solidFill>
                <a:latin typeface="Comic Sans MS"/>
                <a:ea typeface="Comic Sans MS"/>
                <a:cs typeface="Comic Sans MS"/>
                <a:sym typeface="Comic Sans MS"/>
              </a:rPr>
              <a:t> in C++ is:</a:t>
            </a:r>
            <a:endParaRPr b="1" sz="2400">
              <a:solidFill>
                <a:srgbClr val="404040"/>
              </a:solidFill>
              <a:latin typeface="Comic Sans MS"/>
              <a:ea typeface="Comic Sans MS"/>
              <a:cs typeface="Comic Sans MS"/>
              <a:sym typeface="Comic Sans MS"/>
            </a:endParaRPr>
          </a:p>
        </p:txBody>
      </p:sp>
      <p:sp>
        <p:nvSpPr>
          <p:cNvPr id="425" name="Google Shape;425;p35"/>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5"/>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5"/>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428" name="Google Shape;428;p35"/>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5"/>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30" name="Google Shape;430;p35"/>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431" name="Google Shape;431;p35"/>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432" name="Google Shape;432;p35"/>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433" name="Google Shape;433;p35"/>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34" name="Google Shape;434;p35"/>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435" name="Google Shape;435;p35"/>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sp>
        <p:nvSpPr>
          <p:cNvPr id="436" name="Google Shape;436;p35"/>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6"/>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Declaration</a:t>
            </a:r>
            <a:endParaRPr b="1" sz="3600">
              <a:solidFill>
                <a:srgbClr val="D15A12"/>
              </a:solidFill>
              <a:latin typeface="Comic Sans MS"/>
              <a:ea typeface="Comic Sans MS"/>
              <a:cs typeface="Comic Sans MS"/>
              <a:sym typeface="Comic Sans MS"/>
            </a:endParaRPr>
          </a:p>
        </p:txBody>
      </p:sp>
      <p:cxnSp>
        <p:nvCxnSpPr>
          <p:cNvPr id="442" name="Google Shape;442;p3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43" name="Google Shape;443;p3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44" name="Google Shape;444;p3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5" name="Google Shape;445;p36"/>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Syntax to declare a pointer of a </a:t>
            </a:r>
            <a:r>
              <a:rPr b="1" lang="en" sz="2400">
                <a:solidFill>
                  <a:srgbClr val="D15A12"/>
                </a:solidFill>
                <a:latin typeface="Comic Sans MS"/>
                <a:ea typeface="Comic Sans MS"/>
                <a:cs typeface="Comic Sans MS"/>
                <a:sym typeface="Comic Sans MS"/>
              </a:rPr>
              <a:t>specific datatype</a:t>
            </a:r>
            <a:r>
              <a:rPr b="1" lang="en" sz="2400">
                <a:solidFill>
                  <a:srgbClr val="404040"/>
                </a:solidFill>
                <a:latin typeface="Comic Sans MS"/>
                <a:ea typeface="Comic Sans MS"/>
                <a:cs typeface="Comic Sans MS"/>
                <a:sym typeface="Comic Sans MS"/>
              </a:rPr>
              <a:t> in C++ is:</a:t>
            </a:r>
            <a:endParaRPr b="1" sz="2400">
              <a:solidFill>
                <a:srgbClr val="404040"/>
              </a:solidFill>
              <a:latin typeface="Comic Sans MS"/>
              <a:ea typeface="Comic Sans MS"/>
              <a:cs typeface="Comic Sans MS"/>
              <a:sym typeface="Comic Sans MS"/>
            </a:endParaRPr>
          </a:p>
        </p:txBody>
      </p:sp>
      <p:sp>
        <p:nvSpPr>
          <p:cNvPr id="446" name="Google Shape;446;p36"/>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6"/>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6"/>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449" name="Google Shape;449;p36"/>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6"/>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51" name="Google Shape;451;p36"/>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452" name="Google Shape;452;p36"/>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453" name="Google Shape;453;p36"/>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454" name="Google Shape;454;p36"/>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55" name="Google Shape;455;p36"/>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456" name="Google Shape;456;p36"/>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p:txBody>
      </p:sp>
      <p:sp>
        <p:nvSpPr>
          <p:cNvPr id="457" name="Google Shape;457;p36"/>
          <p:cNvSpPr txBox="1"/>
          <p:nvPr/>
        </p:nvSpPr>
        <p:spPr>
          <a:xfrm>
            <a:off x="384975" y="2809200"/>
            <a:ext cx="51033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34343"/>
                </a:solidFill>
                <a:latin typeface="Comic Sans MS"/>
                <a:ea typeface="Comic Sans MS"/>
                <a:cs typeface="Comic Sans MS"/>
                <a:sym typeface="Comic Sans MS"/>
              </a:rPr>
              <a:t>We have declared a pointer of </a:t>
            </a:r>
            <a:r>
              <a:rPr b="1" lang="en" sz="2400">
                <a:solidFill>
                  <a:srgbClr val="D15A12"/>
                </a:solidFill>
                <a:latin typeface="Comic Sans MS"/>
                <a:ea typeface="Comic Sans MS"/>
                <a:cs typeface="Comic Sans MS"/>
                <a:sym typeface="Comic Sans MS"/>
              </a:rPr>
              <a:t>int datatype</a:t>
            </a:r>
            <a:r>
              <a:rPr b="1" lang="en" sz="2400">
                <a:solidFill>
                  <a:srgbClr val="434343"/>
                </a:solidFill>
                <a:latin typeface="Comic Sans MS"/>
                <a:ea typeface="Comic Sans MS"/>
                <a:cs typeface="Comic Sans MS"/>
                <a:sym typeface="Comic Sans MS"/>
              </a:rPr>
              <a:t>,</a:t>
            </a:r>
            <a:endParaRPr b="1" sz="2400">
              <a:solidFill>
                <a:srgbClr val="434343"/>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34343"/>
                </a:solidFill>
                <a:latin typeface="Comic Sans MS"/>
                <a:ea typeface="Comic Sans MS"/>
                <a:cs typeface="Comic Sans MS"/>
                <a:sym typeface="Comic Sans MS"/>
              </a:rPr>
              <a:t>It means it can only point towards the memory cell containing </a:t>
            </a:r>
            <a:r>
              <a:rPr b="1" lang="en" sz="2400">
                <a:solidFill>
                  <a:srgbClr val="D15A12"/>
                </a:solidFill>
                <a:latin typeface="Comic Sans MS"/>
                <a:ea typeface="Comic Sans MS"/>
                <a:cs typeface="Comic Sans MS"/>
                <a:sym typeface="Comic Sans MS"/>
              </a:rPr>
              <a:t>integer</a:t>
            </a:r>
            <a:r>
              <a:rPr b="1" lang="en" sz="2400">
                <a:solidFill>
                  <a:srgbClr val="434343"/>
                </a:solidFill>
                <a:latin typeface="Comic Sans MS"/>
                <a:ea typeface="Comic Sans MS"/>
                <a:cs typeface="Comic Sans MS"/>
                <a:sym typeface="Comic Sans MS"/>
              </a:rPr>
              <a:t> type of data.</a:t>
            </a:r>
            <a:endParaRPr b="1" sz="2400">
              <a:solidFill>
                <a:srgbClr val="434343"/>
              </a:solidFill>
              <a:latin typeface="Comic Sans MS"/>
              <a:ea typeface="Comic Sans MS"/>
              <a:cs typeface="Comic Sans MS"/>
              <a:sym typeface="Comic Sans MS"/>
            </a:endParaRPr>
          </a:p>
        </p:txBody>
      </p:sp>
      <p:sp>
        <p:nvSpPr>
          <p:cNvPr id="458" name="Google Shape;458;p36"/>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7"/>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Assign the address</a:t>
            </a:r>
            <a:endParaRPr b="1" sz="3600">
              <a:solidFill>
                <a:srgbClr val="D15A12"/>
              </a:solidFill>
              <a:latin typeface="Comic Sans MS"/>
              <a:ea typeface="Comic Sans MS"/>
              <a:cs typeface="Comic Sans MS"/>
              <a:sym typeface="Comic Sans MS"/>
            </a:endParaRPr>
          </a:p>
        </p:txBody>
      </p:sp>
      <p:cxnSp>
        <p:nvCxnSpPr>
          <p:cNvPr id="464" name="Google Shape;464;p3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65" name="Google Shape;465;p3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66" name="Google Shape;466;p3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7" name="Google Shape;467;p37"/>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a:t>
            </a:r>
            <a:r>
              <a:rPr b="1" lang="en" sz="2400">
                <a:solidFill>
                  <a:srgbClr val="404040"/>
                </a:solidFill>
                <a:latin typeface="Comic Sans MS"/>
                <a:ea typeface="Comic Sans MS"/>
                <a:cs typeface="Comic Sans MS"/>
                <a:sym typeface="Comic Sans MS"/>
              </a:rPr>
              <a:t> assign the memory address of </a:t>
            </a:r>
            <a:r>
              <a:rPr b="1" lang="en" sz="2400">
                <a:solidFill>
                  <a:srgbClr val="404040"/>
                </a:solidFill>
                <a:latin typeface="Comic Sans MS"/>
                <a:ea typeface="Comic Sans MS"/>
                <a:cs typeface="Comic Sans MS"/>
                <a:sym typeface="Comic Sans MS"/>
              </a:rPr>
              <a:t>the </a:t>
            </a:r>
            <a:r>
              <a:rPr b="1" lang="en" sz="2400">
                <a:solidFill>
                  <a:srgbClr val="D15A12"/>
                </a:solidFill>
                <a:latin typeface="Comic Sans MS"/>
                <a:ea typeface="Comic Sans MS"/>
                <a:cs typeface="Comic Sans MS"/>
                <a:sym typeface="Comic Sans MS"/>
              </a:rPr>
              <a:t>num</a:t>
            </a:r>
            <a:r>
              <a:rPr b="1" lang="en" sz="2400">
                <a:solidFill>
                  <a:srgbClr val="D15A12"/>
                </a:solidFill>
                <a:latin typeface="Comic Sans MS"/>
                <a:ea typeface="Comic Sans MS"/>
                <a:cs typeface="Comic Sans MS"/>
                <a:sym typeface="Comic Sans MS"/>
              </a:rPr>
              <a:t> </a:t>
            </a:r>
            <a:r>
              <a:rPr b="1" lang="en" sz="2400">
                <a:solidFill>
                  <a:srgbClr val="404040"/>
                </a:solidFill>
                <a:latin typeface="Comic Sans MS"/>
                <a:ea typeface="Comic Sans MS"/>
                <a:cs typeface="Comic Sans MS"/>
                <a:sym typeface="Comic Sans MS"/>
              </a:rPr>
              <a:t>variable to the pointer. In short, </a:t>
            </a:r>
            <a:r>
              <a:rPr b="1" lang="en" sz="2400">
                <a:solidFill>
                  <a:srgbClr val="404040"/>
                </a:solidFill>
                <a:latin typeface="Comic Sans MS"/>
                <a:ea typeface="Comic Sans MS"/>
                <a:cs typeface="Comic Sans MS"/>
                <a:sym typeface="Comic Sans MS"/>
              </a:rPr>
              <a:t>let's</a:t>
            </a:r>
            <a:r>
              <a:rPr b="1" lang="en" sz="2400">
                <a:solidFill>
                  <a:srgbClr val="404040"/>
                </a:solidFill>
                <a:latin typeface="Comic Sans MS"/>
                <a:ea typeface="Comic Sans MS"/>
                <a:cs typeface="Comic Sans MS"/>
                <a:sym typeface="Comic Sans MS"/>
              </a:rPr>
              <a:t> press the </a:t>
            </a:r>
            <a:r>
              <a:rPr b="1" lang="en" sz="2400">
                <a:solidFill>
                  <a:srgbClr val="D15A12"/>
                </a:solidFill>
                <a:latin typeface="Comic Sans MS"/>
                <a:ea typeface="Comic Sans MS"/>
                <a:cs typeface="Comic Sans MS"/>
                <a:sym typeface="Comic Sans MS"/>
              </a:rPr>
              <a:t>on</a:t>
            </a:r>
            <a:r>
              <a:rPr b="1" lang="en" sz="2400">
                <a:solidFill>
                  <a:srgbClr val="404040"/>
                </a:solidFill>
                <a:latin typeface="Comic Sans MS"/>
                <a:ea typeface="Comic Sans MS"/>
                <a:cs typeface="Comic Sans MS"/>
                <a:sym typeface="Comic Sans MS"/>
              </a:rPr>
              <a:t> button of the pointer.</a:t>
            </a:r>
            <a:endParaRPr b="1" sz="2400">
              <a:solidFill>
                <a:srgbClr val="404040"/>
              </a:solidFill>
              <a:latin typeface="Comic Sans MS"/>
              <a:ea typeface="Comic Sans MS"/>
              <a:cs typeface="Comic Sans MS"/>
              <a:sym typeface="Comic Sans MS"/>
            </a:endParaRPr>
          </a:p>
        </p:txBody>
      </p:sp>
      <p:sp>
        <p:nvSpPr>
          <p:cNvPr id="468" name="Google Shape;468;p37"/>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471" name="Google Shape;471;p37"/>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73" name="Google Shape;473;p37"/>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474" name="Google Shape;474;p37"/>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475" name="Google Shape;475;p37"/>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476" name="Google Shape;476;p37"/>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77" name="Google Shape;477;p37"/>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478" name="Google Shape;478;p37"/>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p:txBody>
      </p:sp>
      <p:sp>
        <p:nvSpPr>
          <p:cNvPr id="479" name="Google Shape;479;p37"/>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8"/>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Assign the address</a:t>
            </a:r>
            <a:endParaRPr b="1" sz="3600">
              <a:solidFill>
                <a:srgbClr val="D15A12"/>
              </a:solidFill>
              <a:latin typeface="Comic Sans MS"/>
              <a:ea typeface="Comic Sans MS"/>
              <a:cs typeface="Comic Sans MS"/>
              <a:sym typeface="Comic Sans MS"/>
            </a:endParaRPr>
          </a:p>
        </p:txBody>
      </p:sp>
      <p:cxnSp>
        <p:nvCxnSpPr>
          <p:cNvPr id="485" name="Google Shape;485;p38"/>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486" name="Google Shape;486;p38"/>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487" name="Google Shape;487;p3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8" name="Google Shape;488;p38"/>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assign the memory address of num variable to the pointer. In short, lets press the </a:t>
            </a:r>
            <a:r>
              <a:rPr b="1" lang="en" sz="2400">
                <a:solidFill>
                  <a:srgbClr val="D15A12"/>
                </a:solidFill>
                <a:latin typeface="Comic Sans MS"/>
                <a:ea typeface="Comic Sans MS"/>
                <a:cs typeface="Comic Sans MS"/>
                <a:sym typeface="Comic Sans MS"/>
              </a:rPr>
              <a:t>on</a:t>
            </a:r>
            <a:r>
              <a:rPr b="1" lang="en" sz="2400">
                <a:solidFill>
                  <a:srgbClr val="404040"/>
                </a:solidFill>
                <a:latin typeface="Comic Sans MS"/>
                <a:ea typeface="Comic Sans MS"/>
                <a:cs typeface="Comic Sans MS"/>
                <a:sym typeface="Comic Sans MS"/>
              </a:rPr>
              <a:t> button of the pointer.</a:t>
            </a:r>
            <a:endParaRPr b="1" sz="2400">
              <a:solidFill>
                <a:srgbClr val="404040"/>
              </a:solidFill>
              <a:latin typeface="Comic Sans MS"/>
              <a:ea typeface="Comic Sans MS"/>
              <a:cs typeface="Comic Sans MS"/>
              <a:sym typeface="Comic Sans MS"/>
            </a:endParaRPr>
          </a:p>
        </p:txBody>
      </p:sp>
      <p:sp>
        <p:nvSpPr>
          <p:cNvPr id="489" name="Google Shape;489;p38"/>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8"/>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8"/>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492" name="Google Shape;492;p38"/>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8"/>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494" name="Google Shape;494;p38"/>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495" name="Google Shape;495;p38"/>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496" name="Google Shape;496;p38"/>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497" name="Google Shape;497;p38"/>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498" name="Google Shape;498;p38"/>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499" name="Google Shape;499;p38"/>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p:txBody>
      </p:sp>
      <p:sp>
        <p:nvSpPr>
          <p:cNvPr id="500" name="Google Shape;500;p38"/>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501" name="Google Shape;501;p38"/>
          <p:cNvCxnSpPr>
            <a:stCxn id="496" idx="0"/>
            <a:endCxn id="494"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9"/>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Dereferencing</a:t>
            </a:r>
            <a:endParaRPr b="1" sz="3600">
              <a:solidFill>
                <a:srgbClr val="D15A12"/>
              </a:solidFill>
              <a:latin typeface="Comic Sans MS"/>
              <a:ea typeface="Comic Sans MS"/>
              <a:cs typeface="Comic Sans MS"/>
              <a:sym typeface="Comic Sans MS"/>
            </a:endParaRPr>
          </a:p>
        </p:txBody>
      </p:sp>
      <p:cxnSp>
        <p:nvCxnSpPr>
          <p:cNvPr id="507" name="Google Shape;507;p39"/>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08" name="Google Shape;508;p39"/>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09" name="Google Shape;509;p3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0" name="Google Shape;510;p39"/>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Once a pointer is assigned to an address, you can refer to the value it points to by "</a:t>
            </a:r>
            <a:r>
              <a:rPr b="1" lang="en" sz="2400">
                <a:solidFill>
                  <a:srgbClr val="D15A12"/>
                </a:solidFill>
                <a:latin typeface="Comic Sans MS"/>
                <a:ea typeface="Comic Sans MS"/>
                <a:cs typeface="Comic Sans MS"/>
                <a:sym typeface="Comic Sans MS"/>
              </a:rPr>
              <a:t>dereferencing the pointer</a:t>
            </a:r>
            <a:r>
              <a:rPr b="1" lang="en" sz="2400">
                <a:solidFill>
                  <a:srgbClr val="404040"/>
                </a:solidFill>
                <a:latin typeface="Comic Sans MS"/>
                <a:ea typeface="Comic Sans MS"/>
                <a:cs typeface="Comic Sans MS"/>
                <a:sym typeface="Comic Sans MS"/>
              </a:rPr>
              <a:t>". To do this, use the unary * operator</a:t>
            </a:r>
            <a:endParaRPr b="1" sz="2400">
              <a:solidFill>
                <a:srgbClr val="404040"/>
              </a:solidFill>
              <a:latin typeface="Comic Sans MS"/>
              <a:ea typeface="Comic Sans MS"/>
              <a:cs typeface="Comic Sans MS"/>
              <a:sym typeface="Comic Sans MS"/>
            </a:endParaRPr>
          </a:p>
        </p:txBody>
      </p:sp>
      <p:sp>
        <p:nvSpPr>
          <p:cNvPr id="511" name="Google Shape;511;p39"/>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9"/>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9"/>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514" name="Google Shape;514;p39"/>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9"/>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516" name="Google Shape;516;p39"/>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517" name="Google Shape;517;p39"/>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518" name="Google Shape;518;p39"/>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519" name="Google Shape;519;p39"/>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520" name="Google Shape;520;p39"/>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21" name="Google Shape;521;p39"/>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p:txBody>
      </p:sp>
      <p:sp>
        <p:nvSpPr>
          <p:cNvPr id="522" name="Google Shape;522;p39"/>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523" name="Google Shape;523;p39"/>
          <p:cNvCxnSpPr>
            <a:stCxn id="518" idx="0"/>
            <a:endCxn id="516"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0"/>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Dereferencing</a:t>
            </a:r>
            <a:endParaRPr b="1" sz="3600">
              <a:solidFill>
                <a:srgbClr val="D15A12"/>
              </a:solidFill>
              <a:latin typeface="Comic Sans MS"/>
              <a:ea typeface="Comic Sans MS"/>
              <a:cs typeface="Comic Sans MS"/>
              <a:sym typeface="Comic Sans MS"/>
            </a:endParaRPr>
          </a:p>
        </p:txBody>
      </p:sp>
      <p:cxnSp>
        <p:nvCxnSpPr>
          <p:cNvPr id="529" name="Google Shape;529;p40"/>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30" name="Google Shape;530;p40"/>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31" name="Google Shape;531;p4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2" name="Google Shape;532;p40"/>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Once a pointer is assigned to an address, you can refer to the value it points to by "</a:t>
            </a:r>
            <a:r>
              <a:rPr b="1" lang="en" sz="2400">
                <a:solidFill>
                  <a:srgbClr val="D15A12"/>
                </a:solidFill>
                <a:latin typeface="Comic Sans MS"/>
                <a:ea typeface="Comic Sans MS"/>
                <a:cs typeface="Comic Sans MS"/>
                <a:sym typeface="Comic Sans MS"/>
              </a:rPr>
              <a:t>dereferencing the pointer</a:t>
            </a:r>
            <a:r>
              <a:rPr b="1" lang="en" sz="2400">
                <a:solidFill>
                  <a:srgbClr val="404040"/>
                </a:solidFill>
                <a:latin typeface="Comic Sans MS"/>
                <a:ea typeface="Comic Sans MS"/>
                <a:cs typeface="Comic Sans MS"/>
                <a:sym typeface="Comic Sans MS"/>
              </a:rPr>
              <a:t>". To do this, use the unary * operator</a:t>
            </a:r>
            <a:endParaRPr b="1" sz="2400">
              <a:solidFill>
                <a:srgbClr val="404040"/>
              </a:solidFill>
              <a:latin typeface="Comic Sans MS"/>
              <a:ea typeface="Comic Sans MS"/>
              <a:cs typeface="Comic Sans MS"/>
              <a:sym typeface="Comic Sans MS"/>
            </a:endParaRPr>
          </a:p>
        </p:txBody>
      </p:sp>
      <p:sp>
        <p:nvSpPr>
          <p:cNvPr id="533" name="Google Shape;533;p40"/>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0"/>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0"/>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536" name="Google Shape;536;p40"/>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0"/>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538" name="Google Shape;538;p40"/>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539" name="Google Shape;539;p40"/>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540" name="Google Shape;540;p40"/>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541" name="Google Shape;541;p40"/>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542" name="Google Shape;542;p40"/>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43" name="Google Shape;543;p40"/>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cout &lt;&lt; *p;</a:t>
            </a:r>
            <a:endParaRPr b="1" sz="2400">
              <a:solidFill>
                <a:srgbClr val="404040"/>
              </a:solidFill>
              <a:latin typeface="Comic Sans MS"/>
              <a:ea typeface="Comic Sans MS"/>
              <a:cs typeface="Comic Sans MS"/>
              <a:sym typeface="Comic Sans MS"/>
            </a:endParaRPr>
          </a:p>
        </p:txBody>
      </p:sp>
      <p:sp>
        <p:nvSpPr>
          <p:cNvPr id="544" name="Google Shape;544;p40"/>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545" name="Google Shape;545;p40"/>
          <p:cNvCxnSpPr>
            <a:stCxn id="540" idx="0"/>
            <a:endCxn id="538"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1"/>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Dereferencing</a:t>
            </a:r>
            <a:endParaRPr b="1" sz="3600">
              <a:solidFill>
                <a:srgbClr val="D15A12"/>
              </a:solidFill>
              <a:latin typeface="Comic Sans MS"/>
              <a:ea typeface="Comic Sans MS"/>
              <a:cs typeface="Comic Sans MS"/>
              <a:sym typeface="Comic Sans MS"/>
            </a:endParaRPr>
          </a:p>
        </p:txBody>
      </p:sp>
      <p:cxnSp>
        <p:nvCxnSpPr>
          <p:cNvPr id="551" name="Google Shape;551;p41"/>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52" name="Google Shape;552;p41"/>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53" name="Google Shape;553;p4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4" name="Google Shape;554;p41"/>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Once a pointer is assigned to an address, you can refer to the value it points to by "</a:t>
            </a:r>
            <a:r>
              <a:rPr b="1" lang="en" sz="2400">
                <a:solidFill>
                  <a:srgbClr val="D15A12"/>
                </a:solidFill>
                <a:latin typeface="Comic Sans MS"/>
                <a:ea typeface="Comic Sans MS"/>
                <a:cs typeface="Comic Sans MS"/>
                <a:sym typeface="Comic Sans MS"/>
              </a:rPr>
              <a:t>dereferencing the pointer</a:t>
            </a:r>
            <a:r>
              <a:rPr b="1" lang="en" sz="2400">
                <a:solidFill>
                  <a:srgbClr val="404040"/>
                </a:solidFill>
                <a:latin typeface="Comic Sans MS"/>
                <a:ea typeface="Comic Sans MS"/>
                <a:cs typeface="Comic Sans MS"/>
                <a:sym typeface="Comic Sans MS"/>
              </a:rPr>
              <a:t>". To do this, use the unary * operator</a:t>
            </a:r>
            <a:endParaRPr b="1" sz="2400">
              <a:solidFill>
                <a:srgbClr val="404040"/>
              </a:solidFill>
              <a:latin typeface="Comic Sans MS"/>
              <a:ea typeface="Comic Sans MS"/>
              <a:cs typeface="Comic Sans MS"/>
              <a:sym typeface="Comic Sans MS"/>
            </a:endParaRPr>
          </a:p>
        </p:txBody>
      </p:sp>
      <p:sp>
        <p:nvSpPr>
          <p:cNvPr id="555" name="Google Shape;555;p41"/>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1"/>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1"/>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558" name="Google Shape;558;p41"/>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1"/>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560" name="Google Shape;560;p41"/>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561" name="Google Shape;561;p41"/>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562" name="Google Shape;562;p41"/>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563" name="Google Shape;563;p41"/>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564" name="Google Shape;564;p41"/>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65" name="Google Shape;565;p41"/>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cout &lt;&lt; *p;</a:t>
            </a:r>
            <a:endParaRPr b="1" sz="2400">
              <a:solidFill>
                <a:srgbClr val="404040"/>
              </a:solidFill>
              <a:latin typeface="Comic Sans MS"/>
              <a:ea typeface="Comic Sans MS"/>
              <a:cs typeface="Comic Sans MS"/>
              <a:sym typeface="Comic Sans MS"/>
            </a:endParaRPr>
          </a:p>
        </p:txBody>
      </p:sp>
      <p:sp>
        <p:nvSpPr>
          <p:cNvPr id="566" name="Google Shape;566;p41"/>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567" name="Google Shape;567;p41"/>
          <p:cNvCxnSpPr>
            <a:stCxn id="562" idx="0"/>
            <a:endCxn id="560"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pic>
        <p:nvPicPr>
          <p:cNvPr id="568" name="Google Shape;568;p41"/>
          <p:cNvPicPr preferRelativeResize="0"/>
          <p:nvPr/>
        </p:nvPicPr>
        <p:blipFill>
          <a:blip r:embed="rId3">
            <a:alphaModFix/>
          </a:blip>
          <a:stretch>
            <a:fillRect/>
          </a:stretch>
        </p:blipFill>
        <p:spPr>
          <a:xfrm>
            <a:off x="76200" y="3384000"/>
            <a:ext cx="3686175" cy="1476375"/>
          </a:xfrm>
          <a:prstGeom prst="rect">
            <a:avLst/>
          </a:prstGeom>
          <a:noFill/>
          <a:ln cap="flat" cmpd="sng" w="28575">
            <a:solidFill>
              <a:srgbClr val="434343"/>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2"/>
          <p:cNvSpPr txBox="1"/>
          <p:nvPr>
            <p:ph type="ctrTitle"/>
          </p:nvPr>
        </p:nvSpPr>
        <p:spPr>
          <a:xfrm>
            <a:off x="0" y="0"/>
            <a:ext cx="9144000" cy="790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2377">
                <a:solidFill>
                  <a:srgbClr val="D15A12"/>
                </a:solidFill>
                <a:latin typeface="Comic Sans MS"/>
                <a:ea typeface="Comic Sans MS"/>
                <a:cs typeface="Comic Sans MS"/>
                <a:sym typeface="Comic Sans MS"/>
              </a:rPr>
              <a:t>See the address to which the pointer is pointing</a:t>
            </a:r>
            <a:endParaRPr b="1" sz="2377">
              <a:solidFill>
                <a:srgbClr val="D15A12"/>
              </a:solidFill>
              <a:latin typeface="Comic Sans MS"/>
              <a:ea typeface="Comic Sans MS"/>
              <a:cs typeface="Comic Sans MS"/>
              <a:sym typeface="Comic Sans MS"/>
            </a:endParaRPr>
          </a:p>
        </p:txBody>
      </p:sp>
      <p:cxnSp>
        <p:nvCxnSpPr>
          <p:cNvPr id="574" name="Google Shape;574;p42"/>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75" name="Google Shape;575;p42"/>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76" name="Google Shape;576;p4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7" name="Google Shape;577;p42"/>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If we want to see which </a:t>
            </a:r>
            <a:r>
              <a:rPr b="1" lang="en" sz="2400">
                <a:solidFill>
                  <a:srgbClr val="D15A12"/>
                </a:solidFill>
                <a:latin typeface="Comic Sans MS"/>
                <a:ea typeface="Comic Sans MS"/>
                <a:cs typeface="Comic Sans MS"/>
                <a:sym typeface="Comic Sans MS"/>
              </a:rPr>
              <a:t>address</a:t>
            </a:r>
            <a:r>
              <a:rPr b="1" lang="en" sz="2400">
                <a:solidFill>
                  <a:srgbClr val="404040"/>
                </a:solidFill>
                <a:latin typeface="Comic Sans MS"/>
                <a:ea typeface="Comic Sans MS"/>
                <a:cs typeface="Comic Sans MS"/>
                <a:sym typeface="Comic Sans MS"/>
              </a:rPr>
              <a:t> the pointer is pointing, then we can write.</a:t>
            </a:r>
            <a:endParaRPr b="1" sz="2400">
              <a:solidFill>
                <a:srgbClr val="404040"/>
              </a:solidFill>
              <a:latin typeface="Comic Sans MS"/>
              <a:ea typeface="Comic Sans MS"/>
              <a:cs typeface="Comic Sans MS"/>
              <a:sym typeface="Comic Sans MS"/>
            </a:endParaRPr>
          </a:p>
        </p:txBody>
      </p:sp>
      <p:sp>
        <p:nvSpPr>
          <p:cNvPr id="578" name="Google Shape;578;p42"/>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2"/>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2"/>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581" name="Google Shape;581;p42"/>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2"/>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583" name="Google Shape;583;p42"/>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584" name="Google Shape;584;p42"/>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585" name="Google Shape;585;p42"/>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586" name="Google Shape;586;p42"/>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587" name="Google Shape;587;p42"/>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588" name="Google Shape;588;p42"/>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cout &lt;&lt; p;</a:t>
            </a:r>
            <a:endParaRPr b="1" sz="2400">
              <a:solidFill>
                <a:srgbClr val="404040"/>
              </a:solidFill>
              <a:latin typeface="Comic Sans MS"/>
              <a:ea typeface="Comic Sans MS"/>
              <a:cs typeface="Comic Sans MS"/>
              <a:sym typeface="Comic Sans MS"/>
            </a:endParaRPr>
          </a:p>
        </p:txBody>
      </p:sp>
      <p:sp>
        <p:nvSpPr>
          <p:cNvPr id="589" name="Google Shape;589;p42"/>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590" name="Google Shape;590;p42"/>
          <p:cNvCxnSpPr>
            <a:stCxn id="585" idx="0"/>
            <a:endCxn id="583"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3"/>
          <p:cNvSpPr txBox="1"/>
          <p:nvPr>
            <p:ph type="ctrTitle"/>
          </p:nvPr>
        </p:nvSpPr>
        <p:spPr>
          <a:xfrm>
            <a:off x="0" y="0"/>
            <a:ext cx="9144000" cy="790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2377">
                <a:solidFill>
                  <a:srgbClr val="D15A12"/>
                </a:solidFill>
                <a:latin typeface="Comic Sans MS"/>
                <a:ea typeface="Comic Sans MS"/>
                <a:cs typeface="Comic Sans MS"/>
                <a:sym typeface="Comic Sans MS"/>
              </a:rPr>
              <a:t>See the address to which the pointer is pointing</a:t>
            </a:r>
            <a:endParaRPr b="1" sz="2377">
              <a:solidFill>
                <a:srgbClr val="D15A12"/>
              </a:solidFill>
              <a:latin typeface="Comic Sans MS"/>
              <a:ea typeface="Comic Sans MS"/>
              <a:cs typeface="Comic Sans MS"/>
              <a:sym typeface="Comic Sans MS"/>
            </a:endParaRPr>
          </a:p>
        </p:txBody>
      </p:sp>
      <p:cxnSp>
        <p:nvCxnSpPr>
          <p:cNvPr id="596" name="Google Shape;596;p43"/>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597" name="Google Shape;597;p43"/>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598" name="Google Shape;598;p4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9" name="Google Shape;599;p43"/>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If we want to see which </a:t>
            </a:r>
            <a:r>
              <a:rPr b="1" lang="en" sz="2400">
                <a:solidFill>
                  <a:srgbClr val="D15A12"/>
                </a:solidFill>
                <a:latin typeface="Comic Sans MS"/>
                <a:ea typeface="Comic Sans MS"/>
                <a:cs typeface="Comic Sans MS"/>
                <a:sym typeface="Comic Sans MS"/>
              </a:rPr>
              <a:t>address</a:t>
            </a:r>
            <a:r>
              <a:rPr b="1" lang="en" sz="2400">
                <a:solidFill>
                  <a:srgbClr val="404040"/>
                </a:solidFill>
                <a:latin typeface="Comic Sans MS"/>
                <a:ea typeface="Comic Sans MS"/>
                <a:cs typeface="Comic Sans MS"/>
                <a:sym typeface="Comic Sans MS"/>
              </a:rPr>
              <a:t> the pointer is pointing, then we can write.</a:t>
            </a:r>
            <a:endParaRPr b="1" sz="2400">
              <a:solidFill>
                <a:srgbClr val="404040"/>
              </a:solidFill>
              <a:latin typeface="Comic Sans MS"/>
              <a:ea typeface="Comic Sans MS"/>
              <a:cs typeface="Comic Sans MS"/>
              <a:sym typeface="Comic Sans MS"/>
            </a:endParaRPr>
          </a:p>
        </p:txBody>
      </p:sp>
      <p:sp>
        <p:nvSpPr>
          <p:cNvPr id="600" name="Google Shape;600;p43"/>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3"/>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3"/>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603" name="Google Shape;603;p43"/>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605" name="Google Shape;605;p43"/>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606" name="Google Shape;606;p43"/>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607" name="Google Shape;607;p43"/>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608" name="Google Shape;608;p43"/>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609" name="Google Shape;609;p43"/>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10" name="Google Shape;610;p43"/>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cout &lt;&lt; p;</a:t>
            </a:r>
            <a:endParaRPr b="1" sz="2400">
              <a:solidFill>
                <a:srgbClr val="404040"/>
              </a:solidFill>
              <a:latin typeface="Comic Sans MS"/>
              <a:ea typeface="Comic Sans MS"/>
              <a:cs typeface="Comic Sans MS"/>
              <a:sym typeface="Comic Sans MS"/>
            </a:endParaRPr>
          </a:p>
        </p:txBody>
      </p:sp>
      <p:sp>
        <p:nvSpPr>
          <p:cNvPr id="611" name="Google Shape;611;p43"/>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612" name="Google Shape;612;p43"/>
          <p:cNvCxnSpPr>
            <a:stCxn id="607" idx="0"/>
            <a:endCxn id="605"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pic>
        <p:nvPicPr>
          <p:cNvPr id="613" name="Google Shape;613;p43"/>
          <p:cNvPicPr preferRelativeResize="0"/>
          <p:nvPr/>
        </p:nvPicPr>
        <p:blipFill rotWithShape="1">
          <a:blip r:embed="rId3">
            <a:alphaModFix/>
          </a:blip>
          <a:srcRect b="0" l="0" r="12990" t="0"/>
          <a:stretch/>
        </p:blipFill>
        <p:spPr>
          <a:xfrm>
            <a:off x="0" y="3597725"/>
            <a:ext cx="3521437" cy="1267225"/>
          </a:xfrm>
          <a:prstGeom prst="rect">
            <a:avLst/>
          </a:prstGeom>
          <a:noFill/>
          <a:ln cap="flat" cmpd="sng" w="28575">
            <a:solidFill>
              <a:srgbClr val="434343"/>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4"/>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2966">
                <a:solidFill>
                  <a:srgbClr val="D15A12"/>
                </a:solidFill>
                <a:latin typeface="Comic Sans MS"/>
                <a:ea typeface="Comic Sans MS"/>
                <a:cs typeface="Comic Sans MS"/>
                <a:sym typeface="Comic Sans MS"/>
              </a:rPr>
              <a:t>change the value of num using *p</a:t>
            </a:r>
            <a:endParaRPr b="1" sz="2966">
              <a:solidFill>
                <a:srgbClr val="D15A12"/>
              </a:solidFill>
              <a:latin typeface="Comic Sans MS"/>
              <a:ea typeface="Comic Sans MS"/>
              <a:cs typeface="Comic Sans MS"/>
              <a:sym typeface="Comic Sans MS"/>
            </a:endParaRPr>
          </a:p>
        </p:txBody>
      </p:sp>
      <p:cxnSp>
        <p:nvCxnSpPr>
          <p:cNvPr id="619" name="Google Shape;619;p44"/>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20" name="Google Shape;620;p44"/>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21" name="Google Shape;621;p4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2" name="Google Shape;622;p44"/>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a:t>
            </a:r>
            <a:r>
              <a:rPr b="1" lang="en" sz="2400">
                <a:solidFill>
                  <a:srgbClr val="D15A12"/>
                </a:solidFill>
                <a:latin typeface="Comic Sans MS"/>
                <a:ea typeface="Comic Sans MS"/>
                <a:cs typeface="Comic Sans MS"/>
                <a:sym typeface="Comic Sans MS"/>
              </a:rPr>
              <a:t>change the value</a:t>
            </a:r>
            <a:r>
              <a:rPr b="1" lang="en" sz="2400">
                <a:solidFill>
                  <a:srgbClr val="404040"/>
                </a:solidFill>
                <a:latin typeface="Comic Sans MS"/>
                <a:ea typeface="Comic Sans MS"/>
                <a:cs typeface="Comic Sans MS"/>
                <a:sym typeface="Comic Sans MS"/>
              </a:rPr>
              <a:t> of num variable using the pointer.</a:t>
            </a:r>
            <a:endParaRPr b="1" sz="2400">
              <a:solidFill>
                <a:srgbClr val="404040"/>
              </a:solidFill>
              <a:latin typeface="Comic Sans MS"/>
              <a:ea typeface="Comic Sans MS"/>
              <a:cs typeface="Comic Sans MS"/>
              <a:sym typeface="Comic Sans MS"/>
            </a:endParaRPr>
          </a:p>
        </p:txBody>
      </p:sp>
      <p:sp>
        <p:nvSpPr>
          <p:cNvPr id="623" name="Google Shape;623;p44"/>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4"/>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626" name="Google Shape;626;p44"/>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4"/>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628" name="Google Shape;628;p44"/>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629" name="Google Shape;629;p44"/>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630" name="Google Shape;630;p44"/>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631" name="Google Shape;631;p44"/>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632" name="Google Shape;632;p44"/>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33" name="Google Shape;633;p44"/>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p:txBody>
      </p:sp>
      <p:sp>
        <p:nvSpPr>
          <p:cNvPr id="634" name="Google Shape;634;p44"/>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635" name="Google Shape;635;p44"/>
          <p:cNvCxnSpPr>
            <a:stCxn id="630" idx="0"/>
            <a:endCxn id="628"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5"/>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2966">
                <a:solidFill>
                  <a:srgbClr val="D15A12"/>
                </a:solidFill>
                <a:latin typeface="Comic Sans MS"/>
                <a:ea typeface="Comic Sans MS"/>
                <a:cs typeface="Comic Sans MS"/>
                <a:sym typeface="Comic Sans MS"/>
              </a:rPr>
              <a:t>change the value of num using *p</a:t>
            </a:r>
            <a:endParaRPr b="1" sz="2966">
              <a:solidFill>
                <a:srgbClr val="D15A12"/>
              </a:solidFill>
              <a:latin typeface="Comic Sans MS"/>
              <a:ea typeface="Comic Sans MS"/>
              <a:cs typeface="Comic Sans MS"/>
              <a:sym typeface="Comic Sans MS"/>
            </a:endParaRPr>
          </a:p>
        </p:txBody>
      </p:sp>
      <p:cxnSp>
        <p:nvCxnSpPr>
          <p:cNvPr id="641" name="Google Shape;641;p45"/>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42" name="Google Shape;642;p45"/>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43" name="Google Shape;643;p4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4" name="Google Shape;644;p45"/>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Let’s </a:t>
            </a:r>
            <a:r>
              <a:rPr b="1" lang="en" sz="2400">
                <a:solidFill>
                  <a:srgbClr val="D15A12"/>
                </a:solidFill>
                <a:latin typeface="Comic Sans MS"/>
                <a:ea typeface="Comic Sans MS"/>
                <a:cs typeface="Comic Sans MS"/>
                <a:sym typeface="Comic Sans MS"/>
              </a:rPr>
              <a:t>change the value</a:t>
            </a:r>
            <a:r>
              <a:rPr b="1" lang="en" sz="2400">
                <a:solidFill>
                  <a:srgbClr val="404040"/>
                </a:solidFill>
                <a:latin typeface="Comic Sans MS"/>
                <a:ea typeface="Comic Sans MS"/>
                <a:cs typeface="Comic Sans MS"/>
                <a:sym typeface="Comic Sans MS"/>
              </a:rPr>
              <a:t> of num variable using the pointer.</a:t>
            </a:r>
            <a:endParaRPr b="1" sz="2400">
              <a:solidFill>
                <a:srgbClr val="404040"/>
              </a:solidFill>
              <a:latin typeface="Comic Sans MS"/>
              <a:ea typeface="Comic Sans MS"/>
              <a:cs typeface="Comic Sans MS"/>
              <a:sym typeface="Comic Sans MS"/>
            </a:endParaRPr>
          </a:p>
        </p:txBody>
      </p:sp>
      <p:sp>
        <p:nvSpPr>
          <p:cNvPr id="645" name="Google Shape;645;p45"/>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5"/>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5"/>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7</a:t>
            </a:r>
            <a:endParaRPr b="1" sz="1700">
              <a:solidFill>
                <a:srgbClr val="D15A12"/>
              </a:solidFill>
              <a:latin typeface="Comic Sans MS"/>
              <a:ea typeface="Comic Sans MS"/>
              <a:cs typeface="Comic Sans MS"/>
              <a:sym typeface="Comic Sans MS"/>
            </a:endParaRPr>
          </a:p>
        </p:txBody>
      </p:sp>
      <p:sp>
        <p:nvSpPr>
          <p:cNvPr id="648" name="Google Shape;648;p45"/>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5"/>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650" name="Google Shape;650;p45"/>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651" name="Google Shape;651;p45"/>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652" name="Google Shape;652;p45"/>
          <p:cNvSpPr txBox="1"/>
          <p:nvPr/>
        </p:nvSpPr>
        <p:spPr>
          <a:xfrm>
            <a:off x="6561025" y="2616800"/>
            <a:ext cx="7707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D15A12"/>
                </a:solidFill>
                <a:latin typeface="Raleway"/>
                <a:ea typeface="Raleway"/>
                <a:cs typeface="Raleway"/>
                <a:sym typeface="Raleway"/>
              </a:rPr>
              <a:t>oxE4A72</a:t>
            </a:r>
            <a:endParaRPr b="1" sz="1100">
              <a:solidFill>
                <a:srgbClr val="D15A12"/>
              </a:solidFill>
              <a:latin typeface="Raleway"/>
              <a:ea typeface="Raleway"/>
              <a:cs typeface="Raleway"/>
              <a:sym typeface="Raleway"/>
            </a:endParaRPr>
          </a:p>
        </p:txBody>
      </p:sp>
      <p:sp>
        <p:nvSpPr>
          <p:cNvPr id="653" name="Google Shape;653;p45"/>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654" name="Google Shape;654;p45"/>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55" name="Google Shape;655;p45"/>
          <p:cNvSpPr txBox="1"/>
          <p:nvPr/>
        </p:nvSpPr>
        <p:spPr>
          <a:xfrm>
            <a:off x="2747175" y="2047200"/>
            <a:ext cx="25425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&amp;num;</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*p = 7;</a:t>
            </a:r>
            <a:endParaRPr b="1" sz="2400">
              <a:solidFill>
                <a:srgbClr val="404040"/>
              </a:solidFill>
              <a:latin typeface="Comic Sans MS"/>
              <a:ea typeface="Comic Sans MS"/>
              <a:cs typeface="Comic Sans MS"/>
              <a:sym typeface="Comic Sans MS"/>
            </a:endParaRPr>
          </a:p>
        </p:txBody>
      </p:sp>
      <p:sp>
        <p:nvSpPr>
          <p:cNvPr id="656" name="Google Shape;656;p45"/>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cxnSp>
        <p:nvCxnSpPr>
          <p:cNvPr id="657" name="Google Shape;657;p45"/>
          <p:cNvCxnSpPr>
            <a:stCxn id="652" idx="0"/>
            <a:endCxn id="650" idx="3"/>
          </p:cNvCxnSpPr>
          <p:nvPr/>
        </p:nvCxnSpPr>
        <p:spPr>
          <a:xfrm flipH="1" rot="-5400000">
            <a:off x="7486975" y="2076200"/>
            <a:ext cx="434700" cy="1515900"/>
          </a:xfrm>
          <a:prstGeom prst="curvedConnector4">
            <a:avLst>
              <a:gd fmla="val -54779" name="adj1"/>
              <a:gd fmla="val 115713" name="adj2"/>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46"/>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D15A12"/>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Pointers: </a:t>
            </a:r>
            <a:r>
              <a:rPr b="1" lang="en" sz="3600">
                <a:solidFill>
                  <a:srgbClr val="D15A12"/>
                </a:solidFill>
                <a:latin typeface="Comic Sans MS"/>
                <a:ea typeface="Comic Sans MS"/>
                <a:cs typeface="Comic Sans MS"/>
                <a:sym typeface="Comic Sans MS"/>
              </a:rPr>
              <a:t>Declaration</a:t>
            </a:r>
            <a:endParaRPr b="1" sz="3600">
              <a:solidFill>
                <a:srgbClr val="D15A12"/>
              </a:solidFill>
              <a:latin typeface="Comic Sans MS"/>
              <a:ea typeface="Comic Sans MS"/>
              <a:cs typeface="Comic Sans MS"/>
              <a:sym typeface="Comic Sans MS"/>
            </a:endParaRPr>
          </a:p>
        </p:txBody>
      </p:sp>
      <p:cxnSp>
        <p:nvCxnSpPr>
          <p:cNvPr id="663" name="Google Shape;663;p46"/>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64" name="Google Shape;664;p46"/>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65" name="Google Shape;665;p4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6" name="Google Shape;666;p46"/>
          <p:cNvSpPr txBox="1"/>
          <p:nvPr/>
        </p:nvSpPr>
        <p:spPr>
          <a:xfrm>
            <a:off x="375500" y="793050"/>
            <a:ext cx="8415600" cy="208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404040"/>
                </a:solidFill>
                <a:latin typeface="Comic Sans MS"/>
                <a:ea typeface="Comic Sans MS"/>
                <a:cs typeface="Comic Sans MS"/>
                <a:sym typeface="Comic Sans MS"/>
              </a:rPr>
              <a:t>In the same manner we can declare pointers for any datatype</a:t>
            </a:r>
            <a:endParaRPr b="1" sz="2400">
              <a:solidFill>
                <a:srgbClr val="404040"/>
              </a:solidFill>
              <a:latin typeface="Comic Sans MS"/>
              <a:ea typeface="Comic Sans MS"/>
              <a:cs typeface="Comic Sans MS"/>
              <a:sym typeface="Comic Sans MS"/>
            </a:endParaRPr>
          </a:p>
        </p:txBody>
      </p:sp>
      <p:sp>
        <p:nvSpPr>
          <p:cNvPr id="667" name="Google Shape;667;p46"/>
          <p:cNvSpPr/>
          <p:nvPr/>
        </p:nvSpPr>
        <p:spPr>
          <a:xfrm>
            <a:off x="6516200" y="2572163"/>
            <a:ext cx="860400" cy="1085100"/>
          </a:xfrm>
          <a:prstGeom prst="rect">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6"/>
          <p:cNvSpPr/>
          <p:nvPr/>
        </p:nvSpPr>
        <p:spPr>
          <a:xfrm>
            <a:off x="6560894" y="2612183"/>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6"/>
          <p:cNvSpPr/>
          <p:nvPr/>
        </p:nvSpPr>
        <p:spPr>
          <a:xfrm>
            <a:off x="6560894" y="2953301"/>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700">
                <a:solidFill>
                  <a:srgbClr val="D15A12"/>
                </a:solidFill>
                <a:latin typeface="Comic Sans MS"/>
                <a:ea typeface="Comic Sans MS"/>
                <a:cs typeface="Comic Sans MS"/>
                <a:sym typeface="Comic Sans MS"/>
              </a:rPr>
              <a:t>5</a:t>
            </a:r>
            <a:endParaRPr b="1" sz="1700">
              <a:solidFill>
                <a:srgbClr val="D15A12"/>
              </a:solidFill>
              <a:latin typeface="Comic Sans MS"/>
              <a:ea typeface="Comic Sans MS"/>
              <a:cs typeface="Comic Sans MS"/>
              <a:sym typeface="Comic Sans MS"/>
            </a:endParaRPr>
          </a:p>
        </p:txBody>
      </p:sp>
      <p:sp>
        <p:nvSpPr>
          <p:cNvPr id="670" name="Google Shape;670;p46"/>
          <p:cNvSpPr/>
          <p:nvPr/>
        </p:nvSpPr>
        <p:spPr>
          <a:xfrm>
            <a:off x="6560894" y="3294419"/>
            <a:ext cx="770700" cy="303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6"/>
          <p:cNvSpPr txBox="1"/>
          <p:nvPr/>
        </p:nvSpPr>
        <p:spPr>
          <a:xfrm>
            <a:off x="7371550" y="2572175"/>
            <a:ext cx="11787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0xE4A71</a:t>
            </a:r>
            <a:endParaRPr b="1" sz="1200">
              <a:latin typeface="Raleway"/>
              <a:ea typeface="Raleway"/>
              <a:cs typeface="Raleway"/>
              <a:sym typeface="Raleway"/>
            </a:endParaRPr>
          </a:p>
        </p:txBody>
      </p:sp>
      <p:sp>
        <p:nvSpPr>
          <p:cNvPr id="672" name="Google Shape;672;p46"/>
          <p:cNvSpPr txBox="1"/>
          <p:nvPr/>
        </p:nvSpPr>
        <p:spPr>
          <a:xfrm>
            <a:off x="7371550" y="2911125"/>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0xE4A72</a:t>
            </a:r>
            <a:endParaRPr b="1" sz="1200">
              <a:latin typeface="Raleway"/>
              <a:ea typeface="Raleway"/>
              <a:cs typeface="Raleway"/>
              <a:sym typeface="Raleway"/>
            </a:endParaRPr>
          </a:p>
        </p:txBody>
      </p:sp>
      <p:sp>
        <p:nvSpPr>
          <p:cNvPr id="673" name="Google Shape;673;p46"/>
          <p:cNvSpPr txBox="1"/>
          <p:nvPr/>
        </p:nvSpPr>
        <p:spPr>
          <a:xfrm>
            <a:off x="7371550" y="3254400"/>
            <a:ext cx="1090800" cy="2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0xE4A73</a:t>
            </a:r>
            <a:endParaRPr b="1" sz="1200">
              <a:latin typeface="Raleway"/>
              <a:ea typeface="Raleway"/>
              <a:cs typeface="Raleway"/>
              <a:sym typeface="Raleway"/>
            </a:endParaRPr>
          </a:p>
        </p:txBody>
      </p:sp>
      <p:sp>
        <p:nvSpPr>
          <p:cNvPr id="674" name="Google Shape;674;p46"/>
          <p:cNvSpPr txBox="1"/>
          <p:nvPr/>
        </p:nvSpPr>
        <p:spPr>
          <a:xfrm>
            <a:off x="6666018" y="2616805"/>
            <a:ext cx="5508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rgbClr val="D15A12"/>
              </a:solidFill>
              <a:latin typeface="Raleway"/>
              <a:ea typeface="Raleway"/>
              <a:cs typeface="Raleway"/>
              <a:sym typeface="Raleway"/>
            </a:endParaRPr>
          </a:p>
        </p:txBody>
      </p:sp>
      <p:sp>
        <p:nvSpPr>
          <p:cNvPr id="675" name="Google Shape;675;p46"/>
          <p:cNvSpPr txBox="1"/>
          <p:nvPr/>
        </p:nvSpPr>
        <p:spPr>
          <a:xfrm>
            <a:off x="6516200" y="3732567"/>
            <a:ext cx="860400" cy="3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rgbClr val="D15A12"/>
                </a:solidFill>
                <a:latin typeface="Raleway"/>
                <a:ea typeface="Raleway"/>
                <a:cs typeface="Raleway"/>
                <a:sym typeface="Raleway"/>
              </a:rPr>
              <a:t>Memory</a:t>
            </a:r>
            <a:endParaRPr b="1" sz="1300">
              <a:solidFill>
                <a:srgbClr val="D15A12"/>
              </a:solidFill>
              <a:latin typeface="Raleway"/>
              <a:ea typeface="Raleway"/>
              <a:cs typeface="Raleway"/>
              <a:sym typeface="Raleway"/>
            </a:endParaRPr>
          </a:p>
        </p:txBody>
      </p:sp>
      <p:sp>
        <p:nvSpPr>
          <p:cNvPr id="676" name="Google Shape;676;p46"/>
          <p:cNvSpPr txBox="1"/>
          <p:nvPr/>
        </p:nvSpPr>
        <p:spPr>
          <a:xfrm>
            <a:off x="5594429" y="2964550"/>
            <a:ext cx="860400" cy="28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num</a:t>
            </a:r>
            <a:endParaRPr b="1" sz="1600">
              <a:solidFill>
                <a:srgbClr val="D15A12"/>
              </a:solidFill>
              <a:latin typeface="Raleway"/>
              <a:ea typeface="Raleway"/>
              <a:cs typeface="Raleway"/>
              <a:sym typeface="Raleway"/>
            </a:endParaRPr>
          </a:p>
        </p:txBody>
      </p:sp>
      <p:sp>
        <p:nvSpPr>
          <p:cNvPr id="677" name="Google Shape;677;p46"/>
          <p:cNvSpPr txBox="1"/>
          <p:nvPr/>
        </p:nvSpPr>
        <p:spPr>
          <a:xfrm>
            <a:off x="5650900" y="2540600"/>
            <a:ext cx="7707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D15A12"/>
                </a:solidFill>
                <a:latin typeface="Raleway"/>
                <a:ea typeface="Raleway"/>
                <a:cs typeface="Raleway"/>
                <a:sym typeface="Raleway"/>
              </a:rPr>
              <a:t>p</a:t>
            </a:r>
            <a:endParaRPr b="1" sz="1600">
              <a:solidFill>
                <a:srgbClr val="D15A12"/>
              </a:solidFill>
              <a:latin typeface="Raleway"/>
              <a:ea typeface="Raleway"/>
              <a:cs typeface="Raleway"/>
              <a:sym typeface="Raleway"/>
            </a:endParaRPr>
          </a:p>
        </p:txBody>
      </p:sp>
      <p:sp>
        <p:nvSpPr>
          <p:cNvPr id="678" name="Google Shape;678;p46"/>
          <p:cNvSpPr txBox="1"/>
          <p:nvPr/>
        </p:nvSpPr>
        <p:spPr>
          <a:xfrm>
            <a:off x="2292475" y="2047200"/>
            <a:ext cx="2997300" cy="7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int </a:t>
            </a:r>
            <a:r>
              <a:rPr b="1" lang="en" sz="2400">
                <a:solidFill>
                  <a:srgbClr val="434343"/>
                </a:solidFill>
                <a:latin typeface="Comic Sans MS"/>
                <a:ea typeface="Comic Sans MS"/>
                <a:cs typeface="Comic Sans MS"/>
                <a:sym typeface="Comic Sans MS"/>
              </a:rPr>
              <a:t>*</a:t>
            </a:r>
            <a:r>
              <a:rPr b="1" lang="en" sz="2400">
                <a:solidFill>
                  <a:srgbClr val="404040"/>
                </a:solidFill>
                <a:latin typeface="Comic Sans MS"/>
                <a:ea typeface="Comic Sans MS"/>
                <a:cs typeface="Comic Sans MS"/>
                <a:sym typeface="Comic Sans MS"/>
              </a:rPr>
              <a:t>p;</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float</a:t>
            </a:r>
            <a:r>
              <a:rPr b="1" lang="en" sz="2400">
                <a:solidFill>
                  <a:srgbClr val="404040"/>
                </a:solidFill>
                <a:latin typeface="Comic Sans MS"/>
                <a:ea typeface="Comic Sans MS"/>
                <a:cs typeface="Comic Sans MS"/>
                <a:sym typeface="Comic Sans MS"/>
              </a:rPr>
              <a:t> *mypointer;</a:t>
            </a:r>
            <a:endParaRPr b="1" sz="2400">
              <a:solidFill>
                <a:srgbClr val="40404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rPr b="1" lang="en" sz="2400">
                <a:solidFill>
                  <a:srgbClr val="D15A12"/>
                </a:solidFill>
                <a:latin typeface="Comic Sans MS"/>
                <a:ea typeface="Comic Sans MS"/>
                <a:cs typeface="Comic Sans MS"/>
                <a:sym typeface="Comic Sans MS"/>
              </a:rPr>
              <a:t>char</a:t>
            </a:r>
            <a:r>
              <a:rPr b="1" lang="en" sz="2400">
                <a:solidFill>
                  <a:srgbClr val="404040"/>
                </a:solidFill>
                <a:latin typeface="Comic Sans MS"/>
                <a:ea typeface="Comic Sans MS"/>
                <a:cs typeface="Comic Sans MS"/>
                <a:sym typeface="Comic Sans MS"/>
              </a:rPr>
              <a:t> *another;</a:t>
            </a:r>
            <a:endParaRPr b="1" sz="2400">
              <a:solidFill>
                <a:srgbClr val="404040"/>
              </a:solidFill>
              <a:latin typeface="Comic Sans MS"/>
              <a:ea typeface="Comic Sans MS"/>
              <a:cs typeface="Comic Sans MS"/>
              <a:sym typeface="Comic Sans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47"/>
          <p:cNvSpPr txBox="1"/>
          <p:nvPr>
            <p:ph type="ctrTitle"/>
          </p:nvPr>
        </p:nvSpPr>
        <p:spPr>
          <a:xfrm>
            <a:off x="0" y="0"/>
            <a:ext cx="9144000" cy="790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3600">
                <a:solidFill>
                  <a:srgbClr val="404040"/>
                </a:solidFill>
                <a:latin typeface="Comic Sans MS"/>
                <a:ea typeface="Comic Sans MS"/>
                <a:cs typeface="Comic Sans MS"/>
                <a:sym typeface="Comic Sans MS"/>
              </a:rPr>
              <a:t>   Learning Objective</a:t>
            </a:r>
            <a:endParaRPr b="1" sz="3600">
              <a:solidFill>
                <a:srgbClr val="404040"/>
              </a:solidFill>
              <a:latin typeface="Comic Sans MS"/>
              <a:ea typeface="Comic Sans MS"/>
              <a:cs typeface="Comic Sans MS"/>
              <a:sym typeface="Comic Sans MS"/>
            </a:endParaRPr>
          </a:p>
        </p:txBody>
      </p:sp>
      <p:sp>
        <p:nvSpPr>
          <p:cNvPr id="684" name="Google Shape;684;p47"/>
          <p:cNvSpPr txBox="1"/>
          <p:nvPr>
            <p:ph idx="1" type="subTitle"/>
          </p:nvPr>
        </p:nvSpPr>
        <p:spPr>
          <a:xfrm>
            <a:off x="701875" y="1756725"/>
            <a:ext cx="6388800" cy="214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3000">
                <a:solidFill>
                  <a:srgbClr val="404040"/>
                </a:solidFill>
                <a:latin typeface="Raleway"/>
                <a:ea typeface="Raleway"/>
                <a:cs typeface="Raleway"/>
                <a:sym typeface="Raleway"/>
              </a:rPr>
              <a:t>Understand the access of memory addresses using Pointer</a:t>
            </a:r>
            <a:endParaRPr b="1" sz="3000">
              <a:solidFill>
                <a:srgbClr val="404040"/>
              </a:solidFill>
              <a:latin typeface="Raleway"/>
              <a:ea typeface="Raleway"/>
              <a:cs typeface="Raleway"/>
              <a:sym typeface="Raleway"/>
            </a:endParaRPr>
          </a:p>
        </p:txBody>
      </p:sp>
      <p:pic>
        <p:nvPicPr>
          <p:cNvPr id="685" name="Google Shape;685;p47"/>
          <p:cNvPicPr preferRelativeResize="0"/>
          <p:nvPr/>
        </p:nvPicPr>
        <p:blipFill>
          <a:blip r:embed="rId3">
            <a:alphaModFix/>
          </a:blip>
          <a:stretch>
            <a:fillRect/>
          </a:stretch>
        </p:blipFill>
        <p:spPr>
          <a:xfrm>
            <a:off x="7261975" y="718825"/>
            <a:ext cx="1792300" cy="3885750"/>
          </a:xfrm>
          <a:prstGeom prst="rect">
            <a:avLst/>
          </a:prstGeom>
          <a:noFill/>
          <a:ln>
            <a:noFill/>
          </a:ln>
        </p:spPr>
      </p:pic>
      <p:cxnSp>
        <p:nvCxnSpPr>
          <p:cNvPr id="686" name="Google Shape;686;p47"/>
          <p:cNvCxnSpPr/>
          <p:nvPr/>
        </p:nvCxnSpPr>
        <p:spPr>
          <a:xfrm>
            <a:off x="375500" y="123950"/>
            <a:ext cx="0" cy="570000"/>
          </a:xfrm>
          <a:prstGeom prst="straightConnector1">
            <a:avLst/>
          </a:prstGeom>
          <a:noFill/>
          <a:ln cap="flat" cmpd="sng" w="38100">
            <a:solidFill>
              <a:srgbClr val="D15A12"/>
            </a:solidFill>
            <a:prstDash val="solid"/>
            <a:round/>
            <a:headEnd len="med" w="med" type="none"/>
            <a:tailEnd len="med" w="med" type="none"/>
          </a:ln>
        </p:spPr>
      </p:cxnSp>
      <p:cxnSp>
        <p:nvCxnSpPr>
          <p:cNvPr id="687" name="Google Shape;687;p47"/>
          <p:cNvCxnSpPr/>
          <p:nvPr/>
        </p:nvCxnSpPr>
        <p:spPr>
          <a:xfrm>
            <a:off x="299300" y="47750"/>
            <a:ext cx="0" cy="570000"/>
          </a:xfrm>
          <a:prstGeom prst="straightConnector1">
            <a:avLst/>
          </a:prstGeom>
          <a:noFill/>
          <a:ln cap="flat" cmpd="sng" w="38100">
            <a:solidFill>
              <a:schemeClr val="dk2"/>
            </a:solidFill>
            <a:prstDash val="solid"/>
            <a:round/>
            <a:headEnd len="med" w="med" type="none"/>
            <a:tailEnd len="med" w="med" type="none"/>
          </a:ln>
        </p:spPr>
      </p:cxnSp>
      <p:sp>
        <p:nvSpPr>
          <p:cNvPr id="688" name="Google Shape;688;p4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cxnSp>
        <p:nvCxnSpPr>
          <p:cNvPr id="693" name="Google Shape;693;p48"/>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694" name="Google Shape;694;p48"/>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695" name="Google Shape;695;p4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96" name="Google Shape;696;p48"/>
          <p:cNvSpPr txBox="1"/>
          <p:nvPr>
            <p:ph type="ctrTitle"/>
          </p:nvPr>
        </p:nvSpPr>
        <p:spPr>
          <a:xfrm>
            <a:off x="0" y="0"/>
            <a:ext cx="82950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Conclusion</a:t>
            </a:r>
            <a:endParaRPr b="1" sz="3600">
              <a:solidFill>
                <a:srgbClr val="434343"/>
              </a:solidFill>
              <a:latin typeface="Comic Sans MS"/>
              <a:ea typeface="Comic Sans MS"/>
              <a:cs typeface="Comic Sans MS"/>
              <a:sym typeface="Comic Sans MS"/>
            </a:endParaRPr>
          </a:p>
        </p:txBody>
      </p:sp>
      <p:sp>
        <p:nvSpPr>
          <p:cNvPr id="697" name="Google Shape;697;p48"/>
          <p:cNvSpPr txBox="1"/>
          <p:nvPr/>
        </p:nvSpPr>
        <p:spPr>
          <a:xfrm>
            <a:off x="375500" y="873050"/>
            <a:ext cx="8637900" cy="3989700"/>
          </a:xfrm>
          <a:prstGeom prst="rect">
            <a:avLst/>
          </a:prstGeom>
          <a:noFill/>
          <a:ln>
            <a:noFill/>
          </a:ln>
        </p:spPr>
        <p:txBody>
          <a:bodyPr anchorCtr="0" anchor="t" bIns="91425" lIns="91425" spcFirstLastPara="1" rIns="91425" wrap="square" tIns="91425">
            <a:noAutofit/>
          </a:bodyPr>
          <a:lstStyle/>
          <a:p>
            <a:pPr indent="-349250" lvl="0" marL="457200" marR="0" rtl="0" algn="l">
              <a:lnSpc>
                <a:spcPct val="115000"/>
              </a:lnSpc>
              <a:spcBef>
                <a:spcPts val="0"/>
              </a:spcBef>
              <a:spcAft>
                <a:spcPts val="0"/>
              </a:spcAft>
              <a:buClr>
                <a:srgbClr val="404040"/>
              </a:buClr>
              <a:buSzPts val="1900"/>
              <a:buFont typeface="Comic Sans MS"/>
              <a:buChar char="●"/>
            </a:pPr>
            <a:r>
              <a:rPr b="1" lang="en" sz="1900">
                <a:solidFill>
                  <a:srgbClr val="404040"/>
                </a:solidFill>
                <a:latin typeface="Comic Sans MS"/>
                <a:ea typeface="Comic Sans MS"/>
                <a:cs typeface="Comic Sans MS"/>
                <a:sym typeface="Comic Sans MS"/>
              </a:rPr>
              <a:t>The </a:t>
            </a:r>
            <a:r>
              <a:rPr b="1" lang="en" sz="1900">
                <a:solidFill>
                  <a:srgbClr val="D15A12"/>
                </a:solidFill>
                <a:latin typeface="Comic Sans MS"/>
                <a:ea typeface="Comic Sans MS"/>
                <a:cs typeface="Comic Sans MS"/>
                <a:sym typeface="Comic Sans MS"/>
              </a:rPr>
              <a:t>address</a:t>
            </a:r>
            <a:r>
              <a:rPr b="1" lang="en" sz="1900">
                <a:solidFill>
                  <a:srgbClr val="404040"/>
                </a:solidFill>
                <a:latin typeface="Comic Sans MS"/>
                <a:ea typeface="Comic Sans MS"/>
                <a:cs typeface="Comic Sans MS"/>
                <a:sym typeface="Comic Sans MS"/>
              </a:rPr>
              <a:t> of a variable can be stored in another variable known as a </a:t>
            </a:r>
            <a:r>
              <a:rPr b="1" lang="en" sz="1900">
                <a:solidFill>
                  <a:srgbClr val="D15A12"/>
                </a:solidFill>
                <a:latin typeface="Comic Sans MS"/>
                <a:ea typeface="Comic Sans MS"/>
                <a:cs typeface="Comic Sans MS"/>
                <a:sym typeface="Comic Sans MS"/>
              </a:rPr>
              <a:t>pointer variable</a:t>
            </a:r>
            <a:r>
              <a:rPr b="1" lang="en" sz="1900">
                <a:solidFill>
                  <a:srgbClr val="404040"/>
                </a:solidFill>
                <a:latin typeface="Comic Sans MS"/>
                <a:ea typeface="Comic Sans MS"/>
                <a:cs typeface="Comic Sans MS"/>
                <a:sym typeface="Comic Sans MS"/>
              </a:rPr>
              <a:t>. The syntax for storing a variable's address to a pointer is:</a:t>
            </a:r>
            <a:endParaRPr b="1" sz="1900">
              <a:solidFill>
                <a:srgbClr val="404040"/>
              </a:solidFill>
              <a:latin typeface="Comic Sans MS"/>
              <a:ea typeface="Comic Sans MS"/>
              <a:cs typeface="Comic Sans MS"/>
              <a:sym typeface="Comic Sans MS"/>
            </a:endParaRPr>
          </a:p>
          <a:p>
            <a:pPr indent="457200" lvl="0" marL="914400" marR="0" rtl="0" algn="l">
              <a:lnSpc>
                <a:spcPct val="115000"/>
              </a:lnSpc>
              <a:spcBef>
                <a:spcPts val="0"/>
              </a:spcBef>
              <a:spcAft>
                <a:spcPts val="0"/>
              </a:spcAft>
              <a:buNone/>
            </a:pPr>
            <a:r>
              <a:rPr b="1" lang="en" sz="1900">
                <a:solidFill>
                  <a:srgbClr val="404040"/>
                </a:solidFill>
                <a:latin typeface="Comic Sans MS"/>
                <a:ea typeface="Comic Sans MS"/>
                <a:cs typeface="Comic Sans MS"/>
                <a:sym typeface="Comic Sans MS"/>
              </a:rPr>
              <a:t>dataType </a:t>
            </a:r>
            <a:r>
              <a:rPr b="1" lang="en" sz="1900">
                <a:solidFill>
                  <a:srgbClr val="D15A12"/>
                </a:solidFill>
                <a:latin typeface="Comic Sans MS"/>
                <a:ea typeface="Comic Sans MS"/>
                <a:cs typeface="Comic Sans MS"/>
                <a:sym typeface="Comic Sans MS"/>
              </a:rPr>
              <a:t>*pointerVariableName</a:t>
            </a:r>
            <a:r>
              <a:rPr b="1" lang="en" sz="1900">
                <a:solidFill>
                  <a:srgbClr val="404040"/>
                </a:solidFill>
                <a:latin typeface="Comic Sans MS"/>
                <a:ea typeface="Comic Sans MS"/>
                <a:cs typeface="Comic Sans MS"/>
                <a:sym typeface="Comic Sans MS"/>
              </a:rPr>
              <a:t> = &amp;variableName;</a:t>
            </a:r>
            <a:endParaRPr b="1" sz="1900">
              <a:solidFill>
                <a:srgbClr val="404040"/>
              </a:solidFill>
              <a:latin typeface="Comic Sans MS"/>
              <a:ea typeface="Comic Sans MS"/>
              <a:cs typeface="Comic Sans MS"/>
              <a:sym typeface="Comic Sans MS"/>
            </a:endParaRPr>
          </a:p>
          <a:p>
            <a:pPr indent="0" lvl="0" marL="457200" marR="0" rtl="0" algn="l">
              <a:lnSpc>
                <a:spcPct val="115000"/>
              </a:lnSpc>
              <a:spcBef>
                <a:spcPts val="0"/>
              </a:spcBef>
              <a:spcAft>
                <a:spcPts val="0"/>
              </a:spcAft>
              <a:buNone/>
            </a:pPr>
            <a:r>
              <a:t/>
            </a:r>
            <a:endParaRPr b="1" sz="1900">
              <a:solidFill>
                <a:srgbClr val="404040"/>
              </a:solidFill>
              <a:latin typeface="Comic Sans MS"/>
              <a:ea typeface="Comic Sans MS"/>
              <a:cs typeface="Comic Sans MS"/>
              <a:sym typeface="Comic Sans MS"/>
            </a:endParaRPr>
          </a:p>
          <a:p>
            <a:pPr indent="-349250" lvl="0" marL="457200" marR="0" rtl="0" algn="l">
              <a:lnSpc>
                <a:spcPct val="115000"/>
              </a:lnSpc>
              <a:spcBef>
                <a:spcPts val="0"/>
              </a:spcBef>
              <a:spcAft>
                <a:spcPts val="0"/>
              </a:spcAft>
              <a:buClr>
                <a:srgbClr val="404040"/>
              </a:buClr>
              <a:buSzPts val="1900"/>
              <a:buFont typeface="Comic Sans MS"/>
              <a:buChar char="●"/>
            </a:pPr>
            <a:r>
              <a:rPr b="1" lang="en" sz="1900">
                <a:solidFill>
                  <a:srgbClr val="404040"/>
                </a:solidFill>
                <a:latin typeface="Comic Sans MS"/>
                <a:ea typeface="Comic Sans MS"/>
                <a:cs typeface="Comic Sans MS"/>
                <a:sym typeface="Comic Sans MS"/>
              </a:rPr>
              <a:t>We need to tell the computer what the </a:t>
            </a:r>
            <a:r>
              <a:rPr b="1" lang="en" sz="1900">
                <a:solidFill>
                  <a:srgbClr val="D15A12"/>
                </a:solidFill>
                <a:latin typeface="Comic Sans MS"/>
                <a:ea typeface="Comic Sans MS"/>
                <a:cs typeface="Comic Sans MS"/>
                <a:sym typeface="Comic Sans MS"/>
              </a:rPr>
              <a:t>data type</a:t>
            </a:r>
            <a:r>
              <a:rPr b="1" lang="en" sz="1900">
                <a:solidFill>
                  <a:srgbClr val="404040"/>
                </a:solidFill>
                <a:latin typeface="Comic Sans MS"/>
                <a:ea typeface="Comic Sans MS"/>
                <a:cs typeface="Comic Sans MS"/>
                <a:sym typeface="Comic Sans MS"/>
              </a:rPr>
              <a:t> of the variable is whose address we are going to store.</a:t>
            </a:r>
            <a:endParaRPr b="1" sz="1900">
              <a:solidFill>
                <a:srgbClr val="404040"/>
              </a:solidFill>
              <a:latin typeface="Comic Sans MS"/>
              <a:ea typeface="Comic Sans MS"/>
              <a:cs typeface="Comic Sans MS"/>
              <a:sym typeface="Comic Sans MS"/>
            </a:endParaRPr>
          </a:p>
          <a:p>
            <a:pPr indent="-349250" lvl="0" marL="457200" marR="0" rtl="0" algn="l">
              <a:lnSpc>
                <a:spcPct val="115000"/>
              </a:lnSpc>
              <a:spcBef>
                <a:spcPts val="0"/>
              </a:spcBef>
              <a:spcAft>
                <a:spcPts val="0"/>
              </a:spcAft>
              <a:buClr>
                <a:srgbClr val="404040"/>
              </a:buClr>
              <a:buSzPts val="1900"/>
              <a:buFont typeface="Comic Sans MS"/>
              <a:buChar char="●"/>
            </a:pPr>
            <a:r>
              <a:rPr b="1" lang="en" sz="1900">
                <a:solidFill>
                  <a:srgbClr val="404040"/>
                </a:solidFill>
                <a:latin typeface="Comic Sans MS"/>
                <a:ea typeface="Comic Sans MS"/>
                <a:cs typeface="Comic Sans MS"/>
                <a:sym typeface="Comic Sans MS"/>
              </a:rPr>
              <a:t>If you see the </a:t>
            </a:r>
            <a:r>
              <a:rPr b="1" lang="en" sz="1900">
                <a:solidFill>
                  <a:srgbClr val="D15A12"/>
                </a:solidFill>
                <a:latin typeface="Comic Sans MS"/>
                <a:ea typeface="Comic Sans MS"/>
                <a:cs typeface="Comic Sans MS"/>
                <a:sym typeface="Comic Sans MS"/>
              </a:rPr>
              <a:t>*</a:t>
            </a:r>
            <a:r>
              <a:rPr b="1" lang="en" sz="1900">
                <a:solidFill>
                  <a:srgbClr val="404040"/>
                </a:solidFill>
                <a:latin typeface="Comic Sans MS"/>
                <a:ea typeface="Comic Sans MS"/>
                <a:cs typeface="Comic Sans MS"/>
                <a:sym typeface="Comic Sans MS"/>
              </a:rPr>
              <a:t> in a declaration statement, a pointer is being declared for the first time.</a:t>
            </a:r>
            <a:endParaRPr b="1" sz="1900">
              <a:solidFill>
                <a:srgbClr val="404040"/>
              </a:solidFill>
              <a:latin typeface="Comic Sans MS"/>
              <a:ea typeface="Comic Sans MS"/>
              <a:cs typeface="Comic Sans MS"/>
              <a:sym typeface="Comic Sans MS"/>
            </a:endParaRPr>
          </a:p>
          <a:p>
            <a:pPr indent="-349250" lvl="0" marL="457200" marR="0" rtl="0" algn="l">
              <a:lnSpc>
                <a:spcPct val="115000"/>
              </a:lnSpc>
              <a:spcBef>
                <a:spcPts val="0"/>
              </a:spcBef>
              <a:spcAft>
                <a:spcPts val="0"/>
              </a:spcAft>
              <a:buClr>
                <a:srgbClr val="404040"/>
              </a:buClr>
              <a:buSzPts val="1900"/>
              <a:buFont typeface="Comic Sans MS"/>
              <a:buChar char="●"/>
            </a:pPr>
            <a:r>
              <a:rPr b="1" lang="en" sz="1900">
                <a:solidFill>
                  <a:srgbClr val="404040"/>
                </a:solidFill>
                <a:latin typeface="Comic Sans MS"/>
                <a:ea typeface="Comic Sans MS"/>
                <a:cs typeface="Comic Sans MS"/>
                <a:sym typeface="Comic Sans MS"/>
              </a:rPr>
              <a:t>AFTER that, when you see the </a:t>
            </a:r>
            <a:r>
              <a:rPr b="1" lang="en" sz="1900">
                <a:solidFill>
                  <a:srgbClr val="D15A12"/>
                </a:solidFill>
                <a:latin typeface="Comic Sans MS"/>
                <a:ea typeface="Comic Sans MS"/>
                <a:cs typeface="Comic Sans MS"/>
                <a:sym typeface="Comic Sans MS"/>
              </a:rPr>
              <a:t>*</a:t>
            </a:r>
            <a:r>
              <a:rPr b="1" lang="en" sz="1900">
                <a:solidFill>
                  <a:srgbClr val="404040"/>
                </a:solidFill>
                <a:latin typeface="Comic Sans MS"/>
                <a:ea typeface="Comic Sans MS"/>
                <a:cs typeface="Comic Sans MS"/>
                <a:sym typeface="Comic Sans MS"/>
              </a:rPr>
              <a:t> on the pointer name, you are </a:t>
            </a:r>
            <a:r>
              <a:rPr b="1" lang="en" sz="1900">
                <a:solidFill>
                  <a:srgbClr val="D15A12"/>
                </a:solidFill>
                <a:latin typeface="Comic Sans MS"/>
                <a:ea typeface="Comic Sans MS"/>
                <a:cs typeface="Comic Sans MS"/>
                <a:sym typeface="Comic Sans MS"/>
              </a:rPr>
              <a:t>dereferencing the pointer</a:t>
            </a:r>
            <a:r>
              <a:rPr b="1" lang="en" sz="1900">
                <a:solidFill>
                  <a:srgbClr val="404040"/>
                </a:solidFill>
                <a:latin typeface="Comic Sans MS"/>
                <a:ea typeface="Comic Sans MS"/>
                <a:cs typeface="Comic Sans MS"/>
                <a:sym typeface="Comic Sans MS"/>
              </a:rPr>
              <a:t> to get to the target.</a:t>
            </a:r>
            <a:endParaRPr b="1" sz="1900">
              <a:solidFill>
                <a:srgbClr val="40404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0" st="0"/>
                                            </p:txEl>
                                          </p:spTgt>
                                        </p:tgtEl>
                                        <p:attrNameLst>
                                          <p:attrName>style.visibility</p:attrName>
                                        </p:attrNameLst>
                                      </p:cBhvr>
                                      <p:to>
                                        <p:strVal val="visible"/>
                                      </p:to>
                                    </p:set>
                                    <p:animEffect filter="fade" transition="in">
                                      <p:cBhvr>
                                        <p:cTn dur="1000"/>
                                        <p:tgtEl>
                                          <p:spTgt spid="6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1" st="1"/>
                                            </p:txEl>
                                          </p:spTgt>
                                        </p:tgtEl>
                                        <p:attrNameLst>
                                          <p:attrName>style.visibility</p:attrName>
                                        </p:attrNameLst>
                                      </p:cBhvr>
                                      <p:to>
                                        <p:strVal val="visible"/>
                                      </p:to>
                                    </p:set>
                                    <p:animEffect filter="fade" transition="in">
                                      <p:cBhvr>
                                        <p:cTn dur="1000"/>
                                        <p:tgtEl>
                                          <p:spTgt spid="6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2" st="2"/>
                                            </p:txEl>
                                          </p:spTgt>
                                        </p:tgtEl>
                                        <p:attrNameLst>
                                          <p:attrName>style.visibility</p:attrName>
                                        </p:attrNameLst>
                                      </p:cBhvr>
                                      <p:to>
                                        <p:strVal val="visible"/>
                                      </p:to>
                                    </p:set>
                                    <p:animEffect filter="fade" transition="in">
                                      <p:cBhvr>
                                        <p:cTn dur="1000"/>
                                        <p:tgtEl>
                                          <p:spTgt spid="6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3" st="3"/>
                                            </p:txEl>
                                          </p:spTgt>
                                        </p:tgtEl>
                                        <p:attrNameLst>
                                          <p:attrName>style.visibility</p:attrName>
                                        </p:attrNameLst>
                                      </p:cBhvr>
                                      <p:to>
                                        <p:strVal val="visible"/>
                                      </p:to>
                                    </p:set>
                                    <p:animEffect filter="fade" transition="in">
                                      <p:cBhvr>
                                        <p:cTn dur="1000"/>
                                        <p:tgtEl>
                                          <p:spTgt spid="6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4" st="4"/>
                                            </p:txEl>
                                          </p:spTgt>
                                        </p:tgtEl>
                                        <p:attrNameLst>
                                          <p:attrName>style.visibility</p:attrName>
                                        </p:attrNameLst>
                                      </p:cBhvr>
                                      <p:to>
                                        <p:strVal val="visible"/>
                                      </p:to>
                                    </p:set>
                                    <p:animEffect filter="fade" transition="in">
                                      <p:cBhvr>
                                        <p:cTn dur="1000"/>
                                        <p:tgtEl>
                                          <p:spTgt spid="6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xEl>
                                              <p:pRg end="5" st="5"/>
                                            </p:txEl>
                                          </p:spTgt>
                                        </p:tgtEl>
                                        <p:attrNameLst>
                                          <p:attrName>style.visibility</p:attrName>
                                        </p:attrNameLst>
                                      </p:cBhvr>
                                      <p:to>
                                        <p:strVal val="visible"/>
                                      </p:to>
                                    </p:set>
                                    <p:animEffect filter="fade" transition="in">
                                      <p:cBhvr>
                                        <p:cTn dur="1000"/>
                                        <p:tgtEl>
                                          <p:spTgt spid="69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9"/>
          <p:cNvSpPr txBox="1"/>
          <p:nvPr>
            <p:ph type="ctrTitle"/>
          </p:nvPr>
        </p:nvSpPr>
        <p:spPr>
          <a:xfrm>
            <a:off x="0" y="0"/>
            <a:ext cx="82296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Self </a:t>
            </a:r>
            <a:r>
              <a:rPr b="1" lang="en" sz="3600">
                <a:solidFill>
                  <a:srgbClr val="D15A12"/>
                </a:solidFill>
                <a:latin typeface="Comic Sans MS"/>
                <a:ea typeface="Comic Sans MS"/>
                <a:cs typeface="Comic Sans MS"/>
                <a:sym typeface="Comic Sans MS"/>
              </a:rPr>
              <a:t>Assessment:</a:t>
            </a:r>
            <a:endParaRPr b="1" sz="2933">
              <a:solidFill>
                <a:srgbClr val="D15A12"/>
              </a:solidFill>
              <a:latin typeface="Comic Sans MS"/>
              <a:ea typeface="Comic Sans MS"/>
              <a:cs typeface="Comic Sans MS"/>
              <a:sym typeface="Comic Sans MS"/>
            </a:endParaRPr>
          </a:p>
        </p:txBody>
      </p:sp>
      <p:cxnSp>
        <p:nvCxnSpPr>
          <p:cNvPr id="703" name="Google Shape;703;p49"/>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704" name="Google Shape;704;p49"/>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705" name="Google Shape;705;p4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6" name="Google Shape;706;p49"/>
          <p:cNvSpPr txBox="1"/>
          <p:nvPr/>
        </p:nvSpPr>
        <p:spPr>
          <a:xfrm>
            <a:off x="622675" y="1025050"/>
            <a:ext cx="6453300" cy="384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04040"/>
                </a:solidFill>
                <a:latin typeface="Calibri"/>
                <a:ea typeface="Calibri"/>
                <a:cs typeface="Calibri"/>
                <a:sym typeface="Calibri"/>
              </a:rPr>
              <a:t>1.	 What is the output of the following code?</a:t>
            </a:r>
            <a:endParaRPr b="1" sz="1900">
              <a:solidFill>
                <a:srgbClr val="404040"/>
              </a:solidFill>
              <a:latin typeface="Calibri"/>
              <a:ea typeface="Calibri"/>
              <a:cs typeface="Calibri"/>
              <a:sym typeface="Calibri"/>
            </a:endParaRPr>
          </a:p>
          <a:p>
            <a:pPr indent="0" lvl="0" marL="0" rtl="0" algn="l">
              <a:lnSpc>
                <a:spcPct val="135714"/>
              </a:lnSpc>
              <a:spcBef>
                <a:spcPts val="0"/>
              </a:spcBef>
              <a:spcAft>
                <a:spcPts val="0"/>
              </a:spcAft>
              <a:buNone/>
            </a:pPr>
            <a:r>
              <a:t/>
            </a:r>
            <a:endParaRPr sz="1050">
              <a:solidFill>
                <a:srgbClr val="00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050">
                <a:solidFill>
                  <a:srgbClr val="0000FF"/>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int1 = </a:t>
            </a:r>
            <a:r>
              <a:rPr b="1" lang="en" sz="1550">
                <a:solidFill>
                  <a:srgbClr val="098658"/>
                </a:solidFill>
                <a:highlight>
                  <a:srgbClr val="FFFFFF"/>
                </a:highlight>
                <a:latin typeface="Courier New"/>
                <a:ea typeface="Courier New"/>
                <a:cs typeface="Courier New"/>
                <a:sym typeface="Courier New"/>
              </a:rPr>
              <a:t>26</a:t>
            </a: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int2 = </a:t>
            </a:r>
            <a:r>
              <a:rPr b="1" lang="en" sz="1550">
                <a:solidFill>
                  <a:srgbClr val="098658"/>
                </a:solidFill>
                <a:highlight>
                  <a:srgbClr val="FFFFFF"/>
                </a:highlight>
                <a:latin typeface="Courier New"/>
                <a:ea typeface="Courier New"/>
                <a:cs typeface="Courier New"/>
                <a:sym typeface="Courier New"/>
              </a:rPr>
              <a:t>45</a:t>
            </a: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*int1Ptr = &amp;int1;</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a:t>
            </a:r>
            <a:r>
              <a:rPr b="1" lang="en" sz="1550">
                <a:solidFill>
                  <a:srgbClr val="0000FF"/>
                </a:solidFill>
                <a:highlight>
                  <a:srgbClr val="FFFFFF"/>
                </a:highlight>
                <a:latin typeface="Courier New"/>
                <a:ea typeface="Courier New"/>
                <a:cs typeface="Courier New"/>
                <a:sym typeface="Courier New"/>
              </a:rPr>
              <a:t>int</a:t>
            </a:r>
            <a:r>
              <a:rPr b="1" lang="en" sz="1550">
                <a:solidFill>
                  <a:schemeClr val="dk1"/>
                </a:solidFill>
                <a:highlight>
                  <a:srgbClr val="FFFFFF"/>
                </a:highlight>
                <a:latin typeface="Courier New"/>
                <a:ea typeface="Courier New"/>
                <a:cs typeface="Courier New"/>
                <a:sym typeface="Courier New"/>
              </a:rPr>
              <a:t> *int2Ptr = &amp;int2;</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*int1Ptr = </a:t>
            </a:r>
            <a:r>
              <a:rPr b="1" lang="en" sz="1550">
                <a:solidFill>
                  <a:srgbClr val="098658"/>
                </a:solidFill>
                <a:highlight>
                  <a:srgbClr val="FFFFFF"/>
                </a:highlight>
                <a:latin typeface="Courier New"/>
                <a:ea typeface="Courier New"/>
                <a:cs typeface="Courier New"/>
                <a:sym typeface="Courier New"/>
              </a:rPr>
              <a:t>89</a:t>
            </a: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*int2Ptr = </a:t>
            </a:r>
            <a:r>
              <a:rPr b="1" lang="en" sz="1550">
                <a:solidFill>
                  <a:srgbClr val="098658"/>
                </a:solidFill>
                <a:highlight>
                  <a:srgbClr val="FFFFFF"/>
                </a:highlight>
                <a:latin typeface="Courier New"/>
                <a:ea typeface="Courier New"/>
                <a:cs typeface="Courier New"/>
                <a:sym typeface="Courier New"/>
              </a:rPr>
              <a:t>62</a:t>
            </a: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int1Ptr = int2Ptr;</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*int1Ptr = </a:t>
            </a:r>
            <a:r>
              <a:rPr b="1" lang="en" sz="1550">
                <a:solidFill>
                  <a:srgbClr val="098658"/>
                </a:solidFill>
                <a:highlight>
                  <a:srgbClr val="FFFFFF"/>
                </a:highlight>
                <a:latin typeface="Courier New"/>
                <a:ea typeface="Courier New"/>
                <a:cs typeface="Courier New"/>
                <a:sym typeface="Courier New"/>
              </a:rPr>
              <a:t>80</a:t>
            </a: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int1 = </a:t>
            </a:r>
            <a:r>
              <a:rPr b="1" lang="en" sz="1550">
                <a:solidFill>
                  <a:srgbClr val="098658"/>
                </a:solidFill>
                <a:highlight>
                  <a:srgbClr val="FFFFFF"/>
                </a:highlight>
                <a:latin typeface="Courier New"/>
                <a:ea typeface="Courier New"/>
                <a:cs typeface="Courier New"/>
                <a:sym typeface="Courier New"/>
              </a:rPr>
              <a:t>57</a:t>
            </a:r>
            <a:r>
              <a:rPr b="1" lang="en" sz="1550">
                <a:solidFill>
                  <a:schemeClr val="dk1"/>
                </a:solidFill>
                <a:highlight>
                  <a:srgbClr val="FFFFFF"/>
                </a:highlight>
                <a:latin typeface="Courier New"/>
                <a:ea typeface="Courier New"/>
                <a:cs typeface="Courier New"/>
                <a:sym typeface="Courier New"/>
              </a:rPr>
              <a:t>;</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cout &lt;&lt; int1 &lt;&lt; </a:t>
            </a:r>
            <a:r>
              <a:rPr b="1" lang="en" sz="1550">
                <a:solidFill>
                  <a:srgbClr val="A31515"/>
                </a:solidFill>
                <a:highlight>
                  <a:srgbClr val="FFFFFF"/>
                </a:highlight>
                <a:latin typeface="Courier New"/>
                <a:ea typeface="Courier New"/>
                <a:cs typeface="Courier New"/>
                <a:sym typeface="Courier New"/>
              </a:rPr>
              <a:t>" "</a:t>
            </a:r>
            <a:r>
              <a:rPr b="1" lang="en" sz="1550">
                <a:solidFill>
                  <a:schemeClr val="dk1"/>
                </a:solidFill>
                <a:highlight>
                  <a:srgbClr val="FFFFFF"/>
                </a:highlight>
                <a:latin typeface="Courier New"/>
                <a:ea typeface="Courier New"/>
                <a:cs typeface="Courier New"/>
                <a:sym typeface="Courier New"/>
              </a:rPr>
              <a:t> &lt;&lt; int2 &lt;&lt; endl;</a:t>
            </a:r>
            <a:endParaRPr b="1" sz="15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rgbClr val="FFFFFF"/>
                </a:highlight>
                <a:latin typeface="Courier New"/>
                <a:ea typeface="Courier New"/>
                <a:cs typeface="Courier New"/>
                <a:sym typeface="Courier New"/>
              </a:rPr>
              <a:t>    cout &lt;&lt; *int1Ptr &lt;&lt; </a:t>
            </a:r>
            <a:r>
              <a:rPr b="1" lang="en" sz="1550">
                <a:solidFill>
                  <a:srgbClr val="A31515"/>
                </a:solidFill>
                <a:highlight>
                  <a:srgbClr val="FFFFFF"/>
                </a:highlight>
                <a:latin typeface="Courier New"/>
                <a:ea typeface="Courier New"/>
                <a:cs typeface="Courier New"/>
                <a:sym typeface="Courier New"/>
              </a:rPr>
              <a:t>" "</a:t>
            </a:r>
            <a:r>
              <a:rPr b="1" lang="en" sz="1550">
                <a:solidFill>
                  <a:schemeClr val="dk1"/>
                </a:solidFill>
                <a:highlight>
                  <a:srgbClr val="FFFFFF"/>
                </a:highlight>
                <a:latin typeface="Courier New"/>
                <a:ea typeface="Courier New"/>
                <a:cs typeface="Courier New"/>
                <a:sym typeface="Courier New"/>
              </a:rPr>
              <a:t> &lt;&lt; *int2Ptr &lt;&lt; endl;</a:t>
            </a:r>
            <a:endParaRPr b="1" sz="1550">
              <a:solidFill>
                <a:schemeClr val="dk1"/>
              </a:solidFill>
              <a:highlight>
                <a:srgbClr val="FFFFFF"/>
              </a:highlight>
              <a:latin typeface="Courier New"/>
              <a:ea typeface="Courier New"/>
              <a:cs typeface="Courier New"/>
              <a:sym typeface="Courier New"/>
            </a:endParaRPr>
          </a:p>
          <a:p>
            <a:pPr indent="0" lvl="0" marL="457200" marR="0" rtl="0" algn="l">
              <a:lnSpc>
                <a:spcPct val="115000"/>
              </a:lnSpc>
              <a:spcBef>
                <a:spcPts val="0"/>
              </a:spcBef>
              <a:spcAft>
                <a:spcPts val="0"/>
              </a:spcAft>
              <a:buNone/>
            </a:pPr>
            <a:r>
              <a:t/>
            </a:r>
            <a:endParaRPr b="1" sz="1900">
              <a:solidFill>
                <a:srgbClr val="404040"/>
              </a:solidFill>
              <a:latin typeface="Calibri"/>
              <a:ea typeface="Calibri"/>
              <a:cs typeface="Calibri"/>
              <a:sym typeface="Calibri"/>
            </a:endParaRPr>
          </a:p>
        </p:txBody>
      </p:sp>
      <p:pic>
        <p:nvPicPr>
          <p:cNvPr id="707" name="Google Shape;707;p49"/>
          <p:cNvPicPr preferRelativeResize="0"/>
          <p:nvPr/>
        </p:nvPicPr>
        <p:blipFill>
          <a:blip r:embed="rId3">
            <a:alphaModFix/>
          </a:blip>
          <a:stretch>
            <a:fillRect/>
          </a:stretch>
        </p:blipFill>
        <p:spPr>
          <a:xfrm flipH="1">
            <a:off x="7076025" y="1503933"/>
            <a:ext cx="1747425" cy="336101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13" name="Google Shape;713;p50"/>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14" name="Google Shape;714;p50"/>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0" name="Google Shape;720;p51"/>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21" name="Google Shape;721;p51"/>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5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27" name="Google Shape;727;p52"/>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28" name="Google Shape;728;p52"/>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4" name="Google Shape;734;p53"/>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35" name="Google Shape;735;p53"/>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1" name="Google Shape;741;p54"/>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42" name="Google Shape;742;p54"/>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5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8" name="Google Shape;748;p55"/>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49" name="Google Shape;749;p55"/>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5" name="Google Shape;755;p56"/>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56" name="Google Shape;756;p56"/>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57</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2" name="Google Shape;762;p57"/>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63" name="Google Shape;763;p57"/>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57</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rPr b="1" lang="en">
                          <a:latin typeface="Courier New"/>
                          <a:ea typeface="Courier New"/>
                          <a:cs typeface="Courier New"/>
                          <a:sym typeface="Courier New"/>
                        </a:rPr>
                        <a:t>57 80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69" name="Google Shape;769;p58"/>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770" name="Google Shape;770;p58"/>
          <p:cNvGraphicFramePr/>
          <p:nvPr/>
        </p:nvGraphicFramePr>
        <p:xfrm>
          <a:off x="0" y="44"/>
          <a:ext cx="3000000" cy="3000000"/>
        </p:xfrm>
        <a:graphic>
          <a:graphicData uri="http://schemas.openxmlformats.org/drawingml/2006/table">
            <a:tbl>
              <a:tblPr>
                <a:noFill/>
                <a:tableStyleId>{F2EF7FB4-3C4B-4EB4-ADDB-82F97E64C7F0}</a:tableStyleId>
              </a:tblPr>
              <a:tblGrid>
                <a:gridCol w="5475200"/>
                <a:gridCol w="1066025"/>
                <a:gridCol w="939100"/>
                <a:gridCol w="778300"/>
                <a:gridCol w="885375"/>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int1Ptr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int2Ptr</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 = </a:t>
                      </a:r>
                      <a:r>
                        <a:rPr b="1" lang="en" sz="1550">
                          <a:solidFill>
                            <a:srgbClr val="098658"/>
                          </a:solidFill>
                          <a:highlight>
                            <a:schemeClr val="lt1"/>
                          </a:highlight>
                          <a:latin typeface="Courier New"/>
                          <a:ea typeface="Courier New"/>
                          <a:cs typeface="Courier New"/>
                          <a:sym typeface="Courier New"/>
                        </a:rPr>
                        <a:t>26</a:t>
                      </a:r>
                      <a:r>
                        <a:rPr b="1" lang="en" sz="1550">
                          <a:solidFill>
                            <a:schemeClr val="dk1"/>
                          </a:solidFill>
                          <a:highlight>
                            <a:schemeClr val="lt1"/>
                          </a:highlight>
                          <a:latin typeface="Courier New"/>
                          <a:ea typeface="Courier New"/>
                          <a:cs typeface="Courier New"/>
                          <a:sym typeface="Courier New"/>
                        </a:rPr>
                        <a:t>;</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 = </a:t>
                      </a:r>
                      <a:r>
                        <a:rPr b="1" lang="en" sz="1550">
                          <a:solidFill>
                            <a:srgbClr val="098658"/>
                          </a:solidFill>
                          <a:highlight>
                            <a:schemeClr val="lt1"/>
                          </a:highlight>
                          <a:latin typeface="Courier New"/>
                          <a:ea typeface="Courier New"/>
                          <a:cs typeface="Courier New"/>
                          <a:sym typeface="Courier New"/>
                        </a:rPr>
                        <a:t>45</a:t>
                      </a:r>
                      <a:r>
                        <a:rPr b="1" lang="en" sz="1550">
                          <a:solidFill>
                            <a:schemeClr val="dk1"/>
                          </a:solidFill>
                          <a:highlight>
                            <a:schemeClr val="lt1"/>
                          </a:highlight>
                          <a:latin typeface="Courier New"/>
                          <a:ea typeface="Courier New"/>
                          <a:cs typeface="Courier New"/>
                          <a:sym typeface="Courier New"/>
                        </a:rPr>
                        <a:t>;</a:t>
                      </a:r>
                      <a:endParaRPr b="1">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70892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*int1Ptr = &amp;int1;</a:t>
                      </a:r>
                      <a:endParaRPr b="1" sz="15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550">
                          <a:solidFill>
                            <a:srgbClr val="0000FF"/>
                          </a:solidFill>
                          <a:highlight>
                            <a:schemeClr val="lt1"/>
                          </a:highlight>
                          <a:latin typeface="Courier New"/>
                          <a:ea typeface="Courier New"/>
                          <a:cs typeface="Courier New"/>
                          <a:sym typeface="Courier New"/>
                        </a:rPr>
                        <a:t>int</a:t>
                      </a:r>
                      <a:r>
                        <a:rPr b="1" lang="en" sz="1550">
                          <a:solidFill>
                            <a:schemeClr val="dk1"/>
                          </a:solidFill>
                          <a:highlight>
                            <a:schemeClr val="lt1"/>
                          </a:highlight>
                          <a:latin typeface="Courier New"/>
                          <a:ea typeface="Courier New"/>
                          <a:cs typeface="Courier New"/>
                          <a:sym typeface="Courier New"/>
                        </a:rPr>
                        <a:t> *int2Ptr = &amp;int2;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26</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89</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45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*int2Ptr = </a:t>
                      </a:r>
                      <a:r>
                        <a:rPr b="1" lang="en" sz="1550">
                          <a:solidFill>
                            <a:srgbClr val="098658"/>
                          </a:solidFill>
                          <a:highlight>
                            <a:schemeClr val="lt1"/>
                          </a:highlight>
                          <a:latin typeface="Courier New"/>
                          <a:ea typeface="Courier New"/>
                          <a:cs typeface="Courier New"/>
                          <a:sym typeface="Courier New"/>
                        </a:rPr>
                        <a:t>62</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None/>
                      </a:pPr>
                      <a:r>
                        <a:rPr b="1" lang="en" sz="1550">
                          <a:solidFill>
                            <a:schemeClr val="dk1"/>
                          </a:solidFill>
                          <a:highlight>
                            <a:schemeClr val="lt1"/>
                          </a:highlight>
                          <a:latin typeface="Courier New"/>
                          <a:ea typeface="Courier New"/>
                          <a:cs typeface="Courier New"/>
                          <a:sym typeface="Courier New"/>
                        </a:rPr>
                        <a:t>int1Ptr = int2Ptr;</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62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*int1Ptr = </a:t>
                      </a:r>
                      <a:r>
                        <a:rPr b="1" lang="en" sz="1550">
                          <a:solidFill>
                            <a:srgbClr val="098658"/>
                          </a:solidFill>
                          <a:highlight>
                            <a:schemeClr val="lt1"/>
                          </a:highlight>
                          <a:latin typeface="Courier New"/>
                          <a:ea typeface="Courier New"/>
                          <a:cs typeface="Courier New"/>
                          <a:sym typeface="Courier New"/>
                        </a:rPr>
                        <a:t>80</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89</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int1 = </a:t>
                      </a:r>
                      <a:r>
                        <a:rPr b="1" lang="en" sz="1550">
                          <a:solidFill>
                            <a:srgbClr val="098658"/>
                          </a:solidFill>
                          <a:highlight>
                            <a:schemeClr val="lt1"/>
                          </a:highlight>
                          <a:latin typeface="Courier New"/>
                          <a:ea typeface="Courier New"/>
                          <a:cs typeface="Courier New"/>
                          <a:sym typeface="Courier New"/>
                        </a:rPr>
                        <a:t>57</a:t>
                      </a:r>
                      <a:r>
                        <a:rPr b="1" lang="en" sz="1550">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57</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rPr b="1" lang="en">
                          <a:latin typeface="Courier New"/>
                          <a:ea typeface="Courier New"/>
                          <a:cs typeface="Courier New"/>
                          <a:sym typeface="Courier New"/>
                        </a:rPr>
                        <a:t>57 80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30100">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cout &lt;&lt; *int1Ptr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*int2Ptr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rPr b="1" lang="en">
                          <a:latin typeface="Courier New"/>
                          <a:ea typeface="Courier New"/>
                          <a:cs typeface="Courier New"/>
                          <a:sym typeface="Courier New"/>
                        </a:rPr>
                        <a:t>80 80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9"/>
          <p:cNvSpPr txBox="1"/>
          <p:nvPr>
            <p:ph type="ctrTitle"/>
          </p:nvPr>
        </p:nvSpPr>
        <p:spPr>
          <a:xfrm>
            <a:off x="0" y="0"/>
            <a:ext cx="82296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Self </a:t>
            </a:r>
            <a:r>
              <a:rPr b="1" lang="en" sz="3600">
                <a:solidFill>
                  <a:srgbClr val="D15A12"/>
                </a:solidFill>
                <a:latin typeface="Comic Sans MS"/>
                <a:ea typeface="Comic Sans MS"/>
                <a:cs typeface="Comic Sans MS"/>
                <a:sym typeface="Comic Sans MS"/>
              </a:rPr>
              <a:t>Assessment:</a:t>
            </a:r>
            <a:endParaRPr b="1" sz="2933">
              <a:solidFill>
                <a:srgbClr val="D15A12"/>
              </a:solidFill>
              <a:latin typeface="Comic Sans MS"/>
              <a:ea typeface="Comic Sans MS"/>
              <a:cs typeface="Comic Sans MS"/>
              <a:sym typeface="Comic Sans MS"/>
            </a:endParaRPr>
          </a:p>
        </p:txBody>
      </p:sp>
      <p:cxnSp>
        <p:nvCxnSpPr>
          <p:cNvPr id="776" name="Google Shape;776;p59"/>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777" name="Google Shape;777;p59"/>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778" name="Google Shape;778;p5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9" name="Google Shape;779;p59"/>
          <p:cNvSpPr txBox="1"/>
          <p:nvPr/>
        </p:nvSpPr>
        <p:spPr>
          <a:xfrm>
            <a:off x="622675" y="1025050"/>
            <a:ext cx="6453300" cy="384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04040"/>
                </a:solidFill>
                <a:latin typeface="Calibri"/>
                <a:ea typeface="Calibri"/>
                <a:cs typeface="Calibri"/>
                <a:sym typeface="Calibri"/>
              </a:rPr>
              <a:t>2.	 What is the output of the following code?</a:t>
            </a:r>
            <a:endParaRPr b="1" sz="1900">
              <a:solidFill>
                <a:srgbClr val="404040"/>
              </a:solidFill>
              <a:latin typeface="Calibri"/>
              <a:ea typeface="Calibri"/>
              <a:cs typeface="Calibri"/>
              <a:sym typeface="Calibri"/>
            </a:endParaRPr>
          </a:p>
          <a:p>
            <a:pPr indent="0" lvl="0" marL="0" rtl="0" algn="l">
              <a:lnSpc>
                <a:spcPct val="135714"/>
              </a:lnSpc>
              <a:spcBef>
                <a:spcPts val="0"/>
              </a:spcBef>
              <a:spcAft>
                <a:spcPts val="0"/>
              </a:spcAft>
              <a:buNone/>
            </a:pPr>
            <a:r>
              <a:t/>
            </a:r>
            <a:endParaRPr sz="1050">
              <a:solidFill>
                <a:srgbClr val="00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050">
                <a:solidFill>
                  <a:srgbClr val="0000FF"/>
                </a:solidFill>
                <a:highlight>
                  <a:srgbClr val="FFFFFF"/>
                </a:highlight>
                <a:latin typeface="Courier New"/>
                <a:ea typeface="Courier New"/>
                <a:cs typeface="Courier New"/>
                <a:sym typeface="Courier New"/>
              </a:rPr>
              <a:t>      </a:t>
            </a:r>
            <a:r>
              <a:rPr b="1" lang="en" sz="1650">
                <a:solidFill>
                  <a:schemeClr val="dk1"/>
                </a:solidFill>
                <a:highlight>
                  <a:srgbClr val="FFFFFF"/>
                </a:highlight>
                <a:latin typeface="Courier New"/>
                <a:ea typeface="Courier New"/>
                <a:cs typeface="Courier New"/>
                <a:sym typeface="Courier New"/>
              </a:rPr>
              <a:t>string str1 = </a:t>
            </a:r>
            <a:r>
              <a:rPr b="1" lang="en" sz="1650">
                <a:solidFill>
                  <a:srgbClr val="A31515"/>
                </a:solidFill>
                <a:highlight>
                  <a:srgbClr val="FFFFFF"/>
                </a:highlight>
                <a:latin typeface="Courier New"/>
                <a:ea typeface="Courier New"/>
                <a:cs typeface="Courier New"/>
                <a:sym typeface="Courier New"/>
              </a:rPr>
              <a:t>"sunny"</a:t>
            </a:r>
            <a:r>
              <a:rPr b="1" lang="en" sz="1650">
                <a:solidFill>
                  <a:schemeClr val="dk1"/>
                </a:solidFill>
                <a:highlight>
                  <a:srgbClr val="FFFFFF"/>
                </a:highlight>
                <a:latin typeface="Courier New"/>
                <a:ea typeface="Courier New"/>
                <a:cs typeface="Courier New"/>
                <a:sym typeface="Courier New"/>
              </a:rPr>
              <a:t>;</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string str2 = </a:t>
            </a:r>
            <a:r>
              <a:rPr b="1" lang="en" sz="1650">
                <a:solidFill>
                  <a:srgbClr val="A31515"/>
                </a:solidFill>
                <a:highlight>
                  <a:srgbClr val="FFFFFF"/>
                </a:highlight>
                <a:latin typeface="Courier New"/>
                <a:ea typeface="Courier New"/>
                <a:cs typeface="Courier New"/>
                <a:sym typeface="Courier New"/>
              </a:rPr>
              <a:t>"cloudy"</a:t>
            </a:r>
            <a:r>
              <a:rPr b="1" lang="en" sz="1650">
                <a:solidFill>
                  <a:schemeClr val="dk1"/>
                </a:solidFill>
                <a:highlight>
                  <a:srgbClr val="FFFFFF"/>
                </a:highlight>
                <a:latin typeface="Courier New"/>
                <a:ea typeface="Courier New"/>
                <a:cs typeface="Courier New"/>
                <a:sym typeface="Courier New"/>
              </a:rPr>
              <a:t>;</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string *s1;</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cout &lt;&lt; str1 &lt;&lt; </a:t>
            </a:r>
            <a:r>
              <a:rPr b="1" lang="en" sz="1650">
                <a:solidFill>
                  <a:srgbClr val="A31515"/>
                </a:solidFill>
                <a:highlight>
                  <a:srgbClr val="FFFFFF"/>
                </a:highlight>
                <a:latin typeface="Courier New"/>
                <a:ea typeface="Courier New"/>
                <a:cs typeface="Courier New"/>
                <a:sym typeface="Courier New"/>
              </a:rPr>
              <a:t>" "</a:t>
            </a:r>
            <a:r>
              <a:rPr b="1" lang="en" sz="1650">
                <a:solidFill>
                  <a:schemeClr val="dk1"/>
                </a:solidFill>
                <a:highlight>
                  <a:srgbClr val="FFFFFF"/>
                </a:highlight>
                <a:latin typeface="Courier New"/>
                <a:ea typeface="Courier New"/>
                <a:cs typeface="Courier New"/>
                <a:sym typeface="Courier New"/>
              </a:rPr>
              <a:t> &lt;&lt; str2 &lt;&lt; endl;</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s1 = &amp;str1;</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str1 = str2;</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str2 = *s1;</a:t>
            </a:r>
            <a:endParaRPr b="1" sz="16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rgbClr val="FFFFFF"/>
                </a:highlight>
                <a:latin typeface="Courier New"/>
                <a:ea typeface="Courier New"/>
                <a:cs typeface="Courier New"/>
                <a:sym typeface="Courier New"/>
              </a:rPr>
              <a:t>    cout &lt;&lt; str1 &lt;&lt; </a:t>
            </a:r>
            <a:r>
              <a:rPr b="1" lang="en" sz="1650">
                <a:solidFill>
                  <a:srgbClr val="A31515"/>
                </a:solidFill>
                <a:highlight>
                  <a:srgbClr val="FFFFFF"/>
                </a:highlight>
                <a:latin typeface="Courier New"/>
                <a:ea typeface="Courier New"/>
                <a:cs typeface="Courier New"/>
                <a:sym typeface="Courier New"/>
              </a:rPr>
              <a:t>" "</a:t>
            </a:r>
            <a:r>
              <a:rPr b="1" lang="en" sz="1650">
                <a:solidFill>
                  <a:schemeClr val="dk1"/>
                </a:solidFill>
                <a:highlight>
                  <a:srgbClr val="FFFFFF"/>
                </a:highlight>
                <a:latin typeface="Courier New"/>
                <a:ea typeface="Courier New"/>
                <a:cs typeface="Courier New"/>
                <a:sym typeface="Courier New"/>
              </a:rPr>
              <a:t> &lt;&lt; str2 &lt;&lt; endl;</a:t>
            </a:r>
            <a:endParaRPr b="1" sz="1900">
              <a:solidFill>
                <a:srgbClr val="404040"/>
              </a:solidFill>
              <a:latin typeface="Calibri"/>
              <a:ea typeface="Calibri"/>
              <a:cs typeface="Calibri"/>
              <a:sym typeface="Calibri"/>
            </a:endParaRPr>
          </a:p>
        </p:txBody>
      </p:sp>
      <p:pic>
        <p:nvPicPr>
          <p:cNvPr id="780" name="Google Shape;780;p59"/>
          <p:cNvPicPr preferRelativeResize="0"/>
          <p:nvPr/>
        </p:nvPicPr>
        <p:blipFill>
          <a:blip r:embed="rId3">
            <a:alphaModFix/>
          </a:blip>
          <a:stretch>
            <a:fillRect/>
          </a:stretch>
        </p:blipFill>
        <p:spPr>
          <a:xfrm flipH="1">
            <a:off x="7076025" y="1503933"/>
            <a:ext cx="1747425" cy="336101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6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786" name="Google Shape;786;p60"/>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6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792" name="Google Shape;792;p61"/>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798" name="Google Shape;798;p62"/>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rPr b="1" lang="en">
                          <a:latin typeface="Courier New"/>
                          <a:ea typeface="Courier New"/>
                          <a:cs typeface="Courier New"/>
                          <a:sym typeface="Courier New"/>
                        </a:rPr>
                        <a:t>sunny 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804" name="Google Shape;804;p63"/>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rPr b="1" lang="en">
                          <a:latin typeface="Courier New"/>
                          <a:ea typeface="Courier New"/>
                          <a:cs typeface="Courier New"/>
                          <a:sym typeface="Courier New"/>
                        </a:rPr>
                        <a:t>sunny 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810" name="Google Shape;810;p64"/>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rPr b="1" lang="en">
                          <a:latin typeface="Courier New"/>
                          <a:ea typeface="Courier New"/>
                          <a:cs typeface="Courier New"/>
                          <a:sym typeface="Courier New"/>
                        </a:rPr>
                        <a:t>sunny 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816" name="Google Shape;816;p65"/>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rPr b="1" lang="en">
                          <a:latin typeface="Courier New"/>
                          <a:ea typeface="Courier New"/>
                          <a:cs typeface="Courier New"/>
                          <a:sym typeface="Courier New"/>
                        </a:rPr>
                        <a:t>sunny 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6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aphicFrame>
        <p:nvGraphicFramePr>
          <p:cNvPr id="822" name="Google Shape;822;p66"/>
          <p:cNvGraphicFramePr/>
          <p:nvPr/>
        </p:nvGraphicFramePr>
        <p:xfrm>
          <a:off x="0" y="44"/>
          <a:ext cx="3000000" cy="3000000"/>
        </p:xfrm>
        <a:graphic>
          <a:graphicData uri="http://schemas.openxmlformats.org/drawingml/2006/table">
            <a:tbl>
              <a:tblPr>
                <a:noFill/>
                <a:tableStyleId>{F2EF7FB4-3C4B-4EB4-ADDB-82F97E64C7F0}</a:tableStyleId>
              </a:tblPr>
              <a:tblGrid>
                <a:gridCol w="5449125"/>
                <a:gridCol w="1370800"/>
                <a:gridCol w="1462325"/>
                <a:gridCol w="861750"/>
              </a:tblGrid>
              <a:tr h="4362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str2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s1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7235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str1 = </a:t>
                      </a:r>
                      <a:r>
                        <a:rPr b="1" lang="en" sz="1650">
                          <a:solidFill>
                            <a:srgbClr val="A31515"/>
                          </a:solidFill>
                          <a:highlight>
                            <a:schemeClr val="lt1"/>
                          </a:highlight>
                          <a:latin typeface="Courier New"/>
                          <a:ea typeface="Courier New"/>
                          <a:cs typeface="Courier New"/>
                          <a:sym typeface="Courier New"/>
                        </a:rPr>
                        <a:t>"sunny"</a:t>
                      </a:r>
                      <a:r>
                        <a:rPr b="1" lang="en" sz="1650">
                          <a:solidFill>
                            <a:schemeClr val="dk1"/>
                          </a:solidFill>
                          <a:highlight>
                            <a:schemeClr val="lt1"/>
                          </a:highlight>
                          <a:latin typeface="Courier New"/>
                          <a:ea typeface="Courier New"/>
                          <a:cs typeface="Courier New"/>
                          <a:sym typeface="Courier New"/>
                        </a:rPr>
                        <a:t>;</a:t>
                      </a:r>
                      <a:endParaRPr b="1" sz="165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str2 = </a:t>
                      </a:r>
                      <a:r>
                        <a:rPr b="1" lang="en" sz="1650">
                          <a:solidFill>
                            <a:srgbClr val="A31515"/>
                          </a:solidFill>
                          <a:highlight>
                            <a:schemeClr val="lt1"/>
                          </a:highlight>
                          <a:latin typeface="Courier New"/>
                          <a:ea typeface="Courier New"/>
                          <a:cs typeface="Courier New"/>
                          <a:sym typeface="Courier New"/>
                        </a:rPr>
                        <a:t>"cloudy"</a:t>
                      </a:r>
                      <a:r>
                        <a:rPr b="1" lang="en" sz="1650">
                          <a:solidFill>
                            <a:schemeClr val="dk1"/>
                          </a:solidFill>
                          <a:highlight>
                            <a:schemeClr val="lt1"/>
                          </a:highlight>
                          <a:latin typeface="Courier New"/>
                          <a:ea typeface="Courier New"/>
                          <a:cs typeface="Courier New"/>
                          <a:sym typeface="Courier New"/>
                        </a:rPr>
                        <a:t>;</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string *s1;</a:t>
                      </a:r>
                      <a:endParaRPr b="1" sz="1550">
                        <a:solidFill>
                          <a:srgbClr val="0000FF"/>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rPr b="1" lang="en">
                          <a:latin typeface="Courier New"/>
                          <a:ea typeface="Courier New"/>
                          <a:cs typeface="Courier New"/>
                          <a:sym typeface="Courier New"/>
                        </a:rPr>
                        <a:t>sunny 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s1 = &amp;str1;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sunny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str1 = str2;</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str2 = *s1;</a:t>
                      </a:r>
                      <a:endParaRPr b="1" sz="1550">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434300">
                <a:tc>
                  <a:txBody>
                    <a:bodyPr/>
                    <a:lstStyle/>
                    <a:p>
                      <a:pPr indent="0" lvl="0" marL="0" rtl="0" algn="l">
                        <a:lnSpc>
                          <a:spcPct val="115000"/>
                        </a:lnSpc>
                        <a:spcBef>
                          <a:spcPts val="0"/>
                        </a:spcBef>
                        <a:spcAft>
                          <a:spcPts val="0"/>
                        </a:spcAft>
                        <a:buClr>
                          <a:schemeClr val="dk1"/>
                        </a:buClr>
                        <a:buSzPts val="1100"/>
                        <a:buFont typeface="Arial"/>
                        <a:buNone/>
                      </a:pPr>
                      <a:r>
                        <a:rPr b="1" lang="en" sz="1650">
                          <a:solidFill>
                            <a:schemeClr val="dk1"/>
                          </a:solidFill>
                          <a:highlight>
                            <a:schemeClr val="lt1"/>
                          </a:highlight>
                          <a:latin typeface="Courier New"/>
                          <a:ea typeface="Courier New"/>
                          <a:cs typeface="Courier New"/>
                          <a:sym typeface="Courier New"/>
                        </a:rPr>
                        <a:t>cout &lt;&lt; str1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str2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3">
                  <a:txBody>
                    <a:bodyPr/>
                    <a:lstStyle/>
                    <a:p>
                      <a:pPr indent="0" lvl="0" marL="0" rtl="0" algn="l">
                        <a:spcBef>
                          <a:spcPts val="0"/>
                        </a:spcBef>
                        <a:spcAft>
                          <a:spcPts val="0"/>
                        </a:spcAft>
                        <a:buNone/>
                      </a:pPr>
                      <a:r>
                        <a:rPr b="1" lang="en">
                          <a:latin typeface="Courier New"/>
                          <a:ea typeface="Courier New"/>
                          <a:cs typeface="Courier New"/>
                          <a:sym typeface="Courier New"/>
                        </a:rPr>
                        <a:t>cloudy cloudy</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7"/>
          <p:cNvSpPr txBox="1"/>
          <p:nvPr>
            <p:ph type="ctrTitle"/>
          </p:nvPr>
        </p:nvSpPr>
        <p:spPr>
          <a:xfrm>
            <a:off x="0" y="0"/>
            <a:ext cx="8229600" cy="828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200"/>
              <a:buNone/>
            </a:pPr>
            <a:r>
              <a:rPr b="1" lang="en" sz="3600">
                <a:solidFill>
                  <a:srgbClr val="404040"/>
                </a:solidFill>
                <a:latin typeface="Comic Sans MS"/>
                <a:ea typeface="Comic Sans MS"/>
                <a:cs typeface="Comic Sans MS"/>
                <a:sym typeface="Comic Sans MS"/>
              </a:rPr>
              <a:t>   </a:t>
            </a:r>
            <a:r>
              <a:rPr b="1" lang="en" sz="3600">
                <a:solidFill>
                  <a:srgbClr val="434343"/>
                </a:solidFill>
                <a:latin typeface="Comic Sans MS"/>
                <a:ea typeface="Comic Sans MS"/>
                <a:cs typeface="Comic Sans MS"/>
                <a:sym typeface="Comic Sans MS"/>
              </a:rPr>
              <a:t>Self </a:t>
            </a:r>
            <a:r>
              <a:rPr b="1" lang="en" sz="3600">
                <a:solidFill>
                  <a:srgbClr val="D15A12"/>
                </a:solidFill>
                <a:latin typeface="Comic Sans MS"/>
                <a:ea typeface="Comic Sans MS"/>
                <a:cs typeface="Comic Sans MS"/>
                <a:sym typeface="Comic Sans MS"/>
              </a:rPr>
              <a:t>Assessment:</a:t>
            </a:r>
            <a:endParaRPr b="1" sz="2933">
              <a:solidFill>
                <a:srgbClr val="D15A12"/>
              </a:solidFill>
              <a:latin typeface="Comic Sans MS"/>
              <a:ea typeface="Comic Sans MS"/>
              <a:cs typeface="Comic Sans MS"/>
              <a:sym typeface="Comic Sans MS"/>
            </a:endParaRPr>
          </a:p>
        </p:txBody>
      </p:sp>
      <p:cxnSp>
        <p:nvCxnSpPr>
          <p:cNvPr id="828" name="Google Shape;828;p67"/>
          <p:cNvCxnSpPr/>
          <p:nvPr/>
        </p:nvCxnSpPr>
        <p:spPr>
          <a:xfrm>
            <a:off x="375500" y="123950"/>
            <a:ext cx="0" cy="570000"/>
          </a:xfrm>
          <a:prstGeom prst="straightConnector1">
            <a:avLst/>
          </a:prstGeom>
          <a:noFill/>
          <a:ln cap="flat" cmpd="sng" w="38100">
            <a:solidFill>
              <a:srgbClr val="D15A12"/>
            </a:solidFill>
            <a:prstDash val="solid"/>
            <a:round/>
            <a:headEnd len="sm" w="sm" type="none"/>
            <a:tailEnd len="sm" w="sm" type="none"/>
          </a:ln>
        </p:spPr>
      </p:cxnSp>
      <p:cxnSp>
        <p:nvCxnSpPr>
          <p:cNvPr id="829" name="Google Shape;829;p67"/>
          <p:cNvCxnSpPr/>
          <p:nvPr/>
        </p:nvCxnSpPr>
        <p:spPr>
          <a:xfrm>
            <a:off x="299300" y="47750"/>
            <a:ext cx="0" cy="570000"/>
          </a:xfrm>
          <a:prstGeom prst="straightConnector1">
            <a:avLst/>
          </a:prstGeom>
          <a:noFill/>
          <a:ln cap="flat" cmpd="sng" w="38100">
            <a:solidFill>
              <a:schemeClr val="dk2"/>
            </a:solidFill>
            <a:prstDash val="solid"/>
            <a:round/>
            <a:headEnd len="sm" w="sm" type="none"/>
            <a:tailEnd len="sm" w="sm" type="none"/>
          </a:ln>
        </p:spPr>
      </p:cxnSp>
      <p:sp>
        <p:nvSpPr>
          <p:cNvPr id="830" name="Google Shape;830;p6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1" name="Google Shape;831;p67"/>
          <p:cNvSpPr txBox="1"/>
          <p:nvPr/>
        </p:nvSpPr>
        <p:spPr>
          <a:xfrm>
            <a:off x="622675" y="1025050"/>
            <a:ext cx="6453300" cy="3840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900">
                <a:solidFill>
                  <a:srgbClr val="404040"/>
                </a:solidFill>
                <a:latin typeface="Calibri"/>
                <a:ea typeface="Calibri"/>
                <a:cs typeface="Calibri"/>
                <a:sym typeface="Calibri"/>
              </a:rPr>
              <a:t>3.	 What is the output of the following code?</a:t>
            </a:r>
            <a:endParaRPr b="1" sz="1900">
              <a:solidFill>
                <a:srgbClr val="404040"/>
              </a:solidFill>
              <a:latin typeface="Calibri"/>
              <a:ea typeface="Calibri"/>
              <a:cs typeface="Calibri"/>
              <a:sym typeface="Calibri"/>
            </a:endParaRPr>
          </a:p>
          <a:p>
            <a:pPr indent="0" lvl="0" marL="0" rtl="0" algn="l">
              <a:lnSpc>
                <a:spcPct val="115000"/>
              </a:lnSpc>
              <a:spcBef>
                <a:spcPts val="0"/>
              </a:spcBef>
              <a:spcAft>
                <a:spcPts val="0"/>
              </a:spcAft>
              <a:buNone/>
            </a:pPr>
            <a:r>
              <a:rPr b="1" lang="en" sz="1500">
                <a:solidFill>
                  <a:srgbClr val="0000FF"/>
                </a:solidFill>
                <a:highlight>
                  <a:schemeClr val="lt1"/>
                </a:highlight>
                <a:latin typeface="Courier New"/>
                <a:ea typeface="Courier New"/>
                <a:cs typeface="Courier New"/>
                <a:sym typeface="Courier New"/>
              </a:rPr>
              <a:t>double</a:t>
            </a:r>
            <a:r>
              <a:rPr b="1" lang="en" sz="1500">
                <a:solidFill>
                  <a:schemeClr val="dk1"/>
                </a:solidFill>
                <a:highlight>
                  <a:schemeClr val="lt1"/>
                </a:highlight>
                <a:latin typeface="Courier New"/>
                <a:ea typeface="Courier New"/>
                <a:cs typeface="Courier New"/>
                <a:sym typeface="Courier New"/>
              </a:rPr>
              <a:t> dec1 = </a:t>
            </a:r>
            <a:r>
              <a:rPr b="1" lang="en" sz="1500">
                <a:solidFill>
                  <a:srgbClr val="098658"/>
                </a:solidFill>
                <a:highlight>
                  <a:schemeClr val="lt1"/>
                </a:highlight>
                <a:latin typeface="Courier New"/>
                <a:ea typeface="Courier New"/>
                <a:cs typeface="Courier New"/>
                <a:sym typeface="Courier New"/>
              </a:rPr>
              <a:t>2.5</a:t>
            </a:r>
            <a:r>
              <a:rPr b="1" lang="en" sz="1500">
                <a:solidFill>
                  <a:schemeClr val="dk1"/>
                </a:solidFill>
                <a:highlight>
                  <a:schemeClr val="lt1"/>
                </a:highlight>
                <a:latin typeface="Courier New"/>
                <a:ea typeface="Courier New"/>
                <a:cs typeface="Courier New"/>
                <a:sym typeface="Courier New"/>
              </a:rPr>
              <a:t>;</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rgbClr val="0000FF"/>
                </a:solidFill>
                <a:highlight>
                  <a:schemeClr val="lt1"/>
                </a:highlight>
                <a:latin typeface="Courier New"/>
                <a:ea typeface="Courier New"/>
                <a:cs typeface="Courier New"/>
                <a:sym typeface="Courier New"/>
              </a:rPr>
              <a:t>double</a:t>
            </a:r>
            <a:r>
              <a:rPr b="1" lang="en" sz="1500">
                <a:solidFill>
                  <a:schemeClr val="dk1"/>
                </a:solidFill>
                <a:highlight>
                  <a:schemeClr val="lt1"/>
                </a:highlight>
                <a:latin typeface="Courier New"/>
                <a:ea typeface="Courier New"/>
                <a:cs typeface="Courier New"/>
                <a:sym typeface="Courier New"/>
              </a:rPr>
              <a:t> dec2 = </a:t>
            </a:r>
            <a:r>
              <a:rPr b="1" lang="en" sz="1500">
                <a:solidFill>
                  <a:srgbClr val="098658"/>
                </a:solidFill>
                <a:highlight>
                  <a:schemeClr val="lt1"/>
                </a:highlight>
                <a:latin typeface="Courier New"/>
                <a:ea typeface="Courier New"/>
                <a:cs typeface="Courier New"/>
                <a:sym typeface="Courier New"/>
              </a:rPr>
              <a:t>3.8</a:t>
            </a:r>
            <a:r>
              <a:rPr b="1" lang="en" sz="1500">
                <a:solidFill>
                  <a:schemeClr val="dk1"/>
                </a:solidFill>
                <a:highlight>
                  <a:schemeClr val="lt1"/>
                </a:highlight>
                <a:latin typeface="Courier New"/>
                <a:ea typeface="Courier New"/>
                <a:cs typeface="Courier New"/>
                <a:sym typeface="Courier New"/>
              </a:rPr>
              <a:t>;</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rgbClr val="0000FF"/>
                </a:solidFill>
                <a:highlight>
                  <a:schemeClr val="lt1"/>
                </a:highlight>
                <a:latin typeface="Courier New"/>
                <a:ea typeface="Courier New"/>
                <a:cs typeface="Courier New"/>
                <a:sym typeface="Courier New"/>
              </a:rPr>
              <a:t>double</a:t>
            </a:r>
            <a:r>
              <a:rPr b="1" lang="en" sz="1500">
                <a:solidFill>
                  <a:schemeClr val="dk1"/>
                </a:solidFill>
                <a:highlight>
                  <a:schemeClr val="lt1"/>
                </a:highlight>
                <a:latin typeface="Courier New"/>
                <a:ea typeface="Courier New"/>
                <a:cs typeface="Courier New"/>
                <a:sym typeface="Courier New"/>
              </a:rPr>
              <a:t> *p, *q;</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p = &amp;dec1;</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*p = dec2 - dec1;</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q = p;</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*q = </a:t>
            </a:r>
            <a:r>
              <a:rPr b="1" lang="en" sz="1500">
                <a:solidFill>
                  <a:srgbClr val="098658"/>
                </a:solidFill>
                <a:highlight>
                  <a:schemeClr val="lt1"/>
                </a:highlight>
                <a:latin typeface="Courier New"/>
                <a:ea typeface="Courier New"/>
                <a:cs typeface="Courier New"/>
                <a:sym typeface="Courier New"/>
              </a:rPr>
              <a:t>10.0</a:t>
            </a:r>
            <a:r>
              <a:rPr b="1" lang="en" sz="1500">
                <a:solidFill>
                  <a:schemeClr val="dk1"/>
                </a:solidFill>
                <a:highlight>
                  <a:schemeClr val="lt1"/>
                </a:highlight>
                <a:latin typeface="Courier New"/>
                <a:ea typeface="Courier New"/>
                <a:cs typeface="Courier New"/>
                <a:sym typeface="Courier New"/>
              </a:rPr>
              <a:t>;</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*p = </a:t>
            </a:r>
            <a:r>
              <a:rPr b="1" lang="en" sz="1500">
                <a:solidFill>
                  <a:srgbClr val="098658"/>
                </a:solidFill>
                <a:highlight>
                  <a:schemeClr val="lt1"/>
                </a:highlight>
                <a:latin typeface="Courier New"/>
                <a:ea typeface="Courier New"/>
                <a:cs typeface="Courier New"/>
                <a:sym typeface="Courier New"/>
              </a:rPr>
              <a:t>2</a:t>
            </a:r>
            <a:r>
              <a:rPr b="1" lang="en" sz="1500">
                <a:solidFill>
                  <a:schemeClr val="dk1"/>
                </a:solidFill>
                <a:highlight>
                  <a:schemeClr val="lt1"/>
                </a:highlight>
                <a:latin typeface="Courier New"/>
                <a:ea typeface="Courier New"/>
                <a:cs typeface="Courier New"/>
                <a:sym typeface="Courier New"/>
              </a:rPr>
              <a:t> * dec1 + (*q);</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q = &amp;dec2;</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dec1 = *p + *q;</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500">
                <a:solidFill>
                  <a:schemeClr val="dk1"/>
                </a:solidFill>
                <a:highlight>
                  <a:schemeClr val="lt1"/>
                </a:highlight>
                <a:latin typeface="Courier New"/>
                <a:ea typeface="Courier New"/>
                <a:cs typeface="Courier New"/>
                <a:sym typeface="Courier New"/>
              </a:rPr>
              <a:t> cout &lt;&lt; dec1 &lt;&lt; </a:t>
            </a:r>
            <a:r>
              <a:rPr b="1" lang="en" sz="1500">
                <a:solidFill>
                  <a:srgbClr val="A31515"/>
                </a:solidFill>
                <a:highlight>
                  <a:schemeClr val="lt1"/>
                </a:highlight>
                <a:latin typeface="Courier New"/>
                <a:ea typeface="Courier New"/>
                <a:cs typeface="Courier New"/>
                <a:sym typeface="Courier New"/>
              </a:rPr>
              <a:t>" "</a:t>
            </a:r>
            <a:r>
              <a:rPr b="1" lang="en" sz="1500">
                <a:solidFill>
                  <a:schemeClr val="dk1"/>
                </a:solidFill>
                <a:highlight>
                  <a:schemeClr val="lt1"/>
                </a:highlight>
                <a:latin typeface="Courier New"/>
                <a:ea typeface="Courier New"/>
                <a:cs typeface="Courier New"/>
                <a:sym typeface="Courier New"/>
              </a:rPr>
              <a:t> &lt;&lt; dec2 &lt;&lt; endl;</a:t>
            </a:r>
            <a:endParaRPr b="1" sz="1500">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650">
                <a:solidFill>
                  <a:schemeClr val="dk1"/>
                </a:solidFill>
                <a:highlight>
                  <a:schemeClr val="lt1"/>
                </a:highlight>
                <a:latin typeface="Courier New"/>
                <a:ea typeface="Courier New"/>
                <a:cs typeface="Courier New"/>
                <a:sym typeface="Courier New"/>
              </a:rPr>
              <a:t> cout &lt;&lt; *p &lt;&lt; </a:t>
            </a:r>
            <a:r>
              <a:rPr b="1" lang="en" sz="1650">
                <a:solidFill>
                  <a:srgbClr val="A31515"/>
                </a:solidFill>
                <a:highlight>
                  <a:schemeClr val="lt1"/>
                </a:highlight>
                <a:latin typeface="Courier New"/>
                <a:ea typeface="Courier New"/>
                <a:cs typeface="Courier New"/>
                <a:sym typeface="Courier New"/>
              </a:rPr>
              <a:t>" "</a:t>
            </a:r>
            <a:r>
              <a:rPr b="1" lang="en" sz="1650">
                <a:solidFill>
                  <a:schemeClr val="dk1"/>
                </a:solidFill>
                <a:highlight>
                  <a:schemeClr val="lt1"/>
                </a:highlight>
                <a:latin typeface="Courier New"/>
                <a:ea typeface="Courier New"/>
                <a:cs typeface="Courier New"/>
                <a:sym typeface="Courier New"/>
              </a:rPr>
              <a:t> &lt;&lt; *q &lt;&lt; endl;</a:t>
            </a:r>
            <a:endParaRPr b="1" sz="1500">
              <a:solidFill>
                <a:schemeClr val="dk1"/>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b="1" sz="1900">
              <a:solidFill>
                <a:srgbClr val="404040"/>
              </a:solidFill>
              <a:latin typeface="Calibri"/>
              <a:ea typeface="Calibri"/>
              <a:cs typeface="Calibri"/>
              <a:sym typeface="Calibri"/>
            </a:endParaRPr>
          </a:p>
          <a:p>
            <a:pPr indent="0" lvl="0" marL="0" rtl="0" algn="l">
              <a:lnSpc>
                <a:spcPct val="135714"/>
              </a:lnSpc>
              <a:spcBef>
                <a:spcPts val="0"/>
              </a:spcBef>
              <a:spcAft>
                <a:spcPts val="0"/>
              </a:spcAft>
              <a:buNone/>
            </a:pPr>
            <a:r>
              <a:t/>
            </a:r>
            <a:endParaRPr sz="1050">
              <a:solidFill>
                <a:srgbClr val="0000FF"/>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050">
                <a:solidFill>
                  <a:srgbClr val="0000FF"/>
                </a:solidFill>
                <a:highlight>
                  <a:srgbClr val="FFFFFF"/>
                </a:highlight>
                <a:latin typeface="Courier New"/>
                <a:ea typeface="Courier New"/>
                <a:cs typeface="Courier New"/>
                <a:sym typeface="Courier New"/>
              </a:rPr>
              <a:t>   </a:t>
            </a:r>
            <a:endParaRPr b="1" sz="1900">
              <a:solidFill>
                <a:srgbClr val="404040"/>
              </a:solidFill>
              <a:latin typeface="Calibri"/>
              <a:ea typeface="Calibri"/>
              <a:cs typeface="Calibri"/>
              <a:sym typeface="Calibri"/>
            </a:endParaRPr>
          </a:p>
        </p:txBody>
      </p:sp>
      <p:pic>
        <p:nvPicPr>
          <p:cNvPr id="832" name="Google Shape;832;p67"/>
          <p:cNvPicPr preferRelativeResize="0"/>
          <p:nvPr/>
        </p:nvPicPr>
        <p:blipFill>
          <a:blip r:embed="rId3">
            <a:alphaModFix/>
          </a:blip>
          <a:stretch>
            <a:fillRect/>
          </a:stretch>
        </p:blipFill>
        <p:spPr>
          <a:xfrm flipH="1">
            <a:off x="7076025" y="1503933"/>
            <a:ext cx="1747425" cy="336101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68"/>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38" name="Google Shape;838;p68"/>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39" name="Google Shape;839;p68"/>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69"/>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45" name="Google Shape;845;p69"/>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46" name="Google Shape;846;p69"/>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0"/>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2" name="Google Shape;852;p70"/>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53" name="Google Shape;853;p70"/>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71"/>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59" name="Google Shape;859;p71"/>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60" name="Google Shape;860;p71"/>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2"/>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66" name="Google Shape;866;p72"/>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67" name="Google Shape;867;p72"/>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3"/>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3" name="Google Shape;873;p73"/>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74" name="Google Shape;874;p73"/>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74"/>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0" name="Google Shape;880;p74"/>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81" name="Google Shape;881;p74"/>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5"/>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7" name="Google Shape;887;p75"/>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88" name="Google Shape;888;p75"/>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33.8</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76"/>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4" name="Google Shape;894;p76"/>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895" name="Google Shape;895;p76"/>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33.8</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33.8 3.8</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77"/>
          <p:cNvSpPr/>
          <p:nvPr/>
        </p:nvSpPr>
        <p:spPr>
          <a:xfrm>
            <a:off x="0" y="4864944"/>
            <a:ext cx="9144000" cy="288000"/>
          </a:xfrm>
          <a:prstGeom prst="rect">
            <a:avLst/>
          </a:prstGeom>
          <a:solidFill>
            <a:srgbClr val="D15A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1" name="Google Shape;901;p77"/>
          <p:cNvSpPr txBox="1"/>
          <p:nvPr/>
        </p:nvSpPr>
        <p:spPr>
          <a:xfrm>
            <a:off x="375500" y="3024225"/>
            <a:ext cx="6453300" cy="384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35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350">
                <a:solidFill>
                  <a:schemeClr val="dk1"/>
                </a:solidFill>
                <a:highlight>
                  <a:srgbClr val="FFFFFF"/>
                </a:highlight>
                <a:latin typeface="Courier New"/>
                <a:ea typeface="Courier New"/>
                <a:cs typeface="Courier New"/>
                <a:sym typeface="Courier New"/>
              </a:rPr>
              <a:t>   </a:t>
            </a:r>
            <a:endParaRPr b="1" sz="1950">
              <a:solidFill>
                <a:schemeClr val="dk1"/>
              </a:solidFill>
              <a:highlight>
                <a:srgbClr val="FFFFFF"/>
              </a:highlight>
              <a:latin typeface="Courier New"/>
              <a:ea typeface="Courier New"/>
              <a:cs typeface="Courier New"/>
              <a:sym typeface="Courier New"/>
            </a:endParaRPr>
          </a:p>
        </p:txBody>
      </p:sp>
      <p:graphicFrame>
        <p:nvGraphicFramePr>
          <p:cNvPr id="902" name="Google Shape;902;p77"/>
          <p:cNvGraphicFramePr/>
          <p:nvPr/>
        </p:nvGraphicFramePr>
        <p:xfrm>
          <a:off x="0" y="44"/>
          <a:ext cx="3000000" cy="3000000"/>
        </p:xfrm>
        <a:graphic>
          <a:graphicData uri="http://schemas.openxmlformats.org/drawingml/2006/table">
            <a:tbl>
              <a:tblPr>
                <a:noFill/>
                <a:tableStyleId>{F2EF7FB4-3C4B-4EB4-ADDB-82F97E64C7F0}</a:tableStyleId>
              </a:tblPr>
              <a:tblGrid>
                <a:gridCol w="4134700"/>
                <a:gridCol w="1211700"/>
                <a:gridCol w="1201375"/>
                <a:gridCol w="836600"/>
                <a:gridCol w="1759625"/>
              </a:tblGrid>
              <a:tr h="425075">
                <a:tc>
                  <a:txBody>
                    <a:bodyPr/>
                    <a:lstStyle/>
                    <a:p>
                      <a:pPr indent="0" lvl="0" marL="0" rtl="0" algn="l">
                        <a:spcBef>
                          <a:spcPts val="0"/>
                        </a:spcBef>
                        <a:spcAft>
                          <a:spcPts val="0"/>
                        </a:spcAft>
                        <a:buNone/>
                      </a:pPr>
                      <a:r>
                        <a:rPr b="1" lang="en">
                          <a:solidFill>
                            <a:schemeClr val="lt1"/>
                          </a:solidFill>
                        </a:rPr>
                        <a:t>Code</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dec1 (A1)</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dec2 (A2)</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p</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c>
                  <a:txBody>
                    <a:bodyPr/>
                    <a:lstStyle/>
                    <a:p>
                      <a:pPr indent="0" lvl="0" marL="0" rtl="0" algn="l">
                        <a:spcBef>
                          <a:spcPts val="0"/>
                        </a:spcBef>
                        <a:spcAft>
                          <a:spcPts val="0"/>
                        </a:spcAft>
                        <a:buNone/>
                      </a:pPr>
                      <a:r>
                        <a:rPr b="1" lang="en">
                          <a:solidFill>
                            <a:schemeClr val="lt1"/>
                          </a:solidFill>
                        </a:rPr>
                        <a:t>q</a:t>
                      </a:r>
                      <a:endParaRPr b="1">
                        <a:solidFill>
                          <a:schemeClr val="lt1"/>
                        </a:solidFill>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D15A12"/>
                    </a:solidFill>
                  </a:tcPr>
                </a:tc>
              </a:tr>
              <a:tr h="879575">
                <a:tc>
                  <a:txBody>
                    <a:bodyPr/>
                    <a:lstStyle/>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dec1 = </a:t>
                      </a:r>
                      <a:r>
                        <a:rPr b="1" lang="en">
                          <a:solidFill>
                            <a:srgbClr val="098658"/>
                          </a:solidFill>
                          <a:highlight>
                            <a:schemeClr val="lt1"/>
                          </a:highlight>
                          <a:latin typeface="Courier New"/>
                          <a:ea typeface="Courier New"/>
                          <a:cs typeface="Courier New"/>
                          <a:sym typeface="Courier New"/>
                        </a:rPr>
                        <a:t>2.5</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dec2 = </a:t>
                      </a:r>
                      <a:r>
                        <a:rPr b="1" lang="en">
                          <a:solidFill>
                            <a:srgbClr val="098658"/>
                          </a:solidFill>
                          <a:highlight>
                            <a:schemeClr val="lt1"/>
                          </a:highlight>
                          <a:latin typeface="Courier New"/>
                          <a:ea typeface="Courier New"/>
                          <a:cs typeface="Courier New"/>
                          <a:sym typeface="Courier New"/>
                        </a:rPr>
                        <a:t>3.8</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a:solidFill>
                            <a:srgbClr val="0000FF"/>
                          </a:solidFill>
                          <a:highlight>
                            <a:schemeClr val="lt1"/>
                          </a:highlight>
                          <a:latin typeface="Courier New"/>
                          <a:ea typeface="Courier New"/>
                          <a:cs typeface="Courier New"/>
                          <a:sym typeface="Courier New"/>
                        </a:rPr>
                        <a:t>double</a:t>
                      </a:r>
                      <a:r>
                        <a:rPr b="1" lang="en">
                          <a:solidFill>
                            <a:schemeClr val="dk1"/>
                          </a:solidFill>
                          <a:highlight>
                            <a:schemeClr val="lt1"/>
                          </a:highlight>
                          <a:latin typeface="Courier New"/>
                          <a:ea typeface="Courier New"/>
                          <a:cs typeface="Courier New"/>
                          <a:sym typeface="Courier New"/>
                        </a:rPr>
                        <a:t> *p,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&amp;dec1;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2.5</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dec2 - dec1;</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p;</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1.3</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None/>
                      </a:pPr>
                      <a:r>
                        <a:rPr b="1" lang="en">
                          <a:solidFill>
                            <a:schemeClr val="dk1"/>
                          </a:solidFill>
                          <a:highlight>
                            <a:schemeClr val="lt1"/>
                          </a:highlight>
                          <a:latin typeface="Courier New"/>
                          <a:ea typeface="Courier New"/>
                          <a:cs typeface="Courier New"/>
                          <a:sym typeface="Courier New"/>
                        </a:rPr>
                        <a:t>*q = </a:t>
                      </a:r>
                      <a:r>
                        <a:rPr b="1" lang="en">
                          <a:solidFill>
                            <a:srgbClr val="098658"/>
                          </a:solidFill>
                          <a:highlight>
                            <a:schemeClr val="lt1"/>
                          </a:highlight>
                          <a:latin typeface="Courier New"/>
                          <a:ea typeface="Courier New"/>
                          <a:cs typeface="Courier New"/>
                          <a:sym typeface="Courier New"/>
                        </a:rPr>
                        <a:t>10.0</a:t>
                      </a:r>
                      <a:r>
                        <a:rPr b="1" lang="en">
                          <a:solidFill>
                            <a:schemeClr val="dk1"/>
                          </a:solidFill>
                          <a:highlight>
                            <a:schemeClr val="lt1"/>
                          </a:highlight>
                          <a:latin typeface="Courier New"/>
                          <a:ea typeface="Courier New"/>
                          <a:cs typeface="Courier New"/>
                          <a:sym typeface="Courier New"/>
                        </a:rPr>
                        <a:t>;</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10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*p = </a:t>
                      </a:r>
                      <a:r>
                        <a:rPr b="1" lang="en">
                          <a:solidFill>
                            <a:srgbClr val="098658"/>
                          </a:solidFill>
                          <a:highlight>
                            <a:schemeClr val="lt1"/>
                          </a:highlight>
                          <a:latin typeface="Courier New"/>
                          <a:ea typeface="Courier New"/>
                          <a:cs typeface="Courier New"/>
                          <a:sym typeface="Courier New"/>
                        </a:rPr>
                        <a:t>2</a:t>
                      </a:r>
                      <a:r>
                        <a:rPr b="1" lang="en">
                          <a:solidFill>
                            <a:schemeClr val="dk1"/>
                          </a:solidFill>
                          <a:highlight>
                            <a:schemeClr val="lt1"/>
                          </a:highlight>
                          <a:latin typeface="Courier New"/>
                          <a:ea typeface="Courier New"/>
                          <a:cs typeface="Courier New"/>
                          <a:sym typeface="Courier New"/>
                        </a:rPr>
                        <a:t> * dec1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q = &amp;dec2;</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30</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dec1 = *p + *q;</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33.8</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3.8</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A1</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A2</a:t>
                      </a:r>
                      <a:endParaRPr b="1">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92925">
                <a:tc>
                  <a:txBody>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chemeClr val="lt1"/>
                          </a:highlight>
                          <a:latin typeface="Courier New"/>
                          <a:ea typeface="Courier New"/>
                          <a:cs typeface="Courier New"/>
                          <a:sym typeface="Courier New"/>
                        </a:rPr>
                        <a:t> cout &lt;&lt; dec1 &lt;&lt; </a:t>
                      </a:r>
                      <a:r>
                        <a:rPr b="1" lang="en">
                          <a:solidFill>
                            <a:srgbClr val="A31515"/>
                          </a:solidFill>
                          <a:highlight>
                            <a:schemeClr val="lt1"/>
                          </a:highlight>
                          <a:latin typeface="Courier New"/>
                          <a:ea typeface="Courier New"/>
                          <a:cs typeface="Courier New"/>
                          <a:sym typeface="Courier New"/>
                        </a:rPr>
                        <a:t>" "</a:t>
                      </a:r>
                      <a:r>
                        <a:rPr b="1" lang="en">
                          <a:solidFill>
                            <a:schemeClr val="dk1"/>
                          </a:solidFill>
                          <a:highlight>
                            <a:schemeClr val="lt1"/>
                          </a:highlight>
                          <a:latin typeface="Courier New"/>
                          <a:ea typeface="Courier New"/>
                          <a:cs typeface="Courier New"/>
                          <a:sym typeface="Courier New"/>
                        </a:rPr>
                        <a:t> &lt;&lt; dec2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33.8 3.8</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r h="416875">
                <a:tc>
                  <a:txBody>
                    <a:bodyPr/>
                    <a:lstStyle/>
                    <a:p>
                      <a:pPr indent="0" lvl="0" marL="0" rtl="0" algn="l">
                        <a:lnSpc>
                          <a:spcPct val="115000"/>
                        </a:lnSpc>
                        <a:spcBef>
                          <a:spcPts val="0"/>
                        </a:spcBef>
                        <a:spcAft>
                          <a:spcPts val="0"/>
                        </a:spcAft>
                        <a:buClr>
                          <a:schemeClr val="dk1"/>
                        </a:buClr>
                        <a:buSzPts val="1100"/>
                        <a:buFont typeface="Arial"/>
                        <a:buNone/>
                      </a:pPr>
                      <a:r>
                        <a:rPr b="1" lang="en" sz="1550">
                          <a:solidFill>
                            <a:schemeClr val="dk1"/>
                          </a:solidFill>
                          <a:highlight>
                            <a:schemeClr val="lt1"/>
                          </a:highlight>
                          <a:latin typeface="Courier New"/>
                          <a:ea typeface="Courier New"/>
                          <a:cs typeface="Courier New"/>
                          <a:sym typeface="Courier New"/>
                        </a:rPr>
                        <a:t> cout &lt;&lt; *p &lt;&lt; </a:t>
                      </a:r>
                      <a:r>
                        <a:rPr b="1" lang="en" sz="1550">
                          <a:solidFill>
                            <a:srgbClr val="A31515"/>
                          </a:solidFill>
                          <a:highlight>
                            <a:schemeClr val="lt1"/>
                          </a:highlight>
                          <a:latin typeface="Courier New"/>
                          <a:ea typeface="Courier New"/>
                          <a:cs typeface="Courier New"/>
                          <a:sym typeface="Courier New"/>
                        </a:rPr>
                        <a:t>" "</a:t>
                      </a:r>
                      <a:r>
                        <a:rPr b="1" lang="en" sz="1550">
                          <a:solidFill>
                            <a:schemeClr val="dk1"/>
                          </a:solidFill>
                          <a:highlight>
                            <a:schemeClr val="lt1"/>
                          </a:highlight>
                          <a:latin typeface="Courier New"/>
                          <a:ea typeface="Courier New"/>
                          <a:cs typeface="Courier New"/>
                          <a:sym typeface="Courier New"/>
                        </a:rPr>
                        <a:t> &lt;&lt; *q &lt;&lt; endl;</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gridSpan="4">
                  <a:txBody>
                    <a:bodyPr/>
                    <a:lstStyle/>
                    <a:p>
                      <a:pPr indent="0" lvl="0" marL="0" rtl="0" algn="l">
                        <a:spcBef>
                          <a:spcPts val="0"/>
                        </a:spcBef>
                        <a:spcAft>
                          <a:spcPts val="0"/>
                        </a:spcAft>
                        <a:buNone/>
                      </a:pPr>
                      <a:r>
                        <a:rPr b="1" lang="en">
                          <a:solidFill>
                            <a:schemeClr val="dk1"/>
                          </a:solidFill>
                          <a:highlight>
                            <a:schemeClr val="lt1"/>
                          </a:highlight>
                          <a:latin typeface="Courier New"/>
                          <a:ea typeface="Courier New"/>
                          <a:cs typeface="Courier New"/>
                          <a:sym typeface="Courier New"/>
                        </a:rPr>
                        <a:t>33.8 3.8</a:t>
                      </a:r>
                      <a:endParaRPr b="1">
                        <a:solidFill>
                          <a:schemeClr val="dk1"/>
                        </a:solidFill>
                        <a:highlight>
                          <a:schemeClr val="lt1"/>
                        </a:highlight>
                        <a:latin typeface="Courier New"/>
                        <a:ea typeface="Courier New"/>
                        <a:cs typeface="Courier New"/>
                        <a:sym typeface="Courier New"/>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hMerge="1"/>
                <a:tc hMerge="1"/>
                <a:tc h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