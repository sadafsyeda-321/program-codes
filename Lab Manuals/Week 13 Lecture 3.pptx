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43998F-3EF1-464B-A62F-A7ABD0F5DCAD}">
  <a:tblStyle styleId="{2243998F-3EF1-464B-A62F-A7ABD0F5DC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feed7b17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feed7b17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0feed7b17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0feed7b17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0feed7b17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0feed7b17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feed7b17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feed7b17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feed7b17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feed7b17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feed7b17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feed7b17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0feed7b17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0feed7b17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0feed7b17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0feed7b17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feed7b17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0feed7b17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0feed7b17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0feed7b17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feed7b17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0feed7b17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feed7b17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0feed7b17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feed7b17d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0feed7b17d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feed7b17d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feed7b17d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0feed7b17d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0feed7b17d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0feed7b17d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0feed7b17d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0feed7b17d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0feed7b17d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0feed7b17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0feed7b17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0feed7b17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0feed7b17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0feed7b17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0feed7b17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feed7b17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0feed7b17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feed7b17d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0feed7b17d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feed7b17d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0feed7b17d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0feed7b17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0feed7b17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0feed7b17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0feed7b17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0feed7b17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0feed7b17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0feed7b17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0feed7b17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0feed7b17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0feed7b17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0feed7b17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0feed7b17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0feed7b17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0feed7b17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feed7b17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0feed7b17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0feed7b17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0feed7b17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0feed7b17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0feed7b17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0feed7b17d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0feed7b17d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0feed7b17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0feed7b17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this lecture, you shall be able to explain the Hardware Components (that are input output devices, CPU and memory) and their role while computing any problem.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0feed7b17d_0_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20feed7b17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0feed7b17d_0_3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20feed7b17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04550" y="1939475"/>
            <a:ext cx="6331500" cy="16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Reading from a formatted </a:t>
            </a:r>
            <a:r>
              <a:rPr b="1" lang="en" sz="45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</a:t>
            </a:r>
            <a:endParaRPr b="1" sz="45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(Comma Separated File)</a:t>
            </a:r>
            <a:endParaRPr b="1" sz="45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7825" y="1039140"/>
            <a:ext cx="1549400" cy="410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50" y="1040975"/>
            <a:ext cx="1421136" cy="4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329" y="1643932"/>
            <a:ext cx="7989900" cy="1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 rot="10800000">
            <a:off x="8513292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A3D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 flipH="1" rot="10800000">
            <a:off x="-8" y="86"/>
            <a:ext cx="627300" cy="1995600"/>
          </a:xfrm>
          <a:prstGeom prst="rtTriangle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777" y="1434311"/>
            <a:ext cx="7989900" cy="22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8" name="Google Shape;78;p1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Suppose, we have the following informations related to each student.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8" name="Google Shape;88;p1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complete record of one student.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92" name="Google Shape;92;p17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/>
          <p:nvPr/>
        </p:nvSpPr>
        <p:spPr>
          <a:xfrm>
            <a:off x="1401700" y="2914175"/>
            <a:ext cx="6262800" cy="473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299300" y="2957975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0" name="Google Shape;100;p1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complete record of another student.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04" name="Google Shape;104;p18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8"/>
          <p:cNvSpPr/>
          <p:nvPr/>
        </p:nvSpPr>
        <p:spPr>
          <a:xfrm>
            <a:off x="1401700" y="3371375"/>
            <a:ext cx="6262800" cy="473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299300" y="3415175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12" name="Google Shape;112;p1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complete record of another student.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16" name="Google Shape;116;p19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9"/>
          <p:cNvSpPr/>
          <p:nvPr/>
        </p:nvSpPr>
        <p:spPr>
          <a:xfrm>
            <a:off x="1401700" y="3860125"/>
            <a:ext cx="6262800" cy="4725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99300" y="3872375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24" name="Google Shape;124;p2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field of all records.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20"/>
          <p:cNvSpPr/>
          <p:nvPr/>
        </p:nvSpPr>
        <p:spPr>
          <a:xfrm>
            <a:off x="1401700" y="2442975"/>
            <a:ext cx="1565700" cy="1889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 rot="5400000">
            <a:off x="1725550" y="1715900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6" name="Google Shape;136;p2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another field.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40" name="Google Shape;140;p21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21"/>
          <p:cNvSpPr/>
          <p:nvPr/>
        </p:nvSpPr>
        <p:spPr>
          <a:xfrm>
            <a:off x="2967400" y="2442975"/>
            <a:ext cx="1565700" cy="1889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 rot="5400000">
            <a:off x="3249550" y="1715900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another field.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52" name="Google Shape;152;p22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22"/>
          <p:cNvSpPr/>
          <p:nvPr/>
        </p:nvSpPr>
        <p:spPr>
          <a:xfrm>
            <a:off x="4533100" y="2442975"/>
            <a:ext cx="1565700" cy="1889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 rot="5400000">
            <a:off x="4849750" y="1715900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60" name="Google Shape;160;p2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another field.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64" name="Google Shape;164;p23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3"/>
          <p:cNvSpPr/>
          <p:nvPr/>
        </p:nvSpPr>
        <p:spPr>
          <a:xfrm>
            <a:off x="6098800" y="2442975"/>
            <a:ext cx="1565700" cy="18897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 rot="5400000">
            <a:off x="6373750" y="1715900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72" name="Google Shape;172;p2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Short, we have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records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each record has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4 fields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(user name, password, age and Cgpa).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76" name="Google Shape;176;p24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4"/>
          <p:cNvSpPr/>
          <p:nvPr/>
        </p:nvSpPr>
        <p:spPr>
          <a:xfrm>
            <a:off x="1750975" y="44169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1750975" y="45693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1750975" y="47217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85" name="Google Shape;185;p2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can we store this information in the text file?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89" name="Google Shape;189;p25"/>
          <p:cNvGraphicFramePr/>
          <p:nvPr/>
        </p:nvGraphicFramePr>
        <p:xfrm>
          <a:off x="1401700" y="244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{2243998F-3EF1-464B-A62F-A7ABD0F5DCAD}</a:tableStyleId>
              </a:tblPr>
              <a:tblGrid>
                <a:gridCol w="1565700"/>
                <a:gridCol w="1565700"/>
                <a:gridCol w="1565700"/>
                <a:gridCol w="15657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User Name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Password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Age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Cgpa</a:t>
                      </a:r>
                      <a:endParaRPr b="1" sz="1900">
                        <a:solidFill>
                          <a:schemeClr val="lt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5A12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Jane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&amp;111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18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Joe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@444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17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3.9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Smith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*655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23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rgbClr val="40404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3.1</a:t>
                      </a:r>
                      <a:endParaRPr b="1" sz="1900">
                        <a:solidFill>
                          <a:srgbClr val="40404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04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5"/>
          <p:cNvSpPr/>
          <p:nvPr/>
        </p:nvSpPr>
        <p:spPr>
          <a:xfrm>
            <a:off x="1750975" y="44169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1750975" y="45693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1750975" y="4721700"/>
            <a:ext cx="145800" cy="131100"/>
          </a:xfrm>
          <a:prstGeom prst="ellipse">
            <a:avLst/>
          </a:prstGeom>
          <a:solidFill>
            <a:srgbClr val="40404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98" name="Google Shape;198;p2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375500" y="945450"/>
            <a:ext cx="5659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way is to store every field on a separate line in text 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850" y="0"/>
            <a:ext cx="1648465" cy="4864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8" name="Google Shape;208;p2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375500" y="945450"/>
            <a:ext cx="5659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Do you see any problem in this approach?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850" y="0"/>
            <a:ext cx="1648465" cy="4864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18" name="Google Shape;218;p2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375500" y="945450"/>
            <a:ext cx="5659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Record of 1 person is scattered on 4 lines and it is difficult to understand the information when we open the 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850" y="0"/>
            <a:ext cx="1648465" cy="4864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28" name="Google Shape;228;p2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375500" y="945450"/>
            <a:ext cx="5659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Record of 1 person is scattered on 4 lines and it is difficult to understand the information when we open the file.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we store the record of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 person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on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1 line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so that it is more readable?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850" y="0"/>
            <a:ext cx="1648465" cy="4864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38" name="Google Shape;238;p3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375500" y="945450"/>
            <a:ext cx="8520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e can stored this information related to each record in a single line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separated by commas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a text file.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2" name="Google Shape;2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013" y="2135763"/>
            <a:ext cx="36099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8" name="Google Shape;248;p3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375500" y="945450"/>
            <a:ext cx="46563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 C++ Program that reads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credentials.txt 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comma separated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" sz="24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file till the end and then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ask the user to enter a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username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password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then display the information if it is a valid student.</a:t>
            </a:r>
            <a:endParaRPr b="1" sz="24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2" name="Google Shape;2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00" y="1366838"/>
            <a:ext cx="36099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58" name="Google Shape;258;p3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375500" y="945450"/>
            <a:ext cx="49107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approach this problem?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2" name="Google Shape;2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00" y="1366838"/>
            <a:ext cx="36099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68" name="Google Shape;268;p3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know how to read a file till the end.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will get information of each record in a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string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72" name="Google Shape;2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36" y="2834022"/>
            <a:ext cx="2617636" cy="18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 txBox="1"/>
          <p:nvPr/>
        </p:nvSpPr>
        <p:spPr>
          <a:xfrm>
            <a:off x="4784075" y="922075"/>
            <a:ext cx="4359900" cy="293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getline(data, record);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79" name="Google Shape;279;p3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the information is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separated by commas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83" name="Google Shape;2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36" y="2834022"/>
            <a:ext cx="2617636" cy="18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 txBox="1"/>
          <p:nvPr/>
        </p:nvSpPr>
        <p:spPr>
          <a:xfrm>
            <a:off x="4784075" y="922075"/>
            <a:ext cx="4359900" cy="293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getline(data, record);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299300" y="3262775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91" name="Google Shape;291;p3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we have to separate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field of every record and store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parallel arrays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36" y="2834022"/>
            <a:ext cx="2617636" cy="18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5"/>
          <p:cNvSpPr txBox="1"/>
          <p:nvPr/>
        </p:nvSpPr>
        <p:spPr>
          <a:xfrm>
            <a:off x="4784075" y="922075"/>
            <a:ext cx="4359900" cy="293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getline(data, record);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299300" y="3262775"/>
            <a:ext cx="91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03" name="Google Shape;303;p3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375500" y="945450"/>
            <a:ext cx="84009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Let’s make a function that takes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record in string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along with the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the field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to specify which part we want to separate. Then the function will return the separated string i.e, name, 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 the field number is 1, and password, if the field number is 2.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string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getField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(string record, int field)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{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12" name="Google Shape;312;p3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3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it returns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the field is 1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Password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the field is 2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Age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the field is 3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CGPA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if the field is 4.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 txBox="1"/>
          <p:nvPr/>
        </p:nvSpPr>
        <p:spPr>
          <a:xfrm>
            <a:off x="4772850" y="9275"/>
            <a:ext cx="4359900" cy="4904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string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commaCount = commaCount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item = item + record[x];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23" name="Google Shape;323;p3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we can use this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 to separate every field.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27" name="Google Shape;327;p38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/>
        </p:nvSpPr>
        <p:spPr>
          <a:xfrm>
            <a:off x="4772850" y="9275"/>
            <a:ext cx="4359900" cy="4904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string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commaCount = commaCount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item = item + record[x];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34" name="Google Shape;334;p3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we can use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getField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()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separate every field.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38" name="Google Shape;338;p39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9"/>
          <p:cNvSpPr txBox="1"/>
          <p:nvPr/>
        </p:nvSpPr>
        <p:spPr>
          <a:xfrm>
            <a:off x="4772850" y="9275"/>
            <a:ext cx="4359900" cy="434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getline(data,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names[idx] = getField(record,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passwords[idx] =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getField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ages[idx] =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getField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cgpa[idx] =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getField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idx = idx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45" name="Google Shape;345;p40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40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0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Do you see any problem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getField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() function?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49" name="Google Shape;349;p40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/>
          <p:nvPr/>
        </p:nvSpPr>
        <p:spPr>
          <a:xfrm>
            <a:off x="4772850" y="9275"/>
            <a:ext cx="4359900" cy="4904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string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commaCount = commaCount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item = item + record[x];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56" name="Google Shape;356;p41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1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1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Return type of this function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string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therefore, it will always return a string.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“18” =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getField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(“Jane,&amp;111,18,3.4”,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60" name="Google Shape;360;p41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1"/>
          <p:cNvSpPr txBox="1"/>
          <p:nvPr/>
        </p:nvSpPr>
        <p:spPr>
          <a:xfrm>
            <a:off x="4772850" y="9275"/>
            <a:ext cx="4359900" cy="4904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string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commaCount = commaCount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item = item + record[x];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67" name="Google Shape;367;p42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2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42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2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Although, the age and CGPA of the student is 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float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data type.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71" name="Google Shape;371;p42"/>
          <p:cNvPicPr preferRelativeResize="0"/>
          <p:nvPr/>
        </p:nvPicPr>
        <p:blipFill rotWithShape="1">
          <a:blip r:embed="rId3">
            <a:alphaModFix/>
          </a:blip>
          <a:srcRect b="30167" l="0" r="0" t="0"/>
          <a:stretch/>
        </p:blipFill>
        <p:spPr>
          <a:xfrm>
            <a:off x="1467725" y="3291224"/>
            <a:ext cx="2617650" cy="12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2"/>
          <p:cNvSpPr txBox="1"/>
          <p:nvPr/>
        </p:nvSpPr>
        <p:spPr>
          <a:xfrm>
            <a:off x="4772850" y="9275"/>
            <a:ext cx="4359900" cy="4904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string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commaCount = commaCount + </a:t>
            </a:r>
            <a:r>
              <a:rPr b="1"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{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item = item + record[x];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78" name="Google Shape;378;p43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3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43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that we will use built-in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stoi()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function that converts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string into integer.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18 = stoi(“18”)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4772850" y="9275"/>
            <a:ext cx="4359900" cy="4622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getline(data, record);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names[idx]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passwords[idx]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ages[idx] = stoi(getField(record,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cgpa[idx]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idx = idx +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88" name="Google Shape;388;p44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4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4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4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that we will use built-in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stof()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function that converts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string into float.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3.4 = stof(“3.4”)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2" name="Google Shape;392;p44"/>
          <p:cNvSpPr txBox="1"/>
          <p:nvPr/>
        </p:nvSpPr>
        <p:spPr>
          <a:xfrm>
            <a:off x="4772850" y="9275"/>
            <a:ext cx="4359900" cy="434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getline(data, record);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names[idx]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passwords[idx]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ages[idx] = stoi(getField(record,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cgpa[idx] = stof(getField(record,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idx = idx +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398" name="Google Shape;398;p45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5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45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5"/>
          <p:cNvSpPr txBox="1"/>
          <p:nvPr/>
        </p:nvSpPr>
        <p:spPr>
          <a:xfrm>
            <a:off x="375500" y="945450"/>
            <a:ext cx="4802100" cy="3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Now, we have populated the parallel arrays correctly.</a:t>
            </a:r>
            <a:b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rest is now just a </a:t>
            </a:r>
            <a:r>
              <a:rPr b="1" lang="en" sz="24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piece of cake</a:t>
            </a:r>
            <a:r>
              <a:rPr b="1" lang="en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2" name="Google Shape;402;p45"/>
          <p:cNvSpPr txBox="1"/>
          <p:nvPr/>
        </p:nvSpPr>
        <p:spPr>
          <a:xfrm>
            <a:off x="4772850" y="9275"/>
            <a:ext cx="4359900" cy="43407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readData()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record;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fstream data;    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data.open(</a:t>
            </a:r>
            <a:r>
              <a:rPr b="1" lang="en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getline(data, record);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names[idx]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passwords[idx] = 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ages[idx] = stoi(getField(record,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cgpa[idx] = stof(getField(record,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idx = idx + </a:t>
            </a:r>
            <a:r>
              <a:rPr b="1" lang="en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1;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8" name="Google Shape;408;p46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6"/>
          <p:cNvSpPr txBox="1"/>
          <p:nvPr/>
        </p:nvSpPr>
        <p:spPr>
          <a:xfrm>
            <a:off x="180400" y="780825"/>
            <a:ext cx="4359900" cy="41604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string names[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], passwords[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int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ages[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float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cgpa[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int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idx =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readData();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name, password;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Name: 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getline(cin, name);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cout &lt;&lt;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"Enter Password: "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getline(cin, password);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index = isPresent(name, password, names, passwords, idx);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(index == -1)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cout &lt;&lt; </a:t>
            </a:r>
            <a:r>
              <a:rPr b="1" lang="en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"User Not Present"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lse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displayOutput(index, names, ages, cgpa);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46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11" name="Google Shape;411;p46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6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6"/>
          <p:cNvSpPr txBox="1"/>
          <p:nvPr/>
        </p:nvSpPr>
        <p:spPr>
          <a:xfrm>
            <a:off x="4572000" y="773809"/>
            <a:ext cx="4572300" cy="4075200"/>
          </a:xfrm>
          <a:prstGeom prst="rect">
            <a:avLst/>
          </a:prstGeom>
          <a:noFill/>
          <a:ln cap="flat" cmpd="sng" w="28575">
            <a:solidFill>
              <a:srgbClr val="2A3D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nt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isPresent(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name,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string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password, string names[], string passwords[], int idx)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index = -1;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 x &lt; idx; x++)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(name == names[x] &amp;&amp; password == passwords[x])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index = x;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eturn index;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displayOutput(</a:t>
            </a: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index, string names[], int ages[], float cgpa[])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cout &lt;&lt; </a:t>
            </a:r>
            <a:r>
              <a:rPr b="1" lang="en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"Name \t Age \t CGPA"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&lt;&lt; endl;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cout &lt;&lt; names[index] &lt;&lt; </a:t>
            </a:r>
            <a:r>
              <a:rPr b="1" lang="en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 \t "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&lt;&lt; ages[index];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cout &lt;&lt; </a:t>
            </a:r>
            <a:r>
              <a:rPr b="1" lang="en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 \t "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&lt;&lt; cgpa[index];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 txBox="1"/>
          <p:nvPr/>
        </p:nvSpPr>
        <p:spPr>
          <a:xfrm>
            <a:off x="4507250" y="771275"/>
            <a:ext cx="4625400" cy="40752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readData(string names[], string passwords[], int ages, float cgpa[], int &amp;idx)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string record;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fstream data;            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data.open(</a:t>
            </a:r>
            <a:r>
              <a:rPr b="1" lang="en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"credentials.txt"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ios::in);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while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(!(data.eof()))        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{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getline(data, record);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names[idx] = getField(record,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passwords[idx] = getField(record,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ages[idx] = stoi(getField(record,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cgpa[idx] = stof(getField(record,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idx = idx + </a:t>
            </a:r>
            <a:r>
              <a:rPr b="1" lang="en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1;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47"/>
          <p:cNvSpPr txBox="1"/>
          <p:nvPr/>
        </p:nvSpPr>
        <p:spPr>
          <a:xfrm>
            <a:off x="0" y="771275"/>
            <a:ext cx="4359900" cy="4063500"/>
          </a:xfrm>
          <a:prstGeom prst="rect">
            <a:avLst/>
          </a:prstGeom>
          <a:noFill/>
          <a:ln cap="flat" cmpd="sng" w="2857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&lt;iostream&gt;</a:t>
            </a:r>
            <a:endParaRPr b="1"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&lt;fstream&gt;</a:t>
            </a:r>
            <a:endParaRPr b="1"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std;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getField(string record,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field)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commaCount = </a:t>
            </a:r>
            <a:r>
              <a:rPr b="1" lang="en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string item;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1" lang="en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x &lt; record.length(); x++)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(record[x] == </a:t>
            </a:r>
            <a:r>
              <a:rPr b="1" lang="en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','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commaCount = commaCount + </a:t>
            </a:r>
            <a:r>
              <a:rPr b="1" lang="en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(commaCount == field)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item = item + record[x];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item;</a:t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2" name="Google Shape;422;p47"/>
          <p:cNvSpPr txBox="1"/>
          <p:nvPr>
            <p:ph type="ctrTitle"/>
          </p:nvPr>
        </p:nvSpPr>
        <p:spPr>
          <a:xfrm>
            <a:off x="0" y="0"/>
            <a:ext cx="91440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Working Example</a:t>
            </a:r>
            <a:endParaRPr b="1" sz="36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23" name="Google Shape;423;p47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7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30" name="Google Shape;430;p48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48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48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 txBox="1"/>
          <p:nvPr/>
        </p:nvSpPr>
        <p:spPr>
          <a:xfrm>
            <a:off x="622675" y="1025050"/>
            <a:ext cx="6594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	Read a file named </a:t>
            </a:r>
            <a:r>
              <a:rPr b="1" lang="en" sz="19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credentials.txt </a:t>
            </a:r>
            <a:r>
              <a:rPr b="1" lang="en" sz="19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parallel arrays</a:t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34" name="Google Shape;4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8"/>
          <p:cNvPicPr preferRelativeResize="0"/>
          <p:nvPr/>
        </p:nvPicPr>
        <p:blipFill rotWithShape="1">
          <a:blip r:embed="rId4">
            <a:alphaModFix/>
          </a:blip>
          <a:srcRect b="30167" l="0" r="0" t="0"/>
          <a:stretch/>
        </p:blipFill>
        <p:spPr>
          <a:xfrm>
            <a:off x="2181650" y="2571750"/>
            <a:ext cx="3476650" cy="17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 txBox="1"/>
          <p:nvPr>
            <p:ph type="ctrTitle"/>
          </p:nvPr>
        </p:nvSpPr>
        <p:spPr>
          <a:xfrm>
            <a:off x="0" y="0"/>
            <a:ext cx="82296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6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</a:t>
            </a:r>
            <a:r>
              <a:rPr b="1" lang="en" sz="36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</a:t>
            </a:r>
            <a:r>
              <a:rPr b="1" lang="en" sz="36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Assessment</a:t>
            </a:r>
            <a:endParaRPr b="1" sz="36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441" name="Google Shape;441;p49"/>
          <p:cNvCxnSpPr/>
          <p:nvPr/>
        </p:nvCxnSpPr>
        <p:spPr>
          <a:xfrm>
            <a:off x="375500" y="123950"/>
            <a:ext cx="0" cy="570000"/>
          </a:xfrm>
          <a:prstGeom prst="straightConnector1">
            <a:avLst/>
          </a:prstGeom>
          <a:noFill/>
          <a:ln cap="flat" cmpd="sng" w="38100">
            <a:solidFill>
              <a:srgbClr val="D15A1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49"/>
          <p:cNvCxnSpPr/>
          <p:nvPr/>
        </p:nvCxnSpPr>
        <p:spPr>
          <a:xfrm>
            <a:off x="299300" y="47750"/>
            <a:ext cx="0" cy="5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49"/>
          <p:cNvSpPr/>
          <p:nvPr/>
        </p:nvSpPr>
        <p:spPr>
          <a:xfrm>
            <a:off x="0" y="4864944"/>
            <a:ext cx="9144000" cy="288000"/>
          </a:xfrm>
          <a:prstGeom prst="rect">
            <a:avLst/>
          </a:prstGeom>
          <a:solidFill>
            <a:srgbClr val="D15A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622675" y="1025050"/>
            <a:ext cx="64533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your task is to ask for a username and password from the user and check in your parallel arrays whether the username and password is present or not.</a:t>
            </a:r>
            <a:endParaRPr b="1" sz="18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present then display the message “</a:t>
            </a:r>
            <a:r>
              <a:rPr b="1" lang="en" sz="18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Access Granted</a:t>
            </a: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in </a:t>
            </a:r>
            <a:r>
              <a:rPr b="1" lang="en" sz="1800">
                <a:solidFill>
                  <a:srgbClr val="098658"/>
                </a:solidFill>
                <a:latin typeface="Comic Sans MS"/>
                <a:ea typeface="Comic Sans MS"/>
                <a:cs typeface="Comic Sans MS"/>
                <a:sym typeface="Comic Sans MS"/>
              </a:rPr>
              <a:t>green colour</a:t>
            </a: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then display a happy message if the CGPA is greater than </a:t>
            </a:r>
            <a:r>
              <a:rPr b="1" lang="en" sz="18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3.5</a:t>
            </a:r>
            <a:endParaRPr b="1" sz="1800">
              <a:solidFill>
                <a:srgbClr val="D15A1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otherwise “</a:t>
            </a:r>
            <a:r>
              <a:rPr b="1" lang="en" sz="1800">
                <a:solidFill>
                  <a:srgbClr val="D15A12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Access Denied</a:t>
            </a:r>
            <a:r>
              <a:rPr b="1" lang="en" sz="18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in </a:t>
            </a:r>
            <a:r>
              <a:rPr b="1" lang="en" sz="1800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red colour.</a:t>
            </a:r>
            <a:endParaRPr b="1" sz="18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445" name="Google Shape;4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76025" y="1503933"/>
            <a:ext cx="1747425" cy="3361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