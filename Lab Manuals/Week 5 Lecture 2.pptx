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7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F2B7D5-39A3-4F44-8138-42F8FB954EC4}">
  <a:tblStyle styleId="{3FF2B7D5-39A3-4F44-8138-42F8FB954E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d53552d0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1d53552d0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d53552d04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1d53552d04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d53552d04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d53552d04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d53552d048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1d53552d048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d53552d04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1d53552d04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d53552d048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1d53552d048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d53552d048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d53552d048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d53552d048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d53552d048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d53552d04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1d53552d04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d53552d048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1d53552d048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d53552d048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1d53552d048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d53552d048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d53552d048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d53552d048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d53552d048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d53552d048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1d53552d048_1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d53552d048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d53552d048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e94b11f7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1e94b11f7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Yai aik C++ ka program hia jis main ham user sy 2 values ly ker sum ker rhy hain.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Abje tk ham ny jitney bhe program likhy hain un ki execution ka flow sequential tha.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Sequential execution flow sy murad yai hia k jis tarteeb main code likha gaia hia use tareeb main e execute ho ga.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d53552d048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1d53552d048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Programming main condition likhny k leay if command use hoti hia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d53552d048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1d53552d048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Programming main decision making achieve kerny k leay conditional structure use hoty hain, comparision operator jisy ham double equal operator bhe bolyt hian 2 values ko compare kerny k leay use hota hia.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k elawa if command main likhe jany wali condition ko ham Boolean expression bhe khety hain.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d53552d048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1d53552d048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Self Assessment, Solve following questions.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404550" y="1524000"/>
            <a:ext cx="6331500" cy="18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900"/>
              <a:buFont typeface="Comic Sans MS"/>
              <a:buNone/>
            </a:pPr>
            <a:r>
              <a:rPr lang="en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Loops</a:t>
            </a:r>
            <a:br>
              <a:rPr lang="en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Practice problems</a:t>
            </a:r>
            <a:endParaRPr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7825" y="1039140"/>
            <a:ext cx="1549400" cy="410437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 rot="10800000" flipH="1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3550" y="1040975"/>
            <a:ext cx="1421136" cy="4104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Single Instruction</a:t>
            </a:r>
            <a:endParaRPr sz="36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1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14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75500" y="940775"/>
            <a:ext cx="8768400" cy="8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have seen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 used for repeating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1 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instruction.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357250" y="1763075"/>
            <a:ext cx="4429500" cy="30600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4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450"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4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main(){</a:t>
            </a:r>
            <a:endParaRPr sz="14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lang="en" sz="14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&lt; </a:t>
            </a:r>
            <a:r>
              <a:rPr lang="en" sz="14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= x + </a:t>
            </a:r>
            <a:r>
              <a:rPr lang="en" sz="14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lang="en" sz="14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UET!!"</a:t>
            </a: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endl;</a:t>
            </a:r>
            <a:endParaRPr sz="14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4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1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4"/>
          <p:cNvSpPr/>
          <p:nvPr/>
        </p:nvSpPr>
        <p:spPr>
          <a:xfrm flipH="1">
            <a:off x="6556025" y="3937475"/>
            <a:ext cx="1165800" cy="28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Multiple Instructions</a:t>
            </a:r>
            <a:endParaRPr sz="36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5" name="Google Shape;75;p1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15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75500" y="940775"/>
            <a:ext cx="8733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can also use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multiple instructions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within the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loop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75500" y="1691375"/>
            <a:ext cx="5739300" cy="1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Suppose, we want to write a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C++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program that repeats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multiple instructions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print</a:t>
            </a:r>
            <a:r>
              <a:rPr lang="en" sz="2400" b="1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table of 5.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388" y="1707525"/>
            <a:ext cx="254317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Multiple Instructions</a:t>
            </a:r>
            <a:endParaRPr sz="36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87;p1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16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75500" y="1005575"/>
            <a:ext cx="8768400" cy="1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Suppose, we want to write a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C++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program that repeats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multiple instructions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print</a:t>
            </a:r>
            <a:r>
              <a:rPr lang="en" sz="2400" b="1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table of 5.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199275" y="3483825"/>
            <a:ext cx="859800" cy="7902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1"/>
          </p:nvPr>
        </p:nvSpPr>
        <p:spPr>
          <a:xfrm>
            <a:off x="904400" y="1824700"/>
            <a:ext cx="6758100" cy="3060000"/>
          </a:xfrm>
          <a:prstGeom prst="rect">
            <a:avLst/>
          </a:prstGeom>
          <a:noFill/>
          <a:ln w="2857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350"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multiple;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3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table 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" sz="13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num =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num &lt;=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num = num +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50" b="1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Multiple Instructions</a:t>
            </a:r>
            <a:endParaRPr sz="36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97" name="Google Shape;97;p1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1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Google Shape;99;p17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75500" y="1005575"/>
            <a:ext cx="8768400" cy="1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Suppose, we want to write a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C++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program that repeats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multiple instructions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print</a:t>
            </a:r>
            <a:r>
              <a:rPr lang="en" sz="2400" b="1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table of 5.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1"/>
          </p:nvPr>
        </p:nvSpPr>
        <p:spPr>
          <a:xfrm>
            <a:off x="904400" y="1824700"/>
            <a:ext cx="6758100" cy="3060000"/>
          </a:xfrm>
          <a:prstGeom prst="rect">
            <a:avLst/>
          </a:prstGeom>
          <a:noFill/>
          <a:ln w="2857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350"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multiple;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3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table 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" sz="13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num =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num &lt;=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num = num +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multiple = table * num;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cout 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&lt;&lt; table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 *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num &lt;&lt;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 =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multiple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50" b="1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7199275" y="3483825"/>
            <a:ext cx="859800" cy="7902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Multiple Instructions</a:t>
            </a:r>
            <a:endParaRPr sz="36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8" name="Google Shape;108;p1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" name="Google Shape;109;p1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18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75500" y="1169375"/>
            <a:ext cx="8768400" cy="9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C++ program 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that finds sum of numbers between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100 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without using formula use code template given next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350" y="2357438"/>
            <a:ext cx="548640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Multiple Instructions</a:t>
            </a:r>
            <a:endParaRPr sz="36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18" name="Google Shape;118;p1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19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75500" y="1169375"/>
            <a:ext cx="8768400" cy="9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C++ program 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that finds sum of numbers between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100 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without using formula.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22" name="Google Shape;122;p19" descr="https://lh3.googleusercontent.com/QRLYIlYLAByld7_debcwSuryxBvtcxTOx8piEfbauS88DzJRPu7GmcZnDxNN7zyDaZ6Ou30_Cajvy031GZRpXRlzt9tIQUHkgzHdhXILnEpWo5qji2FBDjaerYkWeZFCFDZ-IBELAnk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0125"/>
            <a:ext cx="1644675" cy="27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descr="https://lh4.googleusercontent.com/HhN7u5OPxm59QcN13u_CV7eHXmX7eTN8gjYNjJL6KnwWb58dGTRXjcAYpXaf3PpG5Oa1NSsAJv3jy2pzghAbmh2TE7SJ6iHSZHxLKKYStbS2IgCJ92pE8cWyrlTaZYLf1YDIxqpVJMI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467600" y="2028925"/>
            <a:ext cx="1703425" cy="2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>
            <a:spLocks noGrp="1"/>
          </p:cNvSpPr>
          <p:nvPr>
            <p:ph type="subTitle" idx="1"/>
          </p:nvPr>
        </p:nvSpPr>
        <p:spPr>
          <a:xfrm>
            <a:off x="1644675" y="2141875"/>
            <a:ext cx="5823000" cy="27816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4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450"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4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sz="14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 = </a:t>
            </a:r>
            <a:r>
              <a:rPr lang="en" sz="14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4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lang="en" sz="14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&lt;= </a:t>
            </a:r>
            <a:r>
              <a:rPr lang="en" sz="14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= x + 1)</a:t>
            </a:r>
            <a:endParaRPr sz="14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4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1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Multiple Instructions</a:t>
            </a:r>
            <a:endParaRPr sz="36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30" name="Google Shape;130;p2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" name="Google Shape;131;p2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20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375500" y="1169375"/>
            <a:ext cx="8768400" cy="9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C++ program 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that finds sum of numbers between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100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4" name="Google Shape;134;p20" descr="https://lh3.googleusercontent.com/QRLYIlYLAByld7_debcwSuryxBvtcxTOx8piEfbauS88DzJRPu7GmcZnDxNN7zyDaZ6Ou30_Cajvy031GZRpXRlzt9tIQUHkgzHdhXILnEpWo5qji2FBDjaerYkWeZFCFDZ-IBELAnk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0125"/>
            <a:ext cx="1644675" cy="27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 descr="https://lh4.googleusercontent.com/HhN7u5OPxm59QcN13u_CV7eHXmX7eTN8gjYNjJL6KnwWb58dGTRXjcAYpXaf3PpG5Oa1NSsAJv3jy2pzghAbmh2TE7SJ6iHSZHxLKKYStbS2IgCJ92pE8cWyrlTaZYLf1YDIxqpVJMI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467600" y="2028925"/>
            <a:ext cx="1703425" cy="2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>
            <a:spLocks noGrp="1"/>
          </p:cNvSpPr>
          <p:nvPr>
            <p:ph type="subTitle" idx="1"/>
          </p:nvPr>
        </p:nvSpPr>
        <p:spPr>
          <a:xfrm>
            <a:off x="1644675" y="2141875"/>
            <a:ext cx="5823000" cy="27816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450" b="1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450" b="1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main(){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sum = </a:t>
            </a:r>
            <a:r>
              <a:rPr lang="en" sz="14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lang="en" sz="14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 x &lt;= </a:t>
            </a:r>
            <a:r>
              <a:rPr lang="en" sz="14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 x = x + 1)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sum = sum + x;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lang="en" sz="1450" b="1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"The sum of Numbers from 1 to 100 is: "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cout &lt;&lt; sum;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 b="1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</a:t>
            </a:r>
            <a:r>
              <a:rPr lang="en" sz="35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 Iterations</a:t>
            </a:r>
            <a:endParaRPr sz="35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42" name="Google Shape;142;p2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2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" name="Google Shape;144;p21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375500" y="1005575"/>
            <a:ext cx="8768400" cy="1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first two problems the individual iterations are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each other.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-4950" y="1824700"/>
            <a:ext cx="3868500" cy="30747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350"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main(){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&lt;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= x +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UET!!"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endl;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 b="1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1"/>
          </p:nvPr>
        </p:nvSpPr>
        <p:spPr>
          <a:xfrm>
            <a:off x="3863550" y="1824700"/>
            <a:ext cx="5280300" cy="3060000"/>
          </a:xfrm>
          <a:prstGeom prst="rect">
            <a:avLst/>
          </a:prstGeom>
          <a:noFill/>
          <a:ln w="2857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350"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multiple;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table 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" sz="13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num =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num &lt;=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num = num +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multiple = table * num;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cout 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&lt;&lt; table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 *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&lt;&lt;num&lt;&lt;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 =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&lt;&lt;multiple&lt;&lt;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50" b="1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</a:t>
            </a:r>
            <a:r>
              <a:rPr lang="en" sz="35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 Iterations</a:t>
            </a:r>
            <a:endParaRPr sz="35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53" name="Google Shape;153;p2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54;p2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p22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375500" y="1005575"/>
            <a:ext cx="8768400" cy="1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Iteration means the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previous iteration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are not required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 next iterations.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-4950" y="1824700"/>
            <a:ext cx="3868500" cy="30747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350"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main(){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&lt;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= x + </a:t>
            </a:r>
            <a:r>
              <a:rPr lang="en" sz="135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UET!!"</a:t>
            </a: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&lt;&lt; endl;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350"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 b="1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1"/>
          </p:nvPr>
        </p:nvSpPr>
        <p:spPr>
          <a:xfrm>
            <a:off x="3863550" y="1824700"/>
            <a:ext cx="5280600" cy="3060000"/>
          </a:xfrm>
          <a:prstGeom prst="rect">
            <a:avLst/>
          </a:prstGeom>
          <a:noFill/>
          <a:ln w="2857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350" b="1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350" b="1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multiple;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table = </a:t>
            </a:r>
            <a:r>
              <a:rPr lang="en" sz="13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num = </a:t>
            </a:r>
            <a:r>
              <a:rPr lang="en" sz="13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 num &lt;= </a:t>
            </a:r>
            <a:r>
              <a:rPr lang="en" sz="13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 num = num + </a:t>
            </a:r>
            <a:r>
              <a:rPr lang="en" sz="13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multiple = table * num;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cout &lt;&lt; table &lt;&lt;</a:t>
            </a:r>
            <a:r>
              <a:rPr lang="en" sz="1350" b="1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 * "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&lt;&lt;num&lt;&lt;</a:t>
            </a:r>
            <a:r>
              <a:rPr lang="en" sz="1350" b="1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 = "</a:t>
            </a: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&lt;&lt;multiple&lt;&lt; endl;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</a:t>
            </a:r>
            <a:r>
              <a:rPr lang="en" sz="35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Dependent Iterations</a:t>
            </a:r>
            <a:endParaRPr sz="35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64" name="Google Shape;164;p2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Google Shape;165;p2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23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375500" y="1005575"/>
            <a:ext cx="8768400" cy="1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there are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of problems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that require the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from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previous iterations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8" name="Google Shape;168;p23"/>
          <p:cNvSpPr txBox="1">
            <a:spLocks noGrp="1"/>
          </p:cNvSpPr>
          <p:nvPr>
            <p:ph type="subTitle" idx="1"/>
          </p:nvPr>
        </p:nvSpPr>
        <p:spPr>
          <a:xfrm>
            <a:off x="1644675" y="2141875"/>
            <a:ext cx="5823000" cy="27816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450" b="1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450" b="1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main(){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sum = </a:t>
            </a:r>
            <a:r>
              <a:rPr lang="en" sz="14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lang="en" sz="14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 x &lt;= </a:t>
            </a:r>
            <a:r>
              <a:rPr lang="en" sz="14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 x = x + 1)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sum = sum + x;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lang="en" sz="1450" b="1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"The sum of Numbers from 1 to 100 is: "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cout &lt;&lt; sum;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 b="1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Counter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Loop: </a:t>
            </a:r>
            <a:r>
              <a:rPr lang="en" sz="35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Dependent Iterations</a:t>
            </a:r>
            <a:endParaRPr sz="35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74" name="Google Shape;174;p2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2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24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375500" y="1005575"/>
            <a:ext cx="8768400" cy="1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Dependent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Iteration means the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previous iteration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are required</a:t>
            </a: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 next iterations.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1"/>
          </p:nvPr>
        </p:nvSpPr>
        <p:spPr>
          <a:xfrm>
            <a:off x="1644675" y="2141875"/>
            <a:ext cx="5823000" cy="27816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" sz="1450" b="1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450" b="1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main(){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sum = </a:t>
            </a:r>
            <a:r>
              <a:rPr lang="en" sz="14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450" b="1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lang="en" sz="14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 x &lt;= </a:t>
            </a:r>
            <a:r>
              <a:rPr lang="en" sz="1450" b="1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 x = x + 1)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sum = sum + x;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lang="en" sz="1450" b="1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"The sum of Numbers from 1 to 100 is: "</a:t>
            </a: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cout &lt;&lt; sum;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5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 b="1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 2: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" sz="3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Fibonacci Series</a:t>
            </a:r>
            <a:endParaRPr sz="35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84" name="Google Shape;184;p2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2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25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375500" y="1005575"/>
            <a:ext cx="8768400" cy="1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Fibonacci numbers are the numbers in the following integer sequence.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9588" y="2103763"/>
            <a:ext cx="4864825" cy="17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 2: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" sz="3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Fibonacci Series</a:t>
            </a:r>
            <a:endParaRPr sz="35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94" name="Google Shape;194;p2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5" name="Google Shape;195;p2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26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375500" y="1005575"/>
            <a:ext cx="8768400" cy="1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 are given the first 2 fibonacci numbers.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 n1 = 0;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 n2 = 1;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Display the next 5 fibonacci numbers.</a:t>
            </a: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8" name="Google Shape;19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9588" y="2103763"/>
            <a:ext cx="4864825" cy="17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Solution: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" sz="3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Fibonacci Series</a:t>
            </a:r>
            <a:endParaRPr sz="35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04" name="Google Shape;204;p2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27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2536950" y="1016875"/>
            <a:ext cx="4070100" cy="3417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500"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n2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" sz="150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50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3600"/>
              <a:buFont typeface="Comic Sans MS"/>
              <a:buNone/>
            </a:pP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Solution:</a:t>
            </a: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" sz="34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Fibonacci Series</a:t>
            </a:r>
            <a:endParaRPr sz="35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28"/>
          <p:cNvSpPr/>
          <p:nvPr/>
        </p:nvSpPr>
        <p:spPr>
          <a:xfrm>
            <a:off x="0" y="4891577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2536950" y="1016875"/>
            <a:ext cx="4070100" cy="3648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sz="1500"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n2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" sz="150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500" b="1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n2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 b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", "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n2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n2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 b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</a:t>
            </a: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Learning Objective</a:t>
            </a:r>
            <a:endParaRPr sz="36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0" name="Google Shape;250;p32"/>
          <p:cNvSpPr txBox="1">
            <a:spLocks noGrp="1"/>
          </p:cNvSpPr>
          <p:nvPr>
            <p:ph type="subTitle" idx="1"/>
          </p:nvPr>
        </p:nvSpPr>
        <p:spPr>
          <a:xfrm>
            <a:off x="-80220" y="1338546"/>
            <a:ext cx="7590300" cy="22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In this lecture, we learnt how to </a:t>
            </a:r>
            <a:r>
              <a:rPr lang="en" b="1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</a:t>
            </a:r>
            <a:r>
              <a:rPr lang="en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C++ Program </a:t>
            </a:r>
            <a:r>
              <a:rPr lang="en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that solves </a:t>
            </a:r>
            <a:r>
              <a:rPr lang="en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dependent Problems</a:t>
            </a:r>
            <a:r>
              <a:rPr lang="en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using the </a:t>
            </a:r>
            <a:r>
              <a:rPr lang="en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Counter</a:t>
            </a:r>
            <a:r>
              <a:rPr lang="en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Loops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51" name="Google Shape;251;p3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" name="Google Shape;252;p3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3" name="Google Shape;253;p3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32" descr="https://lh6.googleusercontent.com/Stwg2tbqOCo83JT9Y2yEu1fANLsKxMflRvvFKWeYb3TAj30Y7J8pfQYVUDGIG2WD3BMDuWlfz6DL5hrDsxX3W4fH8IREFYyY_727F5f8osu4OvXyDS5QVRQH46Rs9yYkzvD9Frn_tQ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2754" y="1075690"/>
            <a:ext cx="1553592" cy="3654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p3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0" name="Google Shape;260;p3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p3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lang="en" sz="36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Conclusion</a:t>
            </a:r>
            <a:endParaRPr sz="36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810375" y="829152"/>
            <a:ext cx="7523400" cy="17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Calibri"/>
              <a:buChar char="●"/>
            </a:pPr>
            <a: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Within the body of loops one can write </a:t>
            </a:r>
            <a:r>
              <a:rPr lang="en" sz="22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multiple instructions</a:t>
            </a:r>
            <a: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b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simple problems the </a:t>
            </a:r>
            <a:r>
              <a:rPr lang="en" sz="22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individual iterations</a:t>
            </a:r>
            <a: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the loops are </a:t>
            </a:r>
            <a:r>
              <a:rPr lang="en" sz="22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</a:t>
            </a:r>
            <a: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each other.</a:t>
            </a:r>
            <a:endParaRPr sz="22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Calibri"/>
              <a:buChar char="●"/>
            </a:pPr>
            <a: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</a:t>
            </a:r>
            <a:r>
              <a:rPr lang="en" sz="22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complex problems</a:t>
            </a:r>
            <a: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need to use the result from the </a:t>
            </a:r>
            <a:r>
              <a:rPr lang="en" sz="22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previous iterations</a:t>
            </a:r>
            <a: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b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iteration in these problems is called a </a:t>
            </a:r>
            <a:r>
              <a:rPr lang="en" sz="22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dependent sub problem</a:t>
            </a:r>
            <a:r>
              <a:rPr lang="en" sz="22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22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64" name="Google Shape;26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1192" y="2826374"/>
            <a:ext cx="1229058" cy="203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-16250" y="2826374"/>
            <a:ext cx="1224181" cy="20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lang="en" sz="36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</a:t>
            </a: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Assessment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71" name="Google Shape;271;p3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3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3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7102017" y="1025050"/>
            <a:ext cx="1996408" cy="383989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4"/>
          <p:cNvSpPr/>
          <p:nvPr/>
        </p:nvSpPr>
        <p:spPr>
          <a:xfrm>
            <a:off x="375500" y="617750"/>
            <a:ext cx="6882000" cy="3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50" tIns="177725" rIns="91425" bIns="50775" anchor="ctr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Comic Sans MS"/>
              <a:buAutoNum type="arabicPeriod"/>
            </a:pPr>
            <a:r>
              <a:rPr lang="en" sz="1800" b="1" dirty="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</a:t>
            </a:r>
            <a:r>
              <a:rPr lang="en" sz="1800" b="1" dirty="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factorial code</a:t>
            </a:r>
            <a:r>
              <a:rPr lang="en" sz="1800" b="1" dirty="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that takes number from the user and multiplies all whole numbers from our chosen number down to 1 and returns the result.</a:t>
            </a:r>
            <a:endParaRPr sz="1800" b="1" dirty="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Examples:</a:t>
            </a:r>
            <a:endParaRPr sz="1800" b="1" dirty="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factorial(4) = 4 × 3 × 2 × 1 = 24</a:t>
            </a:r>
            <a:endParaRPr sz="1800" b="1" dirty="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factorial(7) = 7 × 6 × 5 × 4 × 3 × 2 × 1 = 5040</a:t>
            </a:r>
            <a:endParaRPr sz="1800" b="1" dirty="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factorial(1) = 1</a:t>
            </a:r>
            <a:endParaRPr sz="1800" b="1" dirty="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2221</Words>
  <Application>Microsoft Office PowerPoint</Application>
  <PresentationFormat>On-screen Show (16:9)</PresentationFormat>
  <Paragraphs>252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Comic Sans MS</vt:lpstr>
      <vt:lpstr>Consolas</vt:lpstr>
      <vt:lpstr>Simple Light</vt:lpstr>
      <vt:lpstr>Loops Practice problems</vt:lpstr>
      <vt:lpstr>   Counter Loop: Single Instruction</vt:lpstr>
      <vt:lpstr>   Counter Loop: Multiple Instructions</vt:lpstr>
      <vt:lpstr>   Counter Loop: Multiple Instructions</vt:lpstr>
      <vt:lpstr>   Counter Loop: Multiple Instructions</vt:lpstr>
      <vt:lpstr>   Counter Loop: Multiple Instructions</vt:lpstr>
      <vt:lpstr>   Counter Loop: Multiple Instructions</vt:lpstr>
      <vt:lpstr>   Counter Loop: Multiple Instructions</vt:lpstr>
      <vt:lpstr>   Counter Loop: Independent Iterations</vt:lpstr>
      <vt:lpstr>   Counter Loop: Independent Iterations</vt:lpstr>
      <vt:lpstr>   Counter Loop: Dependent Iterations</vt:lpstr>
      <vt:lpstr>   Counter Loop: Dependent Iterations</vt:lpstr>
      <vt:lpstr>   Working Example 2: Fibonacci Series</vt:lpstr>
      <vt:lpstr>   Working Example 2: Fibonacci Series</vt:lpstr>
      <vt:lpstr>   Solution: Fibonacci Series</vt:lpstr>
      <vt:lpstr>   Solution: Fibonacci Series</vt:lpstr>
      <vt:lpstr>   Learning Objective</vt:lpstr>
      <vt:lpstr>   Conclusion</vt:lpstr>
      <vt:lpstr>   Self Assessment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Mr Laeeq Khan</cp:lastModifiedBy>
  <cp:revision>2</cp:revision>
  <dcterms:modified xsi:type="dcterms:W3CDTF">2026-03-11T08:14:10Z</dcterms:modified>
</cp:coreProperties>
</file>