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2" r:id="rId47"/>
    <p:sldId id="303" r:id="rId48"/>
    <p:sldId id="304" r:id="rId4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myab Lif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FA59B6-F500-4FD6-83BE-BC9D35222612}">
  <a:tblStyle styleId="{3CFA59B6-F500-4FD6-83BE-BC9D352226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9-08T07:26:54.148" idx="1">
    <p:pos x="6000" y="0"/>
    <p:text>We can use the cls example as well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b86ebd6a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b86ebd6a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b86ebd6ab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b86ebd6ab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b86ebd6ab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b86ebd6ab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b86ebd6ab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b86ebd6ab4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b86ebd6ab4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b86ebd6ab4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b86ebd6ab4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b86ebd6ab4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b86ebd6ab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b86ebd6ab4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b86ebd6ab4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b86ebd6ab4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b86ebd6ab4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b86ebd6ab4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b86ebd6ab4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b86ebd6ab4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b86ebd6ab4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b86ebd6ab4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b86ebd6ab4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b86ebd6ab4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b86ebd6ab4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b86ebd6ab4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b86ebd6ab4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b86ebd6ab4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b86ebd6ab4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b86ebd6ab4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b86ebd6ab4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b86ebd6ab4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b86ebd6ab4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b86ebd6ab4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b86ebd6ab4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b86ebd6ab4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b86ebd6ab4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b86ebd6ab4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b86ebd6ab4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b86ebd6ab4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b86ebd6ab4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b86ebd6ab4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b86ebd6ab4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b86ebd6ab4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b86ebd6ab4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b86ebd6ab4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b86ebd6ab4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b86ebd6ab4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b86ebd6ab4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b86ebd6ab4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b86ebd6ab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b86ebd6ab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b86ebd6ab4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b86ebd6ab4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b86ebd6ab4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b86ebd6ab4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b86ebd6ab4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b86ebd6ab4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b86ebd6ab4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b86ebd6ab4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b86ebd6ab4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b86ebd6ab4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b86ebd6ab4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b86ebd6ab4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b86ebd6ab4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b86ebd6ab4_1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b86ebd6ab4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b86ebd6ab4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b86ebd6ab4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b86ebd6ab4_1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b86ebd6ab4_1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b86ebd6ab4_1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65170bd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65170bd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665170bde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665170bde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665170bde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665170bde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65170bde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665170bde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65170bde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65170bde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665170bde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665170bde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665170bde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665170bde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665170bde0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665170bde0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65170bde0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665170bde0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b86ebd6ab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b86ebd6ab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b86ebd6ab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g1b86ebd6ab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adopt Project Based approach for learning programming, and divide our problem into small computational steps, and learn the related Syntax.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using this approach we can make our own Games, Websites and Mobile Apps easily.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b86ebd6ab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g1b86ebd6ab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gif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gif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04550" y="1184775"/>
            <a:ext cx="6331500" cy="25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Displaying </a:t>
            </a:r>
            <a:r>
              <a:rPr lang="en" sz="45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Geometric Shapes</a:t>
            </a:r>
            <a:br>
              <a:rPr lang="en" sz="45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" sz="45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 </a:t>
            </a:r>
            <a:r>
              <a:rPr lang="en" sz="45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Console</a:t>
            </a:r>
            <a:r>
              <a:rPr lang="en" sz="45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</a:t>
            </a:r>
            <a:endParaRPr sz="45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C++</a:t>
            </a:r>
            <a:endParaRPr sz="45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7825" y="1039140"/>
            <a:ext cx="1549400" cy="41043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 rot="10800000" flipH="1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50" y="1040975"/>
            <a:ext cx="1421136" cy="41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A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 rot="10800000" flipH="1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329" y="1643932"/>
            <a:ext cx="7989900" cy="14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A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 rot="10800000" flipH="1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777" y="1434311"/>
            <a:ext cx="7989900" cy="22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Google Shape;80;p1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the Lab, you were given the task to print geometric Shapes like a Circle on the Console.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825" y="1962750"/>
            <a:ext cx="3130358" cy="29022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8" name="Google Shape;88;p1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Looking at the output we know that we have to use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cout</a:t>
            </a: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statement and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endl</a:t>
            </a: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statement.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825" y="1962750"/>
            <a:ext cx="3130358" cy="29022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8" name="Google Shape;98;p1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100;p1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Lets see how we can do that.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825" y="1962750"/>
            <a:ext cx="3130358" cy="29022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8" name="Google Shape;108;p1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1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" name="Google Shape;110;p1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the C++ structure that we must write in the notepad before writing any cout or endl commands.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2808900" y="1962750"/>
            <a:ext cx="3526200" cy="21549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18" name="Google Shape;118;p2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2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2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Lets just write the code for a single line first.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913625" y="1962750"/>
            <a:ext cx="6105300" cy="24474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2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2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Space is given in double quotes of cout statement as this space will be represented on the console. 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1913625" y="1962750"/>
            <a:ext cx="6105300" cy="24474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38" name="Google Shape;138;p2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2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" name="Google Shape;140;p2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lets see after compiling and executing the program what will be displayed on the Console.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1913625" y="1962750"/>
            <a:ext cx="6105300" cy="24474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48" name="Google Shape;148;p2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" name="Google Shape;150;p2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lets see after compiling and executing the program what will be displayed on the Console.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1913625" y="1962750"/>
            <a:ext cx="6105300" cy="24474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58" name="Google Shape;158;p2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" name="Google Shape;160;p2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let’s keep on adding the code and see what is being displayed on the console after each line of code.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8625" y="1886550"/>
            <a:ext cx="5901300" cy="24474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325" y="2115150"/>
            <a:ext cx="2929275" cy="316434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69" name="Google Shape;169;p2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p2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8625" y="819750"/>
            <a:ext cx="5901300" cy="19086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 rotWithShape="1">
          <a:blip r:embed="rId3">
            <a:alphaModFix/>
          </a:blip>
          <a:srcRect b="83888"/>
          <a:stretch/>
        </p:blipFill>
        <p:spPr>
          <a:xfrm>
            <a:off x="6013650" y="1120650"/>
            <a:ext cx="3130350" cy="467575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79" name="Google Shape;179;p2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2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8625" y="819750"/>
            <a:ext cx="5901300" cy="21240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3">
            <a:alphaModFix/>
          </a:blip>
          <a:srcRect b="77361"/>
          <a:stretch/>
        </p:blipFill>
        <p:spPr>
          <a:xfrm>
            <a:off x="6013650" y="1120650"/>
            <a:ext cx="3130350" cy="6570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89" name="Google Shape;189;p2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2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8625" y="819750"/>
            <a:ext cx="5901300" cy="23397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3" name="Google Shape;193;p27"/>
          <p:cNvPicPr preferRelativeResize="0"/>
          <p:nvPr/>
        </p:nvPicPr>
        <p:blipFill rotWithShape="1">
          <a:blip r:embed="rId3">
            <a:alphaModFix/>
          </a:blip>
          <a:srcRect b="69831"/>
          <a:stretch/>
        </p:blipFill>
        <p:spPr>
          <a:xfrm>
            <a:off x="6013650" y="1120650"/>
            <a:ext cx="3130350" cy="87555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99" name="Google Shape;199;p2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2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8625" y="819750"/>
            <a:ext cx="5901300" cy="25551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3" name="Google Shape;203;p28"/>
          <p:cNvPicPr preferRelativeResize="0"/>
          <p:nvPr/>
        </p:nvPicPr>
        <p:blipFill rotWithShape="1">
          <a:blip r:embed="rId3">
            <a:alphaModFix/>
          </a:blip>
          <a:srcRect b="61798"/>
          <a:stretch/>
        </p:blipFill>
        <p:spPr>
          <a:xfrm>
            <a:off x="6013650" y="1120650"/>
            <a:ext cx="3130350" cy="1108675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09" name="Google Shape;209;p2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Google Shape;211;p2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8625" y="819750"/>
            <a:ext cx="5901300" cy="27705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3" name="Google Shape;213;p29"/>
          <p:cNvPicPr preferRelativeResize="0"/>
          <p:nvPr/>
        </p:nvPicPr>
        <p:blipFill rotWithShape="1">
          <a:blip r:embed="rId3">
            <a:alphaModFix/>
          </a:blip>
          <a:srcRect b="54266"/>
          <a:stretch/>
        </p:blipFill>
        <p:spPr>
          <a:xfrm>
            <a:off x="6013650" y="1120650"/>
            <a:ext cx="3130350" cy="132725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19" name="Google Shape;219;p3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3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3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8625" y="819750"/>
            <a:ext cx="5901300" cy="29862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3" name="Google Shape;223;p30"/>
          <p:cNvPicPr preferRelativeResize="0"/>
          <p:nvPr/>
        </p:nvPicPr>
        <p:blipFill rotWithShape="1">
          <a:blip r:embed="rId3">
            <a:alphaModFix/>
          </a:blip>
          <a:srcRect b="46737"/>
          <a:stretch/>
        </p:blipFill>
        <p:spPr>
          <a:xfrm>
            <a:off x="6013650" y="1120650"/>
            <a:ext cx="3130350" cy="15458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29" name="Google Shape;229;p3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3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3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8625" y="819750"/>
            <a:ext cx="5901300" cy="32016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3" name="Google Shape;233;p31"/>
          <p:cNvPicPr preferRelativeResize="0"/>
          <p:nvPr/>
        </p:nvPicPr>
        <p:blipFill rotWithShape="1">
          <a:blip r:embed="rId3">
            <a:alphaModFix/>
          </a:blip>
          <a:srcRect b="39206"/>
          <a:stretch/>
        </p:blipFill>
        <p:spPr>
          <a:xfrm>
            <a:off x="6013650" y="1120650"/>
            <a:ext cx="3130350" cy="1764375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39" name="Google Shape;239;p3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" name="Google Shape;240;p3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" name="Google Shape;241;p3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8625" y="819750"/>
            <a:ext cx="5901300" cy="34170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32175"/>
          <a:stretch/>
        </p:blipFill>
        <p:spPr>
          <a:xfrm>
            <a:off x="6013650" y="1120650"/>
            <a:ext cx="3130350" cy="1968375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49" name="Google Shape;249;p3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3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8625" y="819750"/>
            <a:ext cx="5901300" cy="36327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 rotWithShape="1">
          <a:blip r:embed="rId3">
            <a:alphaModFix/>
          </a:blip>
          <a:srcRect b="24144"/>
          <a:stretch/>
        </p:blipFill>
        <p:spPr>
          <a:xfrm>
            <a:off x="6013650" y="1120650"/>
            <a:ext cx="3130350" cy="22015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59" name="Google Shape;259;p3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3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3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8625" y="819750"/>
            <a:ext cx="5901300" cy="38481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3" name="Google Shape;263;p34"/>
          <p:cNvPicPr preferRelativeResize="0"/>
          <p:nvPr/>
        </p:nvPicPr>
        <p:blipFill rotWithShape="1">
          <a:blip r:embed="rId3">
            <a:alphaModFix/>
          </a:blip>
          <a:srcRect b="16107"/>
          <a:stretch/>
        </p:blipFill>
        <p:spPr>
          <a:xfrm>
            <a:off x="6013650" y="1120650"/>
            <a:ext cx="3130350" cy="2434625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69" name="Google Shape;269;p3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3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" name="Google Shape;271;p3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8625" y="819750"/>
            <a:ext cx="5901300" cy="40635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3" name="Google Shape;273;p35"/>
          <p:cNvPicPr preferRelativeResize="0"/>
          <p:nvPr/>
        </p:nvPicPr>
        <p:blipFill rotWithShape="1">
          <a:blip r:embed="rId3">
            <a:alphaModFix/>
          </a:blip>
          <a:srcRect b="8575"/>
          <a:stretch/>
        </p:blipFill>
        <p:spPr>
          <a:xfrm>
            <a:off x="6013650" y="1120650"/>
            <a:ext cx="3130350" cy="26532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Geometric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79" name="Google Shape;279;p3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3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1" name="Google Shape;281;p3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8625" y="819750"/>
            <a:ext cx="5901300" cy="40635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3" name="Google Shape;28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3650" y="1120650"/>
            <a:ext cx="3130350" cy="29022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89" name="Google Shape;289;p3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3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we want to change the color of the circle from white to red. 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93" name="Google Shape;293;p37"/>
          <p:cNvPicPr preferRelativeResize="0"/>
          <p:nvPr/>
        </p:nvPicPr>
        <p:blipFill rotWithShape="1">
          <a:blip r:embed="rId3">
            <a:alphaModFix/>
          </a:blip>
          <a:srcRect r="7338"/>
          <a:stretch/>
        </p:blipFill>
        <p:spPr>
          <a:xfrm>
            <a:off x="5612075" y="1807445"/>
            <a:ext cx="3261675" cy="305750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4" name="Google Shape;294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650" y="1806775"/>
            <a:ext cx="3261675" cy="302395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95" name="Google Shape;29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721680">
            <a:off x="3629750" y="2191350"/>
            <a:ext cx="1884501" cy="188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01" name="Google Shape;301;p3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302;p3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3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can we do that?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05" name="Google Shape;305;p38"/>
          <p:cNvPicPr preferRelativeResize="0"/>
          <p:nvPr/>
        </p:nvPicPr>
        <p:blipFill rotWithShape="1">
          <a:blip r:embed="rId3">
            <a:alphaModFix/>
          </a:blip>
          <a:srcRect r="7338"/>
          <a:stretch/>
        </p:blipFill>
        <p:spPr>
          <a:xfrm>
            <a:off x="5612075" y="1807445"/>
            <a:ext cx="3261675" cy="305750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6" name="Google Shape;306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650" y="1806775"/>
            <a:ext cx="3261675" cy="302395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07" name="Google Shape;30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721680">
            <a:off x="3629750" y="2191350"/>
            <a:ext cx="1884501" cy="188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13" name="Google Shape;313;p3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p3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change the color of the text on the console, we have a command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7" name="Google Shape;317;p39"/>
          <p:cNvSpPr txBox="1"/>
          <p:nvPr/>
        </p:nvSpPr>
        <p:spPr>
          <a:xfrm>
            <a:off x="3154950" y="2698200"/>
            <a:ext cx="2834100" cy="461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XY"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23" name="Google Shape;323;p4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4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4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0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change the color of the text on the console, we have a command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7" name="Google Shape;327;p40"/>
          <p:cNvSpPr txBox="1"/>
          <p:nvPr/>
        </p:nvSpPr>
        <p:spPr>
          <a:xfrm>
            <a:off x="3154950" y="2698200"/>
            <a:ext cx="2834100" cy="461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XY"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8" name="Google Shape;328;p40"/>
          <p:cNvSpPr/>
          <p:nvPr/>
        </p:nvSpPr>
        <p:spPr>
          <a:xfrm>
            <a:off x="5104625" y="3322150"/>
            <a:ext cx="291300" cy="1017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15A1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/>
          <p:cNvSpPr txBox="1"/>
          <p:nvPr/>
        </p:nvSpPr>
        <p:spPr>
          <a:xfrm>
            <a:off x="1128650" y="427860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Value of X will specify the background Color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35" name="Google Shape;335;p4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4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" name="Google Shape;337;p4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1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change the color of the text on the console, we have a command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9" name="Google Shape;339;p41"/>
          <p:cNvSpPr txBox="1"/>
          <p:nvPr/>
        </p:nvSpPr>
        <p:spPr>
          <a:xfrm>
            <a:off x="3154950" y="2698200"/>
            <a:ext cx="2834100" cy="4617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XY"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0" name="Google Shape;340;p41"/>
          <p:cNvSpPr/>
          <p:nvPr/>
        </p:nvSpPr>
        <p:spPr>
          <a:xfrm>
            <a:off x="5257025" y="3322150"/>
            <a:ext cx="291300" cy="1017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15A1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1"/>
          <p:cNvSpPr txBox="1"/>
          <p:nvPr/>
        </p:nvSpPr>
        <p:spPr>
          <a:xfrm>
            <a:off x="1128650" y="427860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Value of Y will specify the foreground Text Color.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47" name="Google Shape;347;p4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348;p4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Google Shape;349;p4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2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Following are the Possible Values for X and Y.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351" name="Google Shape;351;p42"/>
          <p:cNvGraphicFramePr/>
          <p:nvPr/>
        </p:nvGraphicFramePr>
        <p:xfrm>
          <a:off x="47100" y="179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1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Blue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Green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Aqua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Red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Purple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2" name="Google Shape;352;p42"/>
          <p:cNvGraphicFramePr/>
          <p:nvPr/>
        </p:nvGraphicFramePr>
        <p:xfrm>
          <a:off x="3019313" y="179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2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Yellow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White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Gray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Blue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Black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3" name="Google Shape;353;p42"/>
          <p:cNvGraphicFramePr/>
          <p:nvPr/>
        </p:nvGraphicFramePr>
        <p:xfrm>
          <a:off x="6137325" y="17923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2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Green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Aqua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Red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Purple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E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Yellow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Bright White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59" name="Google Shape;359;p4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4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1" name="Google Shape;361;p4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3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the current problem we want to choose background color (X) of Black and Foreground colour (Y) of Red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363" name="Google Shape;363;p43"/>
          <p:cNvGraphicFramePr/>
          <p:nvPr/>
        </p:nvGraphicFramePr>
        <p:xfrm>
          <a:off x="47100" y="179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1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Blue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Green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Aqua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Red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Purple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64" name="Google Shape;364;p43"/>
          <p:cNvGraphicFramePr/>
          <p:nvPr/>
        </p:nvGraphicFramePr>
        <p:xfrm>
          <a:off x="3019313" y="179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2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Yellow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White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Gray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Blue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Black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65" name="Google Shape;365;p43"/>
          <p:cNvGraphicFramePr/>
          <p:nvPr/>
        </p:nvGraphicFramePr>
        <p:xfrm>
          <a:off x="6137325" y="17923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2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Green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Aqua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Red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Purple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E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Yellow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Bright White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71" name="Google Shape;371;p4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4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3" name="Google Shape;373;p4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4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makes our instruction equal to: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375" name="Google Shape;375;p44"/>
          <p:cNvGraphicFramePr/>
          <p:nvPr/>
        </p:nvGraphicFramePr>
        <p:xfrm>
          <a:off x="47100" y="179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1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Blue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Green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Aqua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Red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Purple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6" name="Google Shape;376;p44"/>
          <p:cNvGraphicFramePr/>
          <p:nvPr/>
        </p:nvGraphicFramePr>
        <p:xfrm>
          <a:off x="3019313" y="179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2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Yellow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White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Gray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Blue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Black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7" name="Google Shape;377;p44"/>
          <p:cNvGraphicFramePr/>
          <p:nvPr/>
        </p:nvGraphicFramePr>
        <p:xfrm>
          <a:off x="6137325" y="17923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12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 id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Color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Green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Aqua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Red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Purple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E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Light Yellow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 sz="18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Bright White</a:t>
                      </a:r>
                      <a:endParaRPr sz="18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8" name="Google Shape;378;p44"/>
          <p:cNvSpPr txBox="1"/>
          <p:nvPr/>
        </p:nvSpPr>
        <p:spPr>
          <a:xfrm>
            <a:off x="3154950" y="1382275"/>
            <a:ext cx="2834100" cy="4311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6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04"</a:t>
            </a:r>
            <a:r>
              <a:rPr lang="en" sz="16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84" name="Google Shape;384;p4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4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6" name="Google Shape;386;p4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5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where we have to write the instruction in our previous Code?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8" name="Google Shape;388;p45"/>
          <p:cNvSpPr txBox="1"/>
          <p:nvPr/>
        </p:nvSpPr>
        <p:spPr>
          <a:xfrm>
            <a:off x="259350" y="2906275"/>
            <a:ext cx="2834100" cy="4311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6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04"</a:t>
            </a:r>
            <a:r>
              <a:rPr lang="en" sz="16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9" name="Google Shape;389;p45"/>
          <p:cNvSpPr txBox="1"/>
          <p:nvPr/>
        </p:nvSpPr>
        <p:spPr>
          <a:xfrm>
            <a:off x="3209025" y="1429350"/>
            <a:ext cx="5901300" cy="35094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20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95" name="Google Shape;395;p4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4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7" name="Google Shape;397;p4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6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will write it before printing anything on the console.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9" name="Google Shape;399;p46"/>
          <p:cNvSpPr txBox="1"/>
          <p:nvPr/>
        </p:nvSpPr>
        <p:spPr>
          <a:xfrm>
            <a:off x="259350" y="2906275"/>
            <a:ext cx="2834100" cy="4311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6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04"</a:t>
            </a:r>
            <a:r>
              <a:rPr lang="en" sz="16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0" name="Google Shape;400;p46"/>
          <p:cNvSpPr txBox="1"/>
          <p:nvPr/>
        </p:nvSpPr>
        <p:spPr>
          <a:xfrm>
            <a:off x="3209025" y="1429350"/>
            <a:ext cx="5901300" cy="35094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20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1" name="Google Shape;401;p46"/>
          <p:cNvSpPr/>
          <p:nvPr/>
        </p:nvSpPr>
        <p:spPr>
          <a:xfrm>
            <a:off x="2002250" y="2036550"/>
            <a:ext cx="1282200" cy="7902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D15A1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07" name="Google Shape;407;p4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4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9" name="Google Shape;409;p4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7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our code</a:t>
            </a: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becomes: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1" name="Google Shape;411;p47"/>
          <p:cNvSpPr txBox="1"/>
          <p:nvPr/>
        </p:nvSpPr>
        <p:spPr>
          <a:xfrm>
            <a:off x="3209025" y="1244462"/>
            <a:ext cx="5901300" cy="36942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20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04"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Print Colored Shapes on Console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17" name="Google Shape;417;p4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8" name="Google Shape;418;p4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9" name="Google Shape;419;p4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8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the output is: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1" name="Google Shape;421;p48"/>
          <p:cNvSpPr txBox="1"/>
          <p:nvPr/>
        </p:nvSpPr>
        <p:spPr>
          <a:xfrm>
            <a:off x="3209025" y="1244462"/>
            <a:ext cx="5901300" cy="36942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20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04"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                      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::                    ::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::                  ::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::                ::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:::            :::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 b="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      ::::::::::::        "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22" name="Google Shape;422;p48"/>
          <p:cNvPicPr preferRelativeResize="0"/>
          <p:nvPr/>
        </p:nvPicPr>
        <p:blipFill rotWithShape="1">
          <a:blip r:embed="rId3">
            <a:alphaModFix/>
          </a:blip>
          <a:srcRect r="7338"/>
          <a:stretch/>
        </p:blipFill>
        <p:spPr>
          <a:xfrm>
            <a:off x="49475" y="1731250"/>
            <a:ext cx="3045900" cy="28552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28" name="Google Shape;428;p4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9" name="Google Shape;429;p4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0" name="Google Shape;430;p4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9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we want to print this shape on the console.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32" name="Google Shape;43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100" y="2118000"/>
            <a:ext cx="1181100" cy="20097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Example: </a:t>
            </a: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38" name="Google Shape;438;p5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5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" name="Google Shape;440;p5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0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we want to print this shape on the console.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42" name="Google Shape;4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100" y="2118000"/>
            <a:ext cx="1181100" cy="20097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3" name="Google Shape;443;p50"/>
          <p:cNvSpPr txBox="1"/>
          <p:nvPr/>
        </p:nvSpPr>
        <p:spPr>
          <a:xfrm>
            <a:off x="4507588" y="1702325"/>
            <a:ext cx="3903600" cy="30939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std;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main() 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system(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A0"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/\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/  \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/____\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\    /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\  /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\/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Example: </a:t>
            </a: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49" name="Google Shape;449;p5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5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1" name="Google Shape;451;p5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1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 while running this code we get the following error.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53" name="Google Shape;453;p51"/>
          <p:cNvSpPr txBox="1"/>
          <p:nvPr/>
        </p:nvSpPr>
        <p:spPr>
          <a:xfrm>
            <a:off x="4507588" y="1702325"/>
            <a:ext cx="3903600" cy="30939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std;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main() 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system(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A0"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/\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/  \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/____\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\    /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\  /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\/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54" name="Google Shape;45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0012"/>
            <a:ext cx="4492347" cy="2581113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Example: </a:t>
            </a: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60" name="Google Shape;460;p5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2" name="Google Shape;462;p5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2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 while running this code we get the following error.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4" name="Google Shape;464;p52"/>
          <p:cNvSpPr txBox="1"/>
          <p:nvPr/>
        </p:nvSpPr>
        <p:spPr>
          <a:xfrm>
            <a:off x="4507588" y="1702325"/>
            <a:ext cx="3903600" cy="30939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std;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main() 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system(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A0"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/\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/  \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/____\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\    /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\  /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\/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5" name="Google Shape;4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0012"/>
            <a:ext cx="4492347" cy="2581113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Example: </a:t>
            </a: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71" name="Google Shape;471;p5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3" name="Google Shape;473;p5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3"/>
          <p:cNvSpPr txBox="1"/>
          <p:nvPr/>
        </p:nvSpPr>
        <p:spPr>
          <a:xfrm>
            <a:off x="375500" y="945450"/>
            <a:ext cx="8768400" cy="27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 characters cannot be written directly inside “ ” while displaying output on console, either because:</a:t>
            </a: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2400"/>
              <a:buFont typeface="Comic Sans MS"/>
              <a:buChar char="●"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are invisible (like newline, tab),</a:t>
            </a: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2400"/>
              <a:buFont typeface="Comic Sans MS"/>
              <a:buChar char="●"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clash with the syntax (like " itself),</a:t>
            </a: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2400"/>
              <a:buFont typeface="Comic Sans MS"/>
              <a:buChar char="●"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they have special meaning (like backslash \).</a:t>
            </a: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Escape Sequences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80" name="Google Shape;480;p5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5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5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4"/>
          <p:cNvSpPr txBox="1"/>
          <p:nvPr/>
        </p:nvSpPr>
        <p:spPr>
          <a:xfrm>
            <a:off x="375500" y="945450"/>
            <a:ext cx="8768400" cy="27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So, C++ uses escape sequences.</a:t>
            </a: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Backslash </a:t>
            </a:r>
            <a:r>
              <a:rPr lang="en" sz="24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\</a:t>
            </a: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followed by one or more characters, to represent those special characters.</a:t>
            </a:r>
            <a:endParaRPr sz="24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Escape Sequences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89" name="Google Shape;489;p5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0" name="Google Shape;490;p5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1" name="Google Shape;491;p5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2" name="Google Shape;492;p55"/>
          <p:cNvGraphicFramePr/>
          <p:nvPr/>
        </p:nvGraphicFramePr>
        <p:xfrm>
          <a:off x="-2" y="751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{3CFA59B6-F500-4FD6-83BE-BC9D35222612}</a:tableStyleId>
              </a:tblPr>
              <a:tblGrid>
                <a:gridCol w="247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Escape Sequence   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Description</a:t>
                      </a:r>
                      <a:endParaRPr sz="1800" b="1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\\</a:t>
                      </a:r>
                      <a:endParaRPr sz="1600">
                        <a:solidFill>
                          <a:srgbClr val="D15A12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Backslash</a:t>
                      </a:r>
                      <a:endParaRPr sz="1600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Inserts a backslash character.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\"</a:t>
                      </a:r>
                      <a:endParaRPr sz="16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Double quote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Displays double quotation marks.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\b</a:t>
                      </a:r>
                      <a:endParaRPr sz="16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Backspace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Moves the cursor one place backward.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\n</a:t>
                      </a:r>
                      <a:endParaRPr sz="16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New line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Moves the cursor to the start of the next line.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\r</a:t>
                      </a:r>
                      <a:endParaRPr sz="16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Carriage return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Moves the cursor to the start of the current line.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\t</a:t>
                      </a:r>
                      <a:endParaRPr sz="16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Horizontal tab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Inserts some whitespace to the left of the cursor and moves the cursor accordingly.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D15A1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\a</a:t>
                      </a:r>
                      <a:endParaRPr sz="1600" b="1">
                        <a:solidFill>
                          <a:srgbClr val="D15A1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Alert (bell)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Generates a bell sound in the C++ program.</a:t>
                      </a:r>
                      <a:endParaRPr sz="1600" b="1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40404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Example: </a:t>
            </a: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98" name="Google Shape;498;p5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9" name="Google Shape;499;p5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0" name="Google Shape;500;p5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6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coming back. In order to add backslash we have to enter \\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02" name="Google Shape;50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100" y="2118000"/>
            <a:ext cx="1181100" cy="20097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03" name="Google Shape;503;p56"/>
          <p:cNvSpPr txBox="1"/>
          <p:nvPr/>
        </p:nvSpPr>
        <p:spPr>
          <a:xfrm>
            <a:off x="4507588" y="1702325"/>
            <a:ext cx="3903600" cy="30939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std;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main() 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system(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A0"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/\\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/  \\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/____\\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\\    /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\\  /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\\/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Example: </a:t>
            </a: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509" name="Google Shape;509;p5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0" name="Google Shape;510;p5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1" name="Google Shape;511;p5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7"/>
          <p:cNvSpPr txBox="1"/>
          <p:nvPr/>
        </p:nvSpPr>
        <p:spPr>
          <a:xfrm>
            <a:off x="375500" y="945450"/>
            <a:ext cx="8768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the program compiles without any error.</a:t>
            </a:r>
            <a:endParaRPr sz="2400" b="1" i="0" u="none" strike="noStrike" cap="none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13" name="Google Shape;51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100" y="2118000"/>
            <a:ext cx="1181100" cy="20097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4" name="Google Shape;514;p57"/>
          <p:cNvSpPr txBox="1"/>
          <p:nvPr/>
        </p:nvSpPr>
        <p:spPr>
          <a:xfrm>
            <a:off x="4507588" y="1702325"/>
            <a:ext cx="3903600" cy="30939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350"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std;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main() {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system(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A0"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/\\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/  \\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/____\\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\\    /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\\  /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cout &lt;&lt;</a:t>
            </a:r>
            <a:r>
              <a:rPr lang="en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  \\/    "</a:t>
            </a: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endl;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Learning Objective</a:t>
            </a:r>
            <a:endParaRPr sz="36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9" name="Google Shape;529;p59"/>
          <p:cNvSpPr txBox="1">
            <a:spLocks noGrp="1"/>
          </p:cNvSpPr>
          <p:nvPr>
            <p:ph type="subTitle" idx="1"/>
          </p:nvPr>
        </p:nvSpPr>
        <p:spPr>
          <a:xfrm>
            <a:off x="701875" y="1756725"/>
            <a:ext cx="6388800" cy="21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Students should be able to use </a:t>
            </a:r>
            <a:r>
              <a:rPr lang="en" sz="30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directives</a:t>
            </a:r>
            <a:r>
              <a:rPr lang="en" sz="3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control output on the screen.</a:t>
            </a:r>
            <a:endParaRPr sz="30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30" name="Google Shape;53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975" y="718825"/>
            <a:ext cx="1792300" cy="3885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1" name="Google Shape;531;p5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5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3" name="Google Shape;533;p5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560" y="2939075"/>
            <a:ext cx="1162465" cy="19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0" y="3074450"/>
            <a:ext cx="1076464" cy="179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0" name="Google Shape;540;p6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1" name="Google Shape;541;p6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2" name="Google Shape;542;p6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6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lang="en" sz="36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 sz="3600" b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4" name="Google Shape;544;p60"/>
          <p:cNvSpPr txBox="1"/>
          <p:nvPr/>
        </p:nvSpPr>
        <p:spPr>
          <a:xfrm>
            <a:off x="546475" y="948850"/>
            <a:ext cx="8003400" cy="4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2000"/>
              <a:buFont typeface="Comic Sans MS"/>
              <a:buChar char="●"/>
            </a:pP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C++, to display the numeric and textual output on the monitor screen (console), the available command is </a:t>
            </a:r>
            <a:r>
              <a:rPr lang="en" sz="20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cout</a:t>
            </a: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20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2000"/>
              <a:buFont typeface="Comic Sans MS"/>
              <a:buChar char="●"/>
            </a:pP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end the line, we use the </a:t>
            </a:r>
            <a:r>
              <a:rPr lang="en" sz="20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endl</a:t>
            </a: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keyword.</a:t>
            </a:r>
            <a:endParaRPr sz="20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2000"/>
              <a:buFont typeface="Comic Sans MS"/>
              <a:buChar char="●"/>
            </a:pP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add color to the Console we have the following command</a:t>
            </a:r>
            <a:endParaRPr sz="20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Here </a:t>
            </a:r>
            <a:r>
              <a:rPr lang="en" sz="20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specifies the Background Color and </a:t>
            </a:r>
            <a:r>
              <a:rPr lang="en" sz="20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Y</a:t>
            </a:r>
            <a:endParaRPr sz="20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Specifies the Foreground Color.</a:t>
            </a:r>
            <a:endParaRPr sz="20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5A12"/>
              </a:buClr>
              <a:buSzPts val="2000"/>
              <a:buFont typeface="Comic Sans MS"/>
              <a:buChar char="●"/>
            </a:pPr>
            <a:r>
              <a:rPr lang="en" sz="20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Escape sequences</a:t>
            </a:r>
            <a:r>
              <a:rPr lang="en" sz="20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are special symbols beginning with a backslash \ that let us represent characters that are otherwise hard to write in cout statement.</a:t>
            </a:r>
            <a:endParaRPr sz="20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5" name="Google Shape;545;p60"/>
          <p:cNvSpPr txBox="1"/>
          <p:nvPr/>
        </p:nvSpPr>
        <p:spPr>
          <a:xfrm>
            <a:off x="3090463" y="2633823"/>
            <a:ext cx="2834100" cy="461700"/>
          </a:xfrm>
          <a:prstGeom prst="rect">
            <a:avLst/>
          </a:prstGeom>
          <a:noFill/>
          <a:ln w="2857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"Color XY"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lang="en" sz="3600" b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lang="en" sz="3600" b="1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sz="3600" b="1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551" name="Google Shape;551;p6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w="38100" cap="flat" cmpd="sng">
            <a:solidFill>
              <a:srgbClr val="D15A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2" name="Google Shape;552;p6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3" name="Google Shape;553;p6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61"/>
          <p:cNvSpPr txBox="1"/>
          <p:nvPr/>
        </p:nvSpPr>
        <p:spPr>
          <a:xfrm>
            <a:off x="299300" y="1025050"/>
            <a:ext cx="7194900" cy="28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Comic Sans MS"/>
              <a:buChar char="●"/>
            </a:pP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command will be used to change the color of the background to </a:t>
            </a:r>
            <a:r>
              <a:rPr lang="en" sz="1800" b="1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Light Green</a:t>
            </a: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foreground color to </a:t>
            </a:r>
            <a:r>
              <a:rPr lang="en" sz="1800" b="1">
                <a:solidFill>
                  <a:srgbClr val="674EA7"/>
                </a:solidFill>
                <a:latin typeface="Comic Sans MS"/>
                <a:ea typeface="Comic Sans MS"/>
                <a:cs typeface="Comic Sans MS"/>
                <a:sym typeface="Comic Sans MS"/>
              </a:rPr>
              <a:t>Purple</a:t>
            </a: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 sz="18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Comic Sans MS"/>
              <a:buChar char="●"/>
            </a:pP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the C++ program to make a Triangle with background color of </a:t>
            </a:r>
            <a:r>
              <a:rPr lang="en" sz="1800" b="1">
                <a:solidFill>
                  <a:srgbClr val="E0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Light Red</a:t>
            </a: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Foreground Color of </a:t>
            </a:r>
            <a:r>
              <a:rPr lang="en" sz="1800" b="1">
                <a:solidFill>
                  <a:srgbClr val="6FA8DC"/>
                </a:solidFill>
                <a:latin typeface="Comic Sans MS"/>
                <a:ea typeface="Comic Sans MS"/>
                <a:cs typeface="Comic Sans MS"/>
                <a:sym typeface="Comic Sans MS"/>
              </a:rPr>
              <a:t>Light Aqua</a:t>
            </a: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18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Comic Sans MS"/>
              <a:buChar char="●"/>
            </a:pP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the C++ program to make a Parallelogram with background color of </a:t>
            </a:r>
            <a:r>
              <a:rPr lang="en" sz="1800" b="1">
                <a:solidFill>
                  <a:srgbClr val="FFD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Light Yellow</a:t>
            </a: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Foreground Color of </a:t>
            </a:r>
            <a:r>
              <a:rPr lang="en" sz="1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</a:t>
            </a:r>
            <a:r>
              <a:rPr lang="en" sz="1800" b="1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1800" b="1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55" name="Google Shape;55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315000" y="1347318"/>
            <a:ext cx="1828850" cy="3517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4632</Words>
  <Application>Microsoft Office PowerPoint</Application>
  <PresentationFormat>On-screen Show (16:9)</PresentationFormat>
  <Paragraphs>637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Comic Sans MS</vt:lpstr>
      <vt:lpstr>Courier New</vt:lpstr>
      <vt:lpstr>Simple Light</vt:lpstr>
      <vt:lpstr>Displaying Geometric Shapes on Console in C++</vt:lpstr>
      <vt:lpstr>PowerPoint Presentation</vt:lpstr>
      <vt:lpstr>PowerPoint Presentation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Geometric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Print Colored Shapes on Console</vt:lpstr>
      <vt:lpstr>   Working Example</vt:lpstr>
      <vt:lpstr>   Working Example: Solution</vt:lpstr>
      <vt:lpstr>   Working Example: Solution</vt:lpstr>
      <vt:lpstr>   Working Example: Solution</vt:lpstr>
      <vt:lpstr>   Working Example: Solution</vt:lpstr>
      <vt:lpstr>   Escape Sequences</vt:lpstr>
      <vt:lpstr>   Escape Sequences</vt:lpstr>
      <vt:lpstr>   Working Example: Solution</vt:lpstr>
      <vt:lpstr>   Working Example: Solution</vt:lpstr>
      <vt:lpstr>   Learning Objective</vt:lpstr>
      <vt:lpstr>   Conclusion</vt:lpstr>
      <vt:lpstr>   Self 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 Laeeq Khan</cp:lastModifiedBy>
  <cp:revision>1</cp:revision>
  <dcterms:modified xsi:type="dcterms:W3CDTF">2026-02-14T07:01:39Z</dcterms:modified>
</cp:coreProperties>
</file>